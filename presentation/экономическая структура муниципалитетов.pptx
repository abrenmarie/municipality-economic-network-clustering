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y="6858000" cx="12192000"/>
  <p:notesSz cx="6858000" cy="12192000"/>
  <p:embeddedFontLst>
    <p:embeddedFont>
      <p:font typeface="Montserrat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Montserrat-bold.fntdata"/><Relationship Id="rId11" Type="http://schemas.openxmlformats.org/officeDocument/2006/relationships/slide" Target="slides/slide7.xml"/><Relationship Id="rId22" Type="http://schemas.openxmlformats.org/officeDocument/2006/relationships/font" Target="fonts/Montserrat-boldItalic.fntdata"/><Relationship Id="rId10" Type="http://schemas.openxmlformats.org/officeDocument/2006/relationships/slide" Target="slides/slide6.xml"/><Relationship Id="rId21" Type="http://schemas.openxmlformats.org/officeDocument/2006/relationships/font" Target="fonts/Montserrat-italic.fnt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font" Target="fonts/Montserrat-regular.fntdata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" name="Google Shape;1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" name="Google Shape;20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" name="Google Shape;59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0" name="Google Shape;60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9" name="Google Shape;99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5" name="Google Shape;135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4" name="Google Shape;174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5" name="Google Shape;175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9" name="Google Shape;209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10" name="Google Shape;210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2" name="Google Shape;292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93" name="Google Shape;293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6" name="Google Shape;3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37" name="Google Shape;337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7" name="Google Shape;387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88" name="Google Shape;388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1" name="Google Shape;41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12" name="Google Shape;41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7" name="Google Shape;427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2" name="Google Shape;462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63" name="Google Shape;46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7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9" name="Google Shape;49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00" name="Google Shape;500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7" name="Google Shape;537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38" name="Google Shape;538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STER">
  <p:cSld name="MASTER">
    <p:bg>
      <p:bgPr>
        <a:solidFill>
          <a:srgbClr val="F7F5F2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Google Shape;12;p2"/>
          <p:cNvCxnSpPr/>
          <p:nvPr/>
        </p:nvCxnSpPr>
        <p:spPr>
          <a:xfrm>
            <a:off x="502920" y="6510528"/>
            <a:ext cx="11155680" cy="0"/>
          </a:xfrm>
          <a:prstGeom prst="straightConnector1">
            <a:avLst/>
          </a:prstGeom>
          <a:noFill/>
          <a:ln cap="flat" cmpd="sng" w="9525">
            <a:solidFill>
              <a:srgbClr val="D8D4C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" name="Google Shape;13;p2"/>
          <p:cNvSpPr/>
          <p:nvPr/>
        </p:nvSpPr>
        <p:spPr>
          <a:xfrm>
            <a:off x="530352" y="6547104"/>
            <a:ext cx="65836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8F93"/>
              </a:buClr>
              <a:buSzPts val="720"/>
              <a:buFont typeface="Montserrat"/>
              <a:buNone/>
            </a:pPr>
            <a:r>
              <a:rPr b="0" i="0" lang="en-US" sz="720" u="none" cap="none" strike="noStrike">
                <a:solidFill>
                  <a:srgbClr val="8A8F93"/>
                </a:solidFill>
                <a:latin typeface="Montserrat"/>
                <a:ea typeface="Montserrat"/>
                <a:cs typeface="Montserrat"/>
                <a:sym typeface="Montserrat"/>
              </a:rPr>
              <a:t>SberIndex • динамическая атрибутированная сеть</a:t>
            </a:r>
            <a:endParaRPr b="0" i="0" sz="72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9646920" y="6547104"/>
            <a:ext cx="1993392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8F93"/>
              </a:buClr>
              <a:buSzPts val="720"/>
              <a:buFont typeface="Montserrat"/>
              <a:buNone/>
            </a:pPr>
            <a:r>
              <a:rPr b="0" i="0" lang="en-US" sz="720" u="none" cap="none" strike="noStrike">
                <a:solidFill>
                  <a:srgbClr val="8A8F93"/>
                </a:solidFill>
                <a:latin typeface="Montserrat"/>
                <a:ea typeface="Montserrat"/>
                <a:cs typeface="Montserrat"/>
                <a:sym typeface="Montserrat"/>
              </a:rPr>
              <a:t>01–15 • 2023–2024</a:t>
            </a:r>
            <a:endParaRPr b="0" i="0" sz="72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5" name="Google Shape;15;p2"/>
          <p:cNvSpPr txBox="1"/>
          <p:nvPr>
            <p:ph idx="12" type="sldNum"/>
          </p:nvPr>
        </p:nvSpPr>
        <p:spPr>
          <a:xfrm>
            <a:off x="11686032" y="6528816"/>
            <a:ext cx="8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9A9EA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9A9EA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9A9EA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9A9EA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9A9EA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9A9EA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9A9EA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9A9EA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9A9EA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11686032" y="6528816"/>
            <a:ext cx="8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9A9EA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9A9EA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9A9EA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9A9EA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9A9EA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9A9EA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9A9EA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9A9EA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9A9EA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5F2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/>
          <p:nvPr/>
        </p:nvSpPr>
        <p:spPr>
          <a:xfrm>
            <a:off x="7595800" y="509325"/>
            <a:ext cx="4210500" cy="5394900"/>
          </a:xfrm>
          <a:prstGeom prst="roundRect">
            <a:avLst>
              <a:gd fmla="val 3380" name="adj"/>
            </a:avLst>
          </a:prstGeom>
          <a:solidFill>
            <a:srgbClr val="EFF1EE"/>
          </a:solidFill>
          <a:ln cap="flat" cmpd="sng" w="12700">
            <a:solidFill>
              <a:srgbClr val="EFF1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3" name="Google Shape;23;p4"/>
          <p:cNvCxnSpPr/>
          <p:nvPr/>
        </p:nvCxnSpPr>
        <p:spPr>
          <a:xfrm flipH="1" rot="10800000">
            <a:off x="7837126" y="1348877"/>
            <a:ext cx="621900" cy="435300"/>
          </a:xfrm>
          <a:prstGeom prst="straightConnector1">
            <a:avLst/>
          </a:prstGeom>
          <a:noFill/>
          <a:ln cap="flat" cmpd="sng" w="12700">
            <a:solidFill>
              <a:srgbClr val="BFC4C7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" name="Google Shape;24;p4"/>
          <p:cNvCxnSpPr/>
          <p:nvPr/>
        </p:nvCxnSpPr>
        <p:spPr>
          <a:xfrm flipH="1" rot="10800000">
            <a:off x="7837126" y="1641077"/>
            <a:ext cx="1243500" cy="143100"/>
          </a:xfrm>
          <a:prstGeom prst="straightConnector1">
            <a:avLst/>
          </a:prstGeom>
          <a:noFill/>
          <a:ln cap="flat" cmpd="sng" w="12700">
            <a:solidFill>
              <a:srgbClr val="BFC4C7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5" name="Google Shape;25;p4"/>
          <p:cNvCxnSpPr/>
          <p:nvPr/>
        </p:nvCxnSpPr>
        <p:spPr>
          <a:xfrm>
            <a:off x="8458918" y="1348923"/>
            <a:ext cx="621900" cy="292200"/>
          </a:xfrm>
          <a:prstGeom prst="straightConnector1">
            <a:avLst/>
          </a:prstGeom>
          <a:noFill/>
          <a:ln cap="flat" cmpd="sng" w="12700">
            <a:solidFill>
              <a:srgbClr val="BFC4C7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6" name="Google Shape;26;p4"/>
          <p:cNvCxnSpPr/>
          <p:nvPr/>
        </p:nvCxnSpPr>
        <p:spPr>
          <a:xfrm>
            <a:off x="8458918" y="1348923"/>
            <a:ext cx="1243500" cy="31200"/>
          </a:xfrm>
          <a:prstGeom prst="straightConnector1">
            <a:avLst/>
          </a:prstGeom>
          <a:noFill/>
          <a:ln cap="flat" cmpd="sng" w="12700">
            <a:solidFill>
              <a:srgbClr val="BFC4C7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7" name="Google Shape;27;p4"/>
          <p:cNvCxnSpPr/>
          <p:nvPr/>
        </p:nvCxnSpPr>
        <p:spPr>
          <a:xfrm flipH="1" rot="10800000">
            <a:off x="9080710" y="1379865"/>
            <a:ext cx="621900" cy="261300"/>
          </a:xfrm>
          <a:prstGeom prst="straightConnector1">
            <a:avLst/>
          </a:prstGeom>
          <a:noFill/>
          <a:ln cap="flat" cmpd="sng" w="12700">
            <a:solidFill>
              <a:srgbClr val="BFC4C7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8" name="Google Shape;28;p4"/>
          <p:cNvCxnSpPr/>
          <p:nvPr/>
        </p:nvCxnSpPr>
        <p:spPr>
          <a:xfrm>
            <a:off x="9080710" y="1641165"/>
            <a:ext cx="1243500" cy="161700"/>
          </a:xfrm>
          <a:prstGeom prst="straightConnector1">
            <a:avLst/>
          </a:prstGeom>
          <a:noFill/>
          <a:ln cap="flat" cmpd="sng" w="12700">
            <a:solidFill>
              <a:srgbClr val="BFC4C7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9" name="Google Shape;29;p4"/>
          <p:cNvCxnSpPr/>
          <p:nvPr/>
        </p:nvCxnSpPr>
        <p:spPr>
          <a:xfrm>
            <a:off x="9702502" y="1380012"/>
            <a:ext cx="621900" cy="422700"/>
          </a:xfrm>
          <a:prstGeom prst="straightConnector1">
            <a:avLst/>
          </a:prstGeom>
          <a:noFill/>
          <a:ln cap="flat" cmpd="sng" w="12700">
            <a:solidFill>
              <a:srgbClr val="BFC4C7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0" name="Google Shape;30;p4"/>
          <p:cNvCxnSpPr/>
          <p:nvPr/>
        </p:nvCxnSpPr>
        <p:spPr>
          <a:xfrm>
            <a:off x="9702502" y="1380012"/>
            <a:ext cx="1274700" cy="111900"/>
          </a:xfrm>
          <a:prstGeom prst="straightConnector1">
            <a:avLst/>
          </a:prstGeom>
          <a:noFill/>
          <a:ln cap="flat" cmpd="sng" w="12700">
            <a:solidFill>
              <a:srgbClr val="BFC4C7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1" name="Google Shape;31;p4"/>
          <p:cNvCxnSpPr/>
          <p:nvPr/>
        </p:nvCxnSpPr>
        <p:spPr>
          <a:xfrm flipH="1" rot="10800000">
            <a:off x="10324294" y="1703231"/>
            <a:ext cx="1305900" cy="99600"/>
          </a:xfrm>
          <a:prstGeom prst="straightConnector1">
            <a:avLst/>
          </a:prstGeom>
          <a:noFill/>
          <a:ln cap="flat" cmpd="sng" w="12700">
            <a:solidFill>
              <a:srgbClr val="BFC4C7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2" name="Google Shape;32;p4"/>
          <p:cNvCxnSpPr/>
          <p:nvPr/>
        </p:nvCxnSpPr>
        <p:spPr>
          <a:xfrm>
            <a:off x="10977176" y="1491935"/>
            <a:ext cx="652800" cy="211500"/>
          </a:xfrm>
          <a:prstGeom prst="straightConnector1">
            <a:avLst/>
          </a:prstGeom>
          <a:noFill/>
          <a:ln cap="flat" cmpd="sng" w="12700">
            <a:solidFill>
              <a:srgbClr val="BFC4C7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" name="Google Shape;33;p4"/>
          <p:cNvCxnSpPr/>
          <p:nvPr/>
        </p:nvCxnSpPr>
        <p:spPr>
          <a:xfrm flipH="1" rot="10800000">
            <a:off x="9080710" y="1492065"/>
            <a:ext cx="1896600" cy="149100"/>
          </a:xfrm>
          <a:prstGeom prst="straightConnector1">
            <a:avLst/>
          </a:prstGeom>
          <a:noFill/>
          <a:ln cap="flat" cmpd="sng" w="12700">
            <a:solidFill>
              <a:srgbClr val="BFC4C7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4" name="Google Shape;34;p4"/>
          <p:cNvSpPr/>
          <p:nvPr/>
        </p:nvSpPr>
        <p:spPr>
          <a:xfrm>
            <a:off x="7781165" y="1728216"/>
            <a:ext cx="111900" cy="111900"/>
          </a:xfrm>
          <a:prstGeom prst="ellipse">
            <a:avLst/>
          </a:prstGeom>
          <a:solidFill>
            <a:srgbClr val="AFC7D8"/>
          </a:solidFill>
          <a:ln cap="flat" cmpd="sng" w="10150">
            <a:solidFill>
              <a:srgbClr val="AFC7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4"/>
          <p:cNvSpPr/>
          <p:nvPr/>
        </p:nvSpPr>
        <p:spPr>
          <a:xfrm>
            <a:off x="8402957" y="1292962"/>
            <a:ext cx="111900" cy="111900"/>
          </a:xfrm>
          <a:prstGeom prst="ellipse">
            <a:avLst/>
          </a:prstGeom>
          <a:solidFill>
            <a:srgbClr val="C9C5E1"/>
          </a:solidFill>
          <a:ln cap="flat" cmpd="sng" w="10150">
            <a:solidFill>
              <a:srgbClr val="C9C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9024749" y="1585204"/>
            <a:ext cx="111900" cy="111900"/>
          </a:xfrm>
          <a:prstGeom prst="ellipse">
            <a:avLst/>
          </a:prstGeom>
          <a:solidFill>
            <a:srgbClr val="BFD2C4"/>
          </a:solidFill>
          <a:ln cap="flat" cmpd="sng" w="10150">
            <a:solidFill>
              <a:srgbClr val="BFD2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9646541" y="1324051"/>
            <a:ext cx="111900" cy="111900"/>
          </a:xfrm>
          <a:prstGeom prst="ellipse">
            <a:avLst/>
          </a:prstGeom>
          <a:solidFill>
            <a:srgbClr val="E4C4B8"/>
          </a:solidFill>
          <a:ln cap="flat" cmpd="sng" w="10150">
            <a:solidFill>
              <a:srgbClr val="E4C4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10268333" y="1746870"/>
            <a:ext cx="111900" cy="111900"/>
          </a:xfrm>
          <a:prstGeom prst="ellipse">
            <a:avLst/>
          </a:prstGeom>
          <a:solidFill>
            <a:srgbClr val="AFC7D8"/>
          </a:solidFill>
          <a:ln cap="flat" cmpd="sng" w="10150">
            <a:solidFill>
              <a:srgbClr val="AFC7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10921215" y="1435974"/>
            <a:ext cx="111900" cy="111900"/>
          </a:xfrm>
          <a:prstGeom prst="ellipse">
            <a:avLst/>
          </a:prstGeom>
          <a:solidFill>
            <a:srgbClr val="BFD2C4"/>
          </a:solidFill>
          <a:ln cap="flat" cmpd="sng" w="10150">
            <a:solidFill>
              <a:srgbClr val="BFD2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11574096" y="1647383"/>
            <a:ext cx="111900" cy="111900"/>
          </a:xfrm>
          <a:prstGeom prst="ellipse">
            <a:avLst/>
          </a:prstGeom>
          <a:solidFill>
            <a:srgbClr val="C9C5E1"/>
          </a:solidFill>
          <a:ln cap="flat" cmpd="sng" w="10150">
            <a:solidFill>
              <a:srgbClr val="C9C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9189720" y="2889504"/>
            <a:ext cx="347472" cy="347472"/>
          </a:xfrm>
          <a:prstGeom prst="ellipse">
            <a:avLst/>
          </a:prstGeom>
          <a:solidFill>
            <a:srgbClr val="E4C4B8"/>
          </a:solidFill>
          <a:ln cap="flat" cmpd="sng" w="10150">
            <a:solidFill>
              <a:srgbClr val="E4C4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10259568" y="3785616"/>
            <a:ext cx="256032" cy="256032"/>
          </a:xfrm>
          <a:prstGeom prst="ellipse">
            <a:avLst/>
          </a:prstGeom>
          <a:solidFill>
            <a:srgbClr val="BFD2C4"/>
          </a:solidFill>
          <a:ln cap="flat" cmpd="sng" w="10150">
            <a:solidFill>
              <a:srgbClr val="BFD2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8869680" y="4572000"/>
            <a:ext cx="219456" cy="219456"/>
          </a:xfrm>
          <a:prstGeom prst="ellipse">
            <a:avLst/>
          </a:prstGeom>
          <a:solidFill>
            <a:srgbClr val="AFC7D8"/>
          </a:solidFill>
          <a:ln cap="flat" cmpd="sng" w="10150">
            <a:solidFill>
              <a:srgbClr val="AFC7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658368" y="914400"/>
            <a:ext cx="6858000" cy="16642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3100"/>
              <a:buFont typeface="Montserrat"/>
              <a:buNone/>
            </a:pPr>
            <a:r>
              <a:rPr b="1" i="0" lang="en-US" sz="33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ЭКОНОМИЧЕСКАЯ</a:t>
            </a:r>
            <a:endParaRPr b="0" i="0" sz="33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3100"/>
              <a:buFont typeface="Montserrat"/>
              <a:buNone/>
            </a:pPr>
            <a:r>
              <a:rPr b="1" i="0" lang="en-US" sz="33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СТРУКТУРА</a:t>
            </a:r>
            <a:endParaRPr b="0" i="0" sz="33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3100"/>
              <a:buFont typeface="Montserrat"/>
              <a:buNone/>
            </a:pPr>
            <a:r>
              <a:rPr b="1" i="0" lang="en-US" sz="33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МУНИЦИПАЛИТЕТОВ</a:t>
            </a:r>
            <a:endParaRPr b="0" i="0" sz="33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5" name="Google Shape;45;p4"/>
          <p:cNvSpPr/>
          <p:nvPr/>
        </p:nvSpPr>
        <p:spPr>
          <a:xfrm>
            <a:off x="685800" y="2770632"/>
            <a:ext cx="6492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9FB6"/>
              </a:buClr>
              <a:buSzPts val="1700"/>
              <a:buFont typeface="Montserrat"/>
              <a:buNone/>
            </a:pPr>
            <a:r>
              <a:rPr b="1" i="0" lang="en-US" sz="2100" u="none" cap="none" strike="noStrike">
                <a:solidFill>
                  <a:srgbClr val="7F9FB6"/>
                </a:solidFill>
                <a:latin typeface="Montserrat"/>
                <a:ea typeface="Montserrat"/>
                <a:cs typeface="Montserrat"/>
                <a:sym typeface="Montserrat"/>
              </a:rPr>
              <a:t>Динамическая кластеризация на атрибутированных сетях</a:t>
            </a:r>
            <a:endParaRPr b="0" i="0" sz="21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685800" y="3337560"/>
            <a:ext cx="60807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320"/>
              <a:buFont typeface="Montserrat"/>
              <a:buNone/>
            </a:pPr>
            <a:r>
              <a:rPr b="0" i="0" lang="en-US" sz="152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Как из структуры потребительских расходов получить</a:t>
            </a:r>
            <a:endParaRPr b="0" i="0" sz="152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320"/>
              <a:buFont typeface="Montserrat"/>
              <a:buNone/>
            </a:pPr>
            <a:r>
              <a:rPr b="0" i="0" lang="en-US" sz="152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устойчивую типологию муниципалитетов</a:t>
            </a:r>
            <a:endParaRPr b="0" i="0" sz="152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685800" y="4206218"/>
            <a:ext cx="1719000" cy="310800"/>
          </a:xfrm>
          <a:prstGeom prst="roundRect">
            <a:avLst>
              <a:gd fmla="val 17647" name="adj"/>
            </a:avLst>
          </a:prstGeom>
          <a:solidFill>
            <a:srgbClr val="E8D9B5"/>
          </a:solidFill>
          <a:ln cap="flat" cmpd="sng" w="12700">
            <a:solidFill>
              <a:srgbClr val="E8D9B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4"/>
          <p:cNvSpPr/>
          <p:nvPr/>
        </p:nvSpPr>
        <p:spPr>
          <a:xfrm>
            <a:off x="786384" y="4270226"/>
            <a:ext cx="15180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870"/>
              <a:buFont typeface="Montserrat"/>
              <a:buNone/>
            </a:pPr>
            <a:r>
              <a:rPr b="1" i="0" lang="en-US" sz="117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СберИндекс</a:t>
            </a:r>
            <a:endParaRPr b="0" i="0" sz="117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9" name="Google Shape;49;p4"/>
          <p:cNvSpPr/>
          <p:nvPr/>
        </p:nvSpPr>
        <p:spPr>
          <a:xfrm>
            <a:off x="2532888" y="4206218"/>
            <a:ext cx="2139600" cy="310800"/>
          </a:xfrm>
          <a:prstGeom prst="roundRect">
            <a:avLst>
              <a:gd fmla="val 17647" name="adj"/>
            </a:avLst>
          </a:prstGeom>
          <a:solidFill>
            <a:srgbClr val="AFC7D8"/>
          </a:solidFill>
          <a:ln cap="flat" cmpd="sng" w="12700">
            <a:solidFill>
              <a:srgbClr val="AFC7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4"/>
          <p:cNvSpPr/>
          <p:nvPr/>
        </p:nvSpPr>
        <p:spPr>
          <a:xfrm>
            <a:off x="2633472" y="4270226"/>
            <a:ext cx="19386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870"/>
              <a:buFont typeface="Montserrat"/>
              <a:buNone/>
            </a:pPr>
            <a:r>
              <a:rPr b="1" i="0" lang="en-US" sz="117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2023-01 - 2024-12</a:t>
            </a:r>
            <a:endParaRPr b="0" i="0" sz="117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4791456" y="4206218"/>
            <a:ext cx="2176200" cy="310800"/>
          </a:xfrm>
          <a:prstGeom prst="roundRect">
            <a:avLst>
              <a:gd fmla="val 17647" name="adj"/>
            </a:avLst>
          </a:prstGeom>
          <a:solidFill>
            <a:srgbClr val="BFD2C4"/>
          </a:solidFill>
          <a:ln cap="flat" cmpd="sng" w="12700">
            <a:solidFill>
              <a:srgbClr val="BFD2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4892040" y="4270226"/>
            <a:ext cx="19752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870"/>
              <a:buFont typeface="Montserrat"/>
              <a:buNone/>
            </a:pPr>
            <a:r>
              <a:rPr b="1" i="0" lang="en-US" sz="117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3 экономических типа</a:t>
            </a:r>
            <a:endParaRPr b="0" i="0" sz="117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3" name="Google Shape;53;p4"/>
          <p:cNvSpPr/>
          <p:nvPr/>
        </p:nvSpPr>
        <p:spPr>
          <a:xfrm>
            <a:off x="685805" y="4871850"/>
            <a:ext cx="19752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860"/>
              <a:buFont typeface="Montserrat"/>
              <a:buNone/>
            </a:pPr>
            <a:r>
              <a:rPr b="1" i="0" lang="en-US" sz="116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Финальная модель</a:t>
            </a:r>
            <a:endParaRPr b="0" i="0" sz="116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4" name="Google Shape;54;p4"/>
          <p:cNvSpPr/>
          <p:nvPr/>
        </p:nvSpPr>
        <p:spPr>
          <a:xfrm>
            <a:off x="685788" y="5146175"/>
            <a:ext cx="61266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450"/>
              <a:buFont typeface="Montserrat"/>
              <a:buNone/>
            </a:pPr>
            <a:r>
              <a:rPr b="1" i="0" lang="en-US" sz="165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Euclidean  +  kNN(10)  +  RBF  +  Louvain(1.25)</a:t>
            </a:r>
            <a:endParaRPr b="0" i="0" sz="165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5" name="Google Shape;55;p4"/>
          <p:cNvSpPr/>
          <p:nvPr/>
        </p:nvSpPr>
        <p:spPr>
          <a:xfrm>
            <a:off x="685788" y="5630807"/>
            <a:ext cx="38406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880"/>
              <a:buFont typeface="Montserrat"/>
              <a:buNone/>
            </a:pPr>
            <a:r>
              <a:rPr b="0" i="0" lang="en-US" sz="118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Методологический конкурсный проект</a:t>
            </a:r>
            <a:endParaRPr b="0" i="0" sz="118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6" name="Google Shape;56;p4"/>
          <p:cNvSpPr txBox="1"/>
          <p:nvPr>
            <p:ph idx="4294967295" type="sldNum"/>
          </p:nvPr>
        </p:nvSpPr>
        <p:spPr>
          <a:xfrm>
            <a:off x="11686032" y="6528816"/>
            <a:ext cx="8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</a:pPr>
            <a:fld id="{00000000-1234-1234-1234-123412341234}" type="slidenum">
              <a:rPr b="0" i="0" lang="en-US" sz="700" u="none" cap="none" strike="noStrike">
                <a:solidFill>
                  <a:srgbClr val="9A9EA2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0" i="0" sz="700" u="none" cap="none" strike="noStrike">
              <a:solidFill>
                <a:srgbClr val="9A9EA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"/>
          <p:cNvSpPr/>
          <p:nvPr/>
        </p:nvSpPr>
        <p:spPr>
          <a:xfrm>
            <a:off x="658368" y="429768"/>
            <a:ext cx="81381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2500"/>
              <a:buFont typeface="Montserrat"/>
              <a:buNone/>
            </a:pPr>
            <a:r>
              <a:rPr b="1" i="0" lang="en-US" sz="41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Задача и идея</a:t>
            </a:r>
            <a:endParaRPr b="0" i="0" sz="41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3" name="Google Shape;63;p5"/>
          <p:cNvSpPr/>
          <p:nvPr/>
        </p:nvSpPr>
        <p:spPr>
          <a:xfrm>
            <a:off x="685800" y="978408"/>
            <a:ext cx="9784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1050"/>
              <a:buFont typeface="Montserrat"/>
              <a:buNone/>
            </a:pPr>
            <a:r>
              <a:rPr b="0" i="0" lang="en-US" sz="185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Почему здесь нужна именно атрибутированная сеть</a:t>
            </a:r>
            <a:endParaRPr b="0" i="0" sz="185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4" name="Google Shape;64;p5"/>
          <p:cNvSpPr/>
          <p:nvPr/>
        </p:nvSpPr>
        <p:spPr>
          <a:xfrm>
            <a:off x="685800" y="1417320"/>
            <a:ext cx="5074920" cy="4160520"/>
          </a:xfrm>
          <a:prstGeom prst="roundRect">
            <a:avLst>
              <a:gd fmla="val 1758" name="adj"/>
            </a:avLst>
          </a:prstGeom>
          <a:solidFill>
            <a:srgbClr val="FBFAF8"/>
          </a:solidFill>
          <a:ln cap="flat" cmpd="sng" w="10150">
            <a:solidFill>
              <a:srgbClr val="E1D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5"/>
          <p:cNvSpPr/>
          <p:nvPr/>
        </p:nvSpPr>
        <p:spPr>
          <a:xfrm>
            <a:off x="960120" y="1719072"/>
            <a:ext cx="25603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500"/>
              <a:buFont typeface="Montserrat"/>
              <a:buNone/>
            </a:pPr>
            <a:r>
              <a:rPr b="1" i="0" lang="en-US" sz="18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Обычная кластеризация</a:t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6" name="Google Shape;66;p5"/>
          <p:cNvSpPr/>
          <p:nvPr/>
        </p:nvSpPr>
        <p:spPr>
          <a:xfrm>
            <a:off x="960120" y="2212848"/>
            <a:ext cx="42062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1400"/>
              <a:buFont typeface="Montserrat"/>
              <a:buNone/>
            </a:pPr>
            <a:r>
              <a:rPr b="0" i="0" lang="en-US" sz="160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смотрит на признаки муниципалитета</a:t>
            </a:r>
            <a:endParaRPr b="0" i="0" sz="16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1400"/>
              <a:buFont typeface="Montserrat"/>
              <a:buNone/>
            </a:pPr>
            <a:r>
              <a:rPr b="0" i="0" lang="en-US" sz="160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как на отдельный вектор.</a:t>
            </a:r>
            <a:endParaRPr b="0" i="0" sz="16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1051560" y="3255264"/>
            <a:ext cx="256032" cy="256032"/>
          </a:xfrm>
          <a:prstGeom prst="ellipse">
            <a:avLst/>
          </a:prstGeom>
          <a:solidFill>
            <a:srgbClr val="AFC7D8"/>
          </a:solidFill>
          <a:ln cap="flat" cmpd="sng" w="10150">
            <a:solidFill>
              <a:srgbClr val="AFC7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5"/>
          <p:cNvSpPr/>
          <p:nvPr/>
        </p:nvSpPr>
        <p:spPr>
          <a:xfrm>
            <a:off x="1874520" y="2926080"/>
            <a:ext cx="256032" cy="256032"/>
          </a:xfrm>
          <a:prstGeom prst="ellipse">
            <a:avLst/>
          </a:prstGeom>
          <a:solidFill>
            <a:srgbClr val="AFC7D8"/>
          </a:solidFill>
          <a:ln cap="flat" cmpd="sng" w="10150">
            <a:solidFill>
              <a:srgbClr val="AFC7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5"/>
          <p:cNvSpPr/>
          <p:nvPr/>
        </p:nvSpPr>
        <p:spPr>
          <a:xfrm>
            <a:off x="1847088" y="3712464"/>
            <a:ext cx="256032" cy="256032"/>
          </a:xfrm>
          <a:prstGeom prst="ellipse">
            <a:avLst/>
          </a:prstGeom>
          <a:solidFill>
            <a:srgbClr val="AFC7D8"/>
          </a:solidFill>
          <a:ln cap="flat" cmpd="sng" w="10150">
            <a:solidFill>
              <a:srgbClr val="AFC7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5"/>
          <p:cNvSpPr/>
          <p:nvPr/>
        </p:nvSpPr>
        <p:spPr>
          <a:xfrm>
            <a:off x="2697480" y="3236976"/>
            <a:ext cx="256032" cy="256032"/>
          </a:xfrm>
          <a:prstGeom prst="ellipse">
            <a:avLst/>
          </a:prstGeom>
          <a:solidFill>
            <a:srgbClr val="AFC7D8"/>
          </a:solidFill>
          <a:ln cap="flat" cmpd="sng" w="10150">
            <a:solidFill>
              <a:srgbClr val="AFC7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1" name="Google Shape;71;p5"/>
          <p:cNvCxnSpPr/>
          <p:nvPr/>
        </p:nvCxnSpPr>
        <p:spPr>
          <a:xfrm flipH="1" rot="10800000">
            <a:off x="1271016" y="3118104"/>
            <a:ext cx="475488" cy="265176"/>
          </a:xfrm>
          <a:prstGeom prst="straightConnector1">
            <a:avLst/>
          </a:prstGeom>
          <a:noFill/>
          <a:ln cap="flat" cmpd="sng" w="15225">
            <a:solidFill>
              <a:srgbClr val="C9CDD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2" name="Google Shape;72;p5"/>
          <p:cNvCxnSpPr/>
          <p:nvPr/>
        </p:nvCxnSpPr>
        <p:spPr>
          <a:xfrm>
            <a:off x="1271016" y="3383280"/>
            <a:ext cx="457200" cy="457200"/>
          </a:xfrm>
          <a:prstGeom prst="straightConnector1">
            <a:avLst/>
          </a:prstGeom>
          <a:noFill/>
          <a:ln cap="flat" cmpd="sng" w="15225">
            <a:solidFill>
              <a:srgbClr val="C9CDD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3" name="Google Shape;73;p5"/>
          <p:cNvCxnSpPr/>
          <p:nvPr/>
        </p:nvCxnSpPr>
        <p:spPr>
          <a:xfrm>
            <a:off x="2130552" y="3054096"/>
            <a:ext cx="438912" cy="146304"/>
          </a:xfrm>
          <a:prstGeom prst="straightConnector1">
            <a:avLst/>
          </a:prstGeom>
          <a:noFill/>
          <a:ln cap="flat" cmpd="sng" w="15225">
            <a:solidFill>
              <a:srgbClr val="C9CDD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4" name="Google Shape;74;p5"/>
          <p:cNvCxnSpPr/>
          <p:nvPr/>
        </p:nvCxnSpPr>
        <p:spPr>
          <a:xfrm flipH="1" rot="10800000">
            <a:off x="2130552" y="3392424"/>
            <a:ext cx="438912" cy="429768"/>
          </a:xfrm>
          <a:prstGeom prst="straightConnector1">
            <a:avLst/>
          </a:prstGeom>
          <a:noFill/>
          <a:ln cap="flat" cmpd="sng" w="15225">
            <a:solidFill>
              <a:srgbClr val="C9CDD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5" name="Google Shape;75;p5"/>
          <p:cNvSpPr/>
          <p:nvPr/>
        </p:nvSpPr>
        <p:spPr>
          <a:xfrm>
            <a:off x="960120" y="42062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9FB6"/>
              </a:buClr>
              <a:buSzPts val="900"/>
              <a:buFont typeface="Montserrat"/>
              <a:buNone/>
            </a:pPr>
            <a:r>
              <a:rPr b="1" i="0" lang="en-US" sz="1500" u="none" cap="none" strike="noStrike">
                <a:solidFill>
                  <a:srgbClr val="7F9FB6"/>
                </a:solidFill>
                <a:latin typeface="Montserrat"/>
                <a:ea typeface="Montserrat"/>
                <a:cs typeface="Montserrat"/>
                <a:sym typeface="Montserrat"/>
              </a:rPr>
              <a:t>Признаки</a:t>
            </a:r>
            <a:endParaRPr b="0" i="0" sz="15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6" name="Google Shape;76;p5"/>
          <p:cNvSpPr/>
          <p:nvPr/>
        </p:nvSpPr>
        <p:spPr>
          <a:xfrm>
            <a:off x="960120" y="4590288"/>
            <a:ext cx="1051560" cy="310896"/>
          </a:xfrm>
          <a:prstGeom prst="roundRect">
            <a:avLst>
              <a:gd fmla="val 17647" name="adj"/>
            </a:avLst>
          </a:prstGeom>
          <a:solidFill>
            <a:srgbClr val="AFC7D8"/>
          </a:solidFill>
          <a:ln cap="flat" cmpd="sng" w="12700">
            <a:solidFill>
              <a:srgbClr val="AFC7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1060704" y="4654296"/>
            <a:ext cx="850392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870"/>
              <a:buFont typeface="Montserrat"/>
              <a:buNone/>
            </a:pPr>
            <a:r>
              <a:rPr b="1" i="0" lang="en-US" sz="137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food</a:t>
            </a:r>
            <a:endParaRPr b="0" i="0" sz="137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8" name="Google Shape;78;p5"/>
          <p:cNvSpPr/>
          <p:nvPr/>
        </p:nvSpPr>
        <p:spPr>
          <a:xfrm>
            <a:off x="2130552" y="4590288"/>
            <a:ext cx="1051560" cy="310896"/>
          </a:xfrm>
          <a:prstGeom prst="roundRect">
            <a:avLst>
              <a:gd fmla="val 17647" name="adj"/>
            </a:avLst>
          </a:prstGeom>
          <a:solidFill>
            <a:srgbClr val="BFD2C4"/>
          </a:solidFill>
          <a:ln cap="flat" cmpd="sng" w="12700">
            <a:solidFill>
              <a:srgbClr val="BFD2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5"/>
          <p:cNvSpPr/>
          <p:nvPr/>
        </p:nvSpPr>
        <p:spPr>
          <a:xfrm>
            <a:off x="2231136" y="4654296"/>
            <a:ext cx="850392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870"/>
              <a:buFont typeface="Montserrat"/>
              <a:buNone/>
            </a:pPr>
            <a:r>
              <a:rPr b="1" i="0" lang="en-US" sz="137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health</a:t>
            </a:r>
            <a:endParaRPr b="0" i="0" sz="137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0" name="Google Shape;80;p5"/>
          <p:cNvSpPr/>
          <p:nvPr/>
        </p:nvSpPr>
        <p:spPr>
          <a:xfrm>
            <a:off x="3300984" y="4590288"/>
            <a:ext cx="1325880" cy="310896"/>
          </a:xfrm>
          <a:prstGeom prst="roundRect">
            <a:avLst>
              <a:gd fmla="val 17647" name="adj"/>
            </a:avLst>
          </a:prstGeom>
          <a:solidFill>
            <a:srgbClr val="E4C4B8"/>
          </a:solidFill>
          <a:ln cap="flat" cmpd="sng" w="12700">
            <a:solidFill>
              <a:srgbClr val="E4C4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5"/>
          <p:cNvSpPr/>
          <p:nvPr/>
        </p:nvSpPr>
        <p:spPr>
          <a:xfrm>
            <a:off x="3401568" y="4654296"/>
            <a:ext cx="1124712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870"/>
              <a:buFont typeface="Montserrat"/>
              <a:buNone/>
            </a:pPr>
            <a:r>
              <a:rPr b="1" i="0" lang="en-US" sz="137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market</a:t>
            </a:r>
            <a:endParaRPr b="0" i="0" sz="137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2" name="Google Shape;82;p5"/>
          <p:cNvSpPr/>
          <p:nvPr/>
        </p:nvSpPr>
        <p:spPr>
          <a:xfrm>
            <a:off x="5989320" y="1417320"/>
            <a:ext cx="5468112" cy="4160520"/>
          </a:xfrm>
          <a:prstGeom prst="roundRect">
            <a:avLst>
              <a:gd fmla="val 1758" name="adj"/>
            </a:avLst>
          </a:prstGeom>
          <a:solidFill>
            <a:srgbClr val="F3F6F2"/>
          </a:solidFill>
          <a:ln cap="flat" cmpd="sng" w="10150">
            <a:solidFill>
              <a:srgbClr val="E1D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5"/>
          <p:cNvSpPr/>
          <p:nvPr/>
        </p:nvSpPr>
        <p:spPr>
          <a:xfrm>
            <a:off x="6309360" y="1719072"/>
            <a:ext cx="2377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500"/>
              <a:buFont typeface="Montserrat"/>
              <a:buNone/>
            </a:pPr>
            <a:r>
              <a:rPr b="1" i="0" lang="en-US" sz="18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Наша постановка</a:t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4" name="Google Shape;84;p5"/>
          <p:cNvSpPr/>
          <p:nvPr/>
        </p:nvSpPr>
        <p:spPr>
          <a:xfrm>
            <a:off x="6309360" y="2148840"/>
            <a:ext cx="42062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AF95"/>
              </a:buClr>
              <a:buSzPts val="1700"/>
              <a:buFont typeface="Montserrat"/>
              <a:buNone/>
            </a:pPr>
            <a:r>
              <a:rPr b="1" i="0" lang="en-US" sz="2000" u="none" cap="none" strike="noStrike">
                <a:solidFill>
                  <a:srgbClr val="8BAF95"/>
                </a:solidFill>
                <a:latin typeface="Montserrat"/>
                <a:ea typeface="Montserrat"/>
                <a:cs typeface="Montserrat"/>
                <a:sym typeface="Montserrat"/>
              </a:rPr>
              <a:t>Муниципалитет = узел</a:t>
            </a:r>
            <a:endParaRPr b="0" i="0" sz="20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AF95"/>
              </a:buClr>
              <a:buSzPts val="1700"/>
              <a:buFont typeface="Montserrat"/>
              <a:buNone/>
            </a:pPr>
            <a:r>
              <a:rPr b="1" i="0" lang="en-US" sz="2000" u="none" cap="none" strike="noStrike">
                <a:solidFill>
                  <a:srgbClr val="8BAF95"/>
                </a:solidFill>
                <a:latin typeface="Montserrat"/>
                <a:ea typeface="Montserrat"/>
                <a:cs typeface="Montserrat"/>
                <a:sym typeface="Montserrat"/>
              </a:rPr>
              <a:t>экономической сети</a:t>
            </a:r>
            <a:endParaRPr b="0" i="0" sz="20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5" name="Google Shape;85;p5"/>
          <p:cNvSpPr/>
          <p:nvPr/>
        </p:nvSpPr>
        <p:spPr>
          <a:xfrm>
            <a:off x="6309349" y="2907800"/>
            <a:ext cx="4855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350"/>
              <a:buFont typeface="Montserrat"/>
              <a:buNone/>
            </a:pPr>
            <a:r>
              <a:rPr b="0" i="0" lang="en-US" sz="155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Атрибуты узла – структура потребительских расходов.</a:t>
            </a:r>
            <a:endParaRPr b="0" i="0" sz="155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350"/>
              <a:buFont typeface="Montserrat"/>
              <a:buNone/>
            </a:pPr>
            <a:r>
              <a:rPr b="0" i="0" lang="en-US" sz="155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Ребро – экономическая близость профилей.</a:t>
            </a:r>
            <a:endParaRPr b="0" i="0" sz="155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86" name="Google Shape;86;p5"/>
          <p:cNvCxnSpPr/>
          <p:nvPr/>
        </p:nvCxnSpPr>
        <p:spPr>
          <a:xfrm>
            <a:off x="6327648" y="3895344"/>
            <a:ext cx="4526280" cy="0"/>
          </a:xfrm>
          <a:prstGeom prst="straightConnector1">
            <a:avLst/>
          </a:prstGeom>
          <a:noFill/>
          <a:ln cap="flat" cmpd="sng" w="15225">
            <a:solidFill>
              <a:srgbClr val="C8D2C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7" name="Google Shape;87;p5"/>
          <p:cNvSpPr/>
          <p:nvPr/>
        </p:nvSpPr>
        <p:spPr>
          <a:xfrm>
            <a:off x="6309347" y="4160525"/>
            <a:ext cx="3897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1000"/>
              <a:buFont typeface="Montserrat"/>
              <a:buNone/>
            </a:pPr>
            <a:r>
              <a:rPr b="1" i="0" lang="en-US" sz="150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Одновременно анализируем</a:t>
            </a:r>
            <a:endParaRPr b="0" i="0" sz="15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8" name="Google Shape;88;p5"/>
          <p:cNvSpPr/>
          <p:nvPr/>
        </p:nvSpPr>
        <p:spPr>
          <a:xfrm>
            <a:off x="6309360" y="4526280"/>
            <a:ext cx="1581912" cy="310896"/>
          </a:xfrm>
          <a:prstGeom prst="roundRect">
            <a:avLst>
              <a:gd fmla="val 17647" name="adj"/>
            </a:avLst>
          </a:prstGeom>
          <a:solidFill>
            <a:srgbClr val="AFC7D8"/>
          </a:solidFill>
          <a:ln cap="flat" cmpd="sng" w="12700">
            <a:solidFill>
              <a:srgbClr val="AFC7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5"/>
          <p:cNvSpPr/>
          <p:nvPr/>
        </p:nvSpPr>
        <p:spPr>
          <a:xfrm>
            <a:off x="6409944" y="4590288"/>
            <a:ext cx="138074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870"/>
              <a:buFont typeface="Montserrat"/>
              <a:buNone/>
            </a:pPr>
            <a:r>
              <a:rPr b="1" i="0" lang="en-US" sz="137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атрибуты</a:t>
            </a:r>
            <a:endParaRPr b="0" i="0" sz="137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0" name="Google Shape;90;p5"/>
          <p:cNvSpPr/>
          <p:nvPr/>
        </p:nvSpPr>
        <p:spPr>
          <a:xfrm>
            <a:off x="8065008" y="4526280"/>
            <a:ext cx="1490472" cy="310896"/>
          </a:xfrm>
          <a:prstGeom prst="roundRect">
            <a:avLst>
              <a:gd fmla="val 17647" name="adj"/>
            </a:avLst>
          </a:prstGeom>
          <a:solidFill>
            <a:srgbClr val="E4C4B8"/>
          </a:solidFill>
          <a:ln cap="flat" cmpd="sng" w="12700">
            <a:solidFill>
              <a:srgbClr val="E4C4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5"/>
          <p:cNvSpPr/>
          <p:nvPr/>
        </p:nvSpPr>
        <p:spPr>
          <a:xfrm>
            <a:off x="8165592" y="4590288"/>
            <a:ext cx="128930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870"/>
              <a:buFont typeface="Montserrat"/>
              <a:buNone/>
            </a:pPr>
            <a:r>
              <a:rPr b="1" i="0" lang="en-US" sz="137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связи</a:t>
            </a:r>
            <a:endParaRPr b="0" i="0" sz="137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2" name="Google Shape;92;p5"/>
          <p:cNvSpPr/>
          <p:nvPr/>
        </p:nvSpPr>
        <p:spPr>
          <a:xfrm>
            <a:off x="9747504" y="4526280"/>
            <a:ext cx="1417320" cy="310896"/>
          </a:xfrm>
          <a:prstGeom prst="roundRect">
            <a:avLst>
              <a:gd fmla="val 17647" name="adj"/>
            </a:avLst>
          </a:prstGeom>
          <a:solidFill>
            <a:srgbClr val="C9C5E1"/>
          </a:solidFill>
          <a:ln cap="flat" cmpd="sng" w="12700">
            <a:solidFill>
              <a:srgbClr val="C9C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5"/>
          <p:cNvSpPr/>
          <p:nvPr/>
        </p:nvSpPr>
        <p:spPr>
          <a:xfrm>
            <a:off x="9848088" y="4590288"/>
            <a:ext cx="1216152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870"/>
              <a:buFont typeface="Montserrat"/>
              <a:buNone/>
            </a:pPr>
            <a:r>
              <a:rPr b="1" i="0" lang="en-US" sz="137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динамику</a:t>
            </a:r>
            <a:endParaRPr b="0" i="0" sz="137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6309360" y="4974332"/>
            <a:ext cx="44439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1080"/>
              <a:buFont typeface="Montserrat"/>
              <a:buNone/>
            </a:pPr>
            <a:r>
              <a:rPr b="0" i="0" lang="en-US" sz="128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Результат – не только группы, но и наблюдаемая во времени типология локальных экономик.</a:t>
            </a:r>
            <a:endParaRPr b="0" i="0" sz="128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5" name="Google Shape;95;p5"/>
          <p:cNvSpPr txBox="1"/>
          <p:nvPr>
            <p:ph idx="4294967295" type="sldNum"/>
          </p:nvPr>
        </p:nvSpPr>
        <p:spPr>
          <a:xfrm>
            <a:off x="11686032" y="6528816"/>
            <a:ext cx="8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</a:pPr>
            <a:fld id="{00000000-1234-1234-1234-123412341234}" type="slidenum">
              <a:rPr b="0" i="0" lang="en-US" sz="700" u="none" cap="none" strike="noStrike">
                <a:solidFill>
                  <a:srgbClr val="9A9EA2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0" i="0" sz="700" u="none" cap="none" strike="noStrike">
              <a:solidFill>
                <a:srgbClr val="9A9EA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6"/>
          <p:cNvSpPr/>
          <p:nvPr/>
        </p:nvSpPr>
        <p:spPr>
          <a:xfrm>
            <a:off x="658368" y="429768"/>
            <a:ext cx="81381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2500"/>
              <a:buFont typeface="Montserrat"/>
              <a:buNone/>
            </a:pPr>
            <a:r>
              <a:rPr b="1" i="0" lang="en-US" sz="41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Данные и признаки</a:t>
            </a:r>
            <a:endParaRPr b="0" i="0" sz="41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2" name="Google Shape;102;p6"/>
          <p:cNvSpPr/>
          <p:nvPr/>
        </p:nvSpPr>
        <p:spPr>
          <a:xfrm>
            <a:off x="685800" y="978408"/>
            <a:ext cx="9784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1050"/>
              <a:buFont typeface="Montserrat"/>
              <a:buNone/>
            </a:pPr>
            <a:r>
              <a:rPr b="0" i="0" lang="en-US" sz="185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Панель municipality-month за 24 месяца</a:t>
            </a:r>
            <a:endParaRPr b="0" i="0" sz="185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3" name="Google Shape;103;p6"/>
          <p:cNvSpPr/>
          <p:nvPr/>
        </p:nvSpPr>
        <p:spPr>
          <a:xfrm>
            <a:off x="685800" y="1399025"/>
            <a:ext cx="3101400" cy="1234500"/>
          </a:xfrm>
          <a:prstGeom prst="roundRect">
            <a:avLst>
              <a:gd fmla="val 5926" name="adj"/>
            </a:avLst>
          </a:prstGeom>
          <a:solidFill>
            <a:srgbClr val="AFC7D8"/>
          </a:solidFill>
          <a:ln cap="flat" cmpd="sng" w="10150">
            <a:solidFill>
              <a:srgbClr val="E1D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6"/>
          <p:cNvSpPr/>
          <p:nvPr/>
        </p:nvSpPr>
        <p:spPr>
          <a:xfrm>
            <a:off x="850392" y="1554480"/>
            <a:ext cx="1728216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920"/>
              <a:buFont typeface="Montserrat"/>
              <a:buNone/>
            </a:pPr>
            <a:r>
              <a:rPr b="1" i="0" lang="en-US" sz="182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Наблюдений</a:t>
            </a:r>
            <a:endParaRPr b="0" i="0" sz="182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5" name="Google Shape;105;p6"/>
          <p:cNvSpPr/>
          <p:nvPr/>
        </p:nvSpPr>
        <p:spPr>
          <a:xfrm>
            <a:off x="850392" y="1856232"/>
            <a:ext cx="1728216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2200"/>
              <a:buFont typeface="Montserrat"/>
              <a:buNone/>
            </a:pPr>
            <a:r>
              <a:rPr b="1" i="0" lang="en-US" sz="29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50 521</a:t>
            </a:r>
            <a:endParaRPr b="0" i="0" sz="29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6" name="Google Shape;106;p6"/>
          <p:cNvSpPr/>
          <p:nvPr/>
        </p:nvSpPr>
        <p:spPr>
          <a:xfrm>
            <a:off x="850392" y="2304288"/>
            <a:ext cx="172821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760"/>
              <a:buFont typeface="Montserrat"/>
              <a:buNone/>
            </a:pPr>
            <a:r>
              <a:rPr b="0" i="0" lang="en-US" sz="126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municipality-month</a:t>
            </a:r>
            <a:endParaRPr b="0" i="0" sz="126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7" name="Google Shape;107;p6"/>
          <p:cNvSpPr/>
          <p:nvPr/>
        </p:nvSpPr>
        <p:spPr>
          <a:xfrm>
            <a:off x="4424912" y="1403563"/>
            <a:ext cx="3101400" cy="1234500"/>
          </a:xfrm>
          <a:prstGeom prst="roundRect">
            <a:avLst>
              <a:gd fmla="val 5926" name="adj"/>
            </a:avLst>
          </a:prstGeom>
          <a:solidFill>
            <a:srgbClr val="BFD2C4"/>
          </a:solidFill>
          <a:ln cap="flat" cmpd="sng" w="10150">
            <a:solidFill>
              <a:srgbClr val="E1D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6"/>
          <p:cNvSpPr/>
          <p:nvPr/>
        </p:nvSpPr>
        <p:spPr>
          <a:xfrm>
            <a:off x="4589459" y="1554480"/>
            <a:ext cx="17283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920"/>
              <a:buFont typeface="Montserrat"/>
              <a:buNone/>
            </a:pPr>
            <a:r>
              <a:rPr b="1" i="0" lang="en-US" sz="182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Период</a:t>
            </a:r>
            <a:endParaRPr b="0" i="0" sz="182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9" name="Google Shape;109;p6"/>
          <p:cNvSpPr/>
          <p:nvPr/>
        </p:nvSpPr>
        <p:spPr>
          <a:xfrm>
            <a:off x="4589447" y="1856245"/>
            <a:ext cx="17283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2200"/>
              <a:buFont typeface="Montserrat"/>
              <a:buNone/>
            </a:pPr>
            <a:r>
              <a:rPr b="1" i="0" lang="en-US" sz="29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24 мес.</a:t>
            </a:r>
            <a:endParaRPr b="0" i="0" sz="29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0" name="Google Shape;110;p6"/>
          <p:cNvSpPr/>
          <p:nvPr/>
        </p:nvSpPr>
        <p:spPr>
          <a:xfrm>
            <a:off x="4589459" y="2304226"/>
            <a:ext cx="17283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760"/>
              <a:buFont typeface="Montserrat"/>
              <a:buNone/>
            </a:pPr>
            <a:r>
              <a:rPr b="0" i="0" lang="en-US" sz="126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янв. 2023 - дек. 2024</a:t>
            </a:r>
            <a:endParaRPr b="0" i="0" sz="126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1" name="Google Shape;111;p6"/>
          <p:cNvSpPr/>
          <p:nvPr/>
        </p:nvSpPr>
        <p:spPr>
          <a:xfrm>
            <a:off x="8164000" y="1403575"/>
            <a:ext cx="3101400" cy="1234500"/>
          </a:xfrm>
          <a:prstGeom prst="roundRect">
            <a:avLst>
              <a:gd fmla="val 5926" name="adj"/>
            </a:avLst>
          </a:prstGeom>
          <a:solidFill>
            <a:srgbClr val="E4C4B8"/>
          </a:solidFill>
          <a:ln cap="flat" cmpd="sng" w="10150">
            <a:solidFill>
              <a:srgbClr val="E1D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6"/>
          <p:cNvSpPr/>
          <p:nvPr/>
        </p:nvSpPr>
        <p:spPr>
          <a:xfrm>
            <a:off x="8328600" y="1554475"/>
            <a:ext cx="3101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920"/>
              <a:buFont typeface="Montserrat"/>
              <a:buNone/>
            </a:pPr>
            <a:r>
              <a:rPr b="1" i="0" lang="en-US" sz="182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Основных признаков</a:t>
            </a:r>
            <a:endParaRPr b="0" i="0" sz="182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3" name="Google Shape;113;p6"/>
          <p:cNvSpPr/>
          <p:nvPr/>
        </p:nvSpPr>
        <p:spPr>
          <a:xfrm>
            <a:off x="8328601" y="1856245"/>
            <a:ext cx="17283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2200"/>
              <a:buFont typeface="Montserrat"/>
              <a:buNone/>
            </a:pPr>
            <a:r>
              <a:rPr b="1" i="0" lang="en-US" sz="29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endParaRPr b="0" i="0" sz="29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4" name="Google Shape;114;p6"/>
          <p:cNvSpPr/>
          <p:nvPr/>
        </p:nvSpPr>
        <p:spPr>
          <a:xfrm>
            <a:off x="8328589" y="2304238"/>
            <a:ext cx="17283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760"/>
              <a:buFont typeface="Montserrat"/>
              <a:buNone/>
            </a:pPr>
            <a:r>
              <a:rPr b="0" i="0" lang="en-US" sz="126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доли категорий</a:t>
            </a:r>
            <a:endParaRPr b="0" i="0" sz="126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5" name="Google Shape;115;p6"/>
          <p:cNvSpPr/>
          <p:nvPr/>
        </p:nvSpPr>
        <p:spPr>
          <a:xfrm>
            <a:off x="685800" y="2852928"/>
            <a:ext cx="3977640" cy="2724912"/>
          </a:xfrm>
          <a:prstGeom prst="roundRect">
            <a:avLst>
              <a:gd fmla="val 2685" name="adj"/>
            </a:avLst>
          </a:prstGeom>
          <a:solidFill>
            <a:srgbClr val="FBFAF8"/>
          </a:solidFill>
          <a:ln cap="flat" cmpd="sng" w="10150">
            <a:solidFill>
              <a:srgbClr val="E1D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6"/>
          <p:cNvSpPr/>
          <p:nvPr/>
        </p:nvSpPr>
        <p:spPr>
          <a:xfrm>
            <a:off x="0" y="0"/>
            <a:ext cx="9144000" cy="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Montserrat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Основной вектор</a:t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7" name="Google Shape;117;p6"/>
          <p:cNvSpPr/>
          <p:nvPr/>
        </p:nvSpPr>
        <p:spPr>
          <a:xfrm>
            <a:off x="960120" y="3163817"/>
            <a:ext cx="137100" cy="137100"/>
          </a:xfrm>
          <a:prstGeom prst="ellipse">
            <a:avLst/>
          </a:prstGeom>
          <a:solidFill>
            <a:srgbClr val="AFC7D8"/>
          </a:solidFill>
          <a:ln cap="flat" cmpd="sng" w="10150">
            <a:solidFill>
              <a:srgbClr val="AFC7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6"/>
          <p:cNvSpPr/>
          <p:nvPr/>
        </p:nvSpPr>
        <p:spPr>
          <a:xfrm>
            <a:off x="1207046" y="3099841"/>
            <a:ext cx="26517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050"/>
              <a:buFont typeface="Montserrat"/>
              <a:buNone/>
            </a:pPr>
            <a:r>
              <a:rPr b="0" i="0" lang="en-US" sz="145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Продовольствие</a:t>
            </a:r>
            <a:endParaRPr b="0" i="0" sz="145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9" name="Google Shape;119;p6"/>
          <p:cNvSpPr/>
          <p:nvPr/>
        </p:nvSpPr>
        <p:spPr>
          <a:xfrm>
            <a:off x="960145" y="3512828"/>
            <a:ext cx="137100" cy="137100"/>
          </a:xfrm>
          <a:prstGeom prst="ellipse">
            <a:avLst/>
          </a:prstGeom>
          <a:solidFill>
            <a:srgbClr val="BFD2C4"/>
          </a:solidFill>
          <a:ln cap="flat" cmpd="sng" w="10150">
            <a:solidFill>
              <a:srgbClr val="BFD2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6"/>
          <p:cNvSpPr/>
          <p:nvPr/>
        </p:nvSpPr>
        <p:spPr>
          <a:xfrm>
            <a:off x="1231221" y="3470152"/>
            <a:ext cx="26517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050"/>
              <a:buFont typeface="Montserrat"/>
              <a:buNone/>
            </a:pPr>
            <a:r>
              <a:rPr b="0" i="0" lang="en-US" sz="145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Здоровье</a:t>
            </a:r>
            <a:endParaRPr b="0" i="0" sz="145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1" name="Google Shape;121;p6"/>
          <p:cNvSpPr/>
          <p:nvPr/>
        </p:nvSpPr>
        <p:spPr>
          <a:xfrm>
            <a:off x="960120" y="3861826"/>
            <a:ext cx="137100" cy="137100"/>
          </a:xfrm>
          <a:prstGeom prst="ellipse">
            <a:avLst/>
          </a:prstGeom>
          <a:solidFill>
            <a:srgbClr val="E4C4B8"/>
          </a:solidFill>
          <a:ln cap="flat" cmpd="sng" w="10150">
            <a:solidFill>
              <a:srgbClr val="E4C4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6"/>
          <p:cNvSpPr/>
          <p:nvPr/>
        </p:nvSpPr>
        <p:spPr>
          <a:xfrm>
            <a:off x="1207046" y="3820662"/>
            <a:ext cx="26517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050"/>
              <a:buFont typeface="Montserrat"/>
              <a:buNone/>
            </a:pPr>
            <a:r>
              <a:rPr b="0" i="0" lang="en-US" sz="145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Маркетплейсы</a:t>
            </a:r>
            <a:endParaRPr b="0" i="0" sz="145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3" name="Google Shape;123;p6"/>
          <p:cNvSpPr/>
          <p:nvPr/>
        </p:nvSpPr>
        <p:spPr>
          <a:xfrm>
            <a:off x="960145" y="4210824"/>
            <a:ext cx="137100" cy="137100"/>
          </a:xfrm>
          <a:prstGeom prst="ellipse">
            <a:avLst/>
          </a:prstGeom>
          <a:solidFill>
            <a:srgbClr val="C9C5E1"/>
          </a:solidFill>
          <a:ln cap="flat" cmpd="sng" w="10150">
            <a:solidFill>
              <a:srgbClr val="C9C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6"/>
          <p:cNvSpPr/>
          <p:nvPr/>
        </p:nvSpPr>
        <p:spPr>
          <a:xfrm>
            <a:off x="1207033" y="4171148"/>
            <a:ext cx="26517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050"/>
              <a:buFont typeface="Montserrat"/>
              <a:buNone/>
            </a:pPr>
            <a:r>
              <a:rPr b="0" i="0" lang="en-US" sz="145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Общественное питание</a:t>
            </a:r>
            <a:endParaRPr b="0" i="0" sz="145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5" name="Google Shape;125;p6"/>
          <p:cNvSpPr/>
          <p:nvPr/>
        </p:nvSpPr>
        <p:spPr>
          <a:xfrm>
            <a:off x="960095" y="4559822"/>
            <a:ext cx="137100" cy="137100"/>
          </a:xfrm>
          <a:prstGeom prst="ellipse">
            <a:avLst/>
          </a:prstGeom>
          <a:solidFill>
            <a:srgbClr val="E8D9B5"/>
          </a:solidFill>
          <a:ln cap="flat" cmpd="sng" w="10150">
            <a:solidFill>
              <a:srgbClr val="E8D9B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6"/>
          <p:cNvSpPr/>
          <p:nvPr/>
        </p:nvSpPr>
        <p:spPr>
          <a:xfrm>
            <a:off x="1231221" y="4521658"/>
            <a:ext cx="26517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050"/>
              <a:buFont typeface="Montserrat"/>
              <a:buNone/>
            </a:pPr>
            <a:r>
              <a:rPr b="0" i="0" lang="en-US" sz="145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Транспорт</a:t>
            </a:r>
            <a:endParaRPr b="0" i="0" sz="145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7" name="Google Shape;127;p6"/>
          <p:cNvSpPr/>
          <p:nvPr/>
        </p:nvSpPr>
        <p:spPr>
          <a:xfrm>
            <a:off x="982925" y="4959408"/>
            <a:ext cx="33834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860"/>
              <a:buFont typeface="Montserrat"/>
              <a:buNone/>
            </a:pPr>
            <a:r>
              <a:rPr b="0" i="0" lang="en-US" sz="106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Доли пяти выбранных категорий</a:t>
            </a:r>
            <a:endParaRPr b="0" i="0" sz="106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860"/>
              <a:buFont typeface="Montserrat"/>
              <a:buNone/>
            </a:pPr>
            <a:r>
              <a:rPr b="0" i="0" lang="en-US" sz="106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суммируются до 1 с учетом округления.</a:t>
            </a:r>
            <a:endParaRPr b="0" i="0" sz="106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8" name="Google Shape;128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83480" y="2807208"/>
            <a:ext cx="6446520" cy="2788920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6"/>
          <p:cNvSpPr/>
          <p:nvPr/>
        </p:nvSpPr>
        <p:spPr>
          <a:xfrm>
            <a:off x="5047488" y="5614416"/>
            <a:ext cx="6217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839"/>
              <a:buFont typeface="Montserrat"/>
              <a:buNone/>
            </a:pPr>
            <a:r>
              <a:rPr b="0" i="0" lang="en-US" sz="104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market_access и транспортные связи используются как контекст,</a:t>
            </a:r>
            <a:endParaRPr b="0" i="0" sz="104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839"/>
              <a:buFont typeface="Montserrat"/>
              <a:buNone/>
            </a:pPr>
            <a:r>
              <a:rPr b="0" i="0" lang="en-US" sz="104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но не входят в основной пятимерный вектор признаков.</a:t>
            </a:r>
            <a:endParaRPr b="0" i="0" sz="104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0" name="Google Shape;130;p6"/>
          <p:cNvSpPr/>
          <p:nvPr/>
        </p:nvSpPr>
        <p:spPr>
          <a:xfrm>
            <a:off x="685800" y="6144768"/>
            <a:ext cx="1060704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9093"/>
              </a:buClr>
              <a:buSzPts val="730"/>
              <a:buFont typeface="Montserrat"/>
              <a:buNone/>
            </a:pPr>
            <a:r>
              <a:rPr b="0" i="0" lang="en-US" sz="930" u="none" cap="none" strike="noStrike">
                <a:solidFill>
                  <a:srgbClr val="8B9093"/>
                </a:solidFill>
                <a:latin typeface="Montserrat"/>
                <a:ea typeface="Montserrat"/>
                <a:cs typeface="Montserrat"/>
                <a:sym typeface="Montserrat"/>
              </a:rPr>
              <a:t>Источник данных: СберИндекс. Лицензия набора данных – CC BY-SA 4.0.</a:t>
            </a:r>
            <a:endParaRPr b="0" i="0" sz="93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1" name="Google Shape;131;p6"/>
          <p:cNvSpPr txBox="1"/>
          <p:nvPr>
            <p:ph idx="4294967295" type="sldNum"/>
          </p:nvPr>
        </p:nvSpPr>
        <p:spPr>
          <a:xfrm>
            <a:off x="11686032" y="6528816"/>
            <a:ext cx="8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</a:pPr>
            <a:fld id="{00000000-1234-1234-1234-123412341234}" type="slidenum">
              <a:rPr b="0" i="0" lang="en-US" sz="700" u="none" cap="none" strike="noStrike">
                <a:solidFill>
                  <a:srgbClr val="9A9EA2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0" i="0" sz="700" u="none" cap="none" strike="noStrike">
              <a:solidFill>
                <a:srgbClr val="9A9EA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"/>
          <p:cNvSpPr/>
          <p:nvPr/>
        </p:nvSpPr>
        <p:spPr>
          <a:xfrm>
            <a:off x="658378" y="429775"/>
            <a:ext cx="110277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2500"/>
              <a:buFont typeface="Montserrat"/>
              <a:buNone/>
            </a:pPr>
            <a:r>
              <a:rPr b="1" i="0" lang="en-US" sz="41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Как строится экономическая сеть</a:t>
            </a:r>
            <a:endParaRPr b="0" i="0" sz="41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8" name="Google Shape;138;p7"/>
          <p:cNvSpPr/>
          <p:nvPr/>
        </p:nvSpPr>
        <p:spPr>
          <a:xfrm>
            <a:off x="685800" y="978408"/>
            <a:ext cx="9784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1050"/>
              <a:buFont typeface="Montserrat"/>
              <a:buNone/>
            </a:pPr>
            <a:r>
              <a:rPr b="0" i="0" lang="en-US" sz="185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Один и тот же принцип применяется для каждого месяца</a:t>
            </a:r>
            <a:endParaRPr b="0" i="0" sz="185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9" name="Google Shape;139;p7"/>
          <p:cNvSpPr/>
          <p:nvPr/>
        </p:nvSpPr>
        <p:spPr>
          <a:xfrm>
            <a:off x="685800" y="1508760"/>
            <a:ext cx="1874520" cy="2761488"/>
          </a:xfrm>
          <a:prstGeom prst="roundRect">
            <a:avLst>
              <a:gd fmla="val 3902" name="adj"/>
            </a:avLst>
          </a:prstGeom>
          <a:solidFill>
            <a:srgbClr val="FBFAF8"/>
          </a:solidFill>
          <a:ln cap="flat" cmpd="sng" w="10150">
            <a:solidFill>
              <a:srgbClr val="E1D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7"/>
          <p:cNvSpPr/>
          <p:nvPr/>
        </p:nvSpPr>
        <p:spPr>
          <a:xfrm>
            <a:off x="1380744" y="1773936"/>
            <a:ext cx="512064" cy="512064"/>
          </a:xfrm>
          <a:prstGeom prst="ellipse">
            <a:avLst/>
          </a:prstGeom>
          <a:solidFill>
            <a:srgbClr val="AFC7D8"/>
          </a:solidFill>
          <a:ln cap="flat" cmpd="sng" w="10150">
            <a:solidFill>
              <a:srgbClr val="AFC7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7"/>
          <p:cNvSpPr/>
          <p:nvPr/>
        </p:nvSpPr>
        <p:spPr>
          <a:xfrm>
            <a:off x="1380769" y="1938521"/>
            <a:ext cx="5121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000"/>
              <a:buFont typeface="Montserrat"/>
              <a:buNone/>
            </a:pPr>
            <a:r>
              <a:rPr b="1" i="0" lang="en-US" sz="16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b="0" i="0" sz="16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2" name="Google Shape;142;p7"/>
          <p:cNvSpPr/>
          <p:nvPr/>
        </p:nvSpPr>
        <p:spPr>
          <a:xfrm>
            <a:off x="868680" y="2487168"/>
            <a:ext cx="1508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350"/>
              <a:buFont typeface="Montserrat"/>
              <a:buNone/>
            </a:pPr>
            <a:r>
              <a:rPr b="1" i="0" lang="en-US" sz="175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Вектор</a:t>
            </a:r>
            <a:endParaRPr b="0" i="0" sz="175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3" name="Google Shape;143;p7"/>
          <p:cNvSpPr/>
          <p:nvPr/>
        </p:nvSpPr>
        <p:spPr>
          <a:xfrm>
            <a:off x="850392" y="2990088"/>
            <a:ext cx="1536192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1140"/>
              <a:buFont typeface="Montserrat"/>
              <a:buNone/>
            </a:pPr>
            <a:r>
              <a:rPr b="0" i="0" lang="en-US" sz="144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5 долей</a:t>
            </a:r>
            <a:endParaRPr b="0" i="0" sz="144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1140"/>
              <a:buFont typeface="Montserrat"/>
              <a:buNone/>
            </a:pPr>
            <a:r>
              <a:rPr b="0" i="0" lang="en-US" sz="144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потребления</a:t>
            </a:r>
            <a:endParaRPr b="0" i="0" sz="144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4" name="Google Shape;144;p7"/>
          <p:cNvSpPr/>
          <p:nvPr/>
        </p:nvSpPr>
        <p:spPr>
          <a:xfrm>
            <a:off x="2660904" y="2743200"/>
            <a:ext cx="237744" cy="384048"/>
          </a:xfrm>
          <a:prstGeom prst="chevron">
            <a:avLst>
              <a:gd fmla="val 50000" name="adj"/>
            </a:avLst>
          </a:prstGeom>
          <a:solidFill>
            <a:srgbClr val="D2CEC5"/>
          </a:solidFill>
          <a:ln cap="flat" cmpd="sng" w="12700">
            <a:solidFill>
              <a:srgbClr val="D2CE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7"/>
          <p:cNvSpPr/>
          <p:nvPr/>
        </p:nvSpPr>
        <p:spPr>
          <a:xfrm>
            <a:off x="2999232" y="1508760"/>
            <a:ext cx="1874520" cy="2761488"/>
          </a:xfrm>
          <a:prstGeom prst="roundRect">
            <a:avLst>
              <a:gd fmla="val 3902" name="adj"/>
            </a:avLst>
          </a:prstGeom>
          <a:solidFill>
            <a:srgbClr val="FBFAF8"/>
          </a:solidFill>
          <a:ln cap="flat" cmpd="sng" w="10150">
            <a:solidFill>
              <a:srgbClr val="E1D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7"/>
          <p:cNvSpPr/>
          <p:nvPr/>
        </p:nvSpPr>
        <p:spPr>
          <a:xfrm>
            <a:off x="3694176" y="1773936"/>
            <a:ext cx="512064" cy="512064"/>
          </a:xfrm>
          <a:prstGeom prst="ellipse">
            <a:avLst/>
          </a:prstGeom>
          <a:solidFill>
            <a:srgbClr val="BFD2C4"/>
          </a:solidFill>
          <a:ln cap="flat" cmpd="sng" w="10150">
            <a:solidFill>
              <a:srgbClr val="BFD2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7"/>
          <p:cNvSpPr/>
          <p:nvPr/>
        </p:nvSpPr>
        <p:spPr>
          <a:xfrm>
            <a:off x="3694189" y="1938458"/>
            <a:ext cx="5121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000"/>
              <a:buFont typeface="Montserrat"/>
              <a:buNone/>
            </a:pPr>
            <a:r>
              <a:rPr b="1" i="0" lang="en-US" sz="16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b="0" i="0" sz="16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8" name="Google Shape;148;p7"/>
          <p:cNvSpPr/>
          <p:nvPr/>
        </p:nvSpPr>
        <p:spPr>
          <a:xfrm>
            <a:off x="3182112" y="2487168"/>
            <a:ext cx="1508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350"/>
              <a:buFont typeface="Montserrat"/>
              <a:buNone/>
            </a:pPr>
            <a:r>
              <a:rPr b="1" i="0" lang="en-US" sz="175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Расстояние</a:t>
            </a:r>
            <a:endParaRPr b="0" i="0" sz="175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9" name="Google Shape;149;p7"/>
          <p:cNvSpPr/>
          <p:nvPr/>
        </p:nvSpPr>
        <p:spPr>
          <a:xfrm>
            <a:off x="3163824" y="2990088"/>
            <a:ext cx="1536192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1140"/>
              <a:buFont typeface="Montserrat"/>
              <a:buNone/>
            </a:pPr>
            <a:r>
              <a:rPr b="0" i="0" lang="en-US" sz="144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Euclidean</a:t>
            </a:r>
            <a:endParaRPr b="0" i="0" sz="144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1140"/>
              <a:buFont typeface="Montserrat"/>
              <a:buNone/>
            </a:pPr>
            <a:r>
              <a:rPr b="0" i="0" lang="en-US" sz="144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между профилями</a:t>
            </a:r>
            <a:endParaRPr b="0" i="0" sz="144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50" name="Google Shape;150;p7"/>
          <p:cNvSpPr/>
          <p:nvPr/>
        </p:nvSpPr>
        <p:spPr>
          <a:xfrm>
            <a:off x="4974336" y="2743200"/>
            <a:ext cx="237744" cy="384048"/>
          </a:xfrm>
          <a:prstGeom prst="chevron">
            <a:avLst>
              <a:gd fmla="val 50000" name="adj"/>
            </a:avLst>
          </a:prstGeom>
          <a:solidFill>
            <a:srgbClr val="D2CEC5"/>
          </a:solidFill>
          <a:ln cap="flat" cmpd="sng" w="12700">
            <a:solidFill>
              <a:srgbClr val="D2CE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7"/>
          <p:cNvSpPr/>
          <p:nvPr/>
        </p:nvSpPr>
        <p:spPr>
          <a:xfrm>
            <a:off x="5312664" y="1508760"/>
            <a:ext cx="1874520" cy="2761488"/>
          </a:xfrm>
          <a:prstGeom prst="roundRect">
            <a:avLst>
              <a:gd fmla="val 3902" name="adj"/>
            </a:avLst>
          </a:prstGeom>
          <a:solidFill>
            <a:srgbClr val="FBFAF8"/>
          </a:solidFill>
          <a:ln cap="flat" cmpd="sng" w="10150">
            <a:solidFill>
              <a:srgbClr val="E1D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6007608" y="1773936"/>
            <a:ext cx="512064" cy="512064"/>
          </a:xfrm>
          <a:prstGeom prst="ellipse">
            <a:avLst/>
          </a:prstGeom>
          <a:solidFill>
            <a:srgbClr val="E4C4B8"/>
          </a:solidFill>
          <a:ln cap="flat" cmpd="sng" w="10150">
            <a:solidFill>
              <a:srgbClr val="E4C4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7"/>
          <p:cNvSpPr/>
          <p:nvPr/>
        </p:nvSpPr>
        <p:spPr>
          <a:xfrm>
            <a:off x="6007633" y="1938533"/>
            <a:ext cx="5121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000"/>
              <a:buFont typeface="Montserrat"/>
              <a:buNone/>
            </a:pPr>
            <a:r>
              <a:rPr b="1" i="0" lang="en-US" sz="16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r>
            <a:endParaRPr b="0" i="0" sz="16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5495544" y="2487168"/>
            <a:ext cx="1508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350"/>
              <a:buFont typeface="Montserrat"/>
              <a:buNone/>
            </a:pPr>
            <a:r>
              <a:rPr b="1" i="0" lang="en-US" sz="175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kNN</a:t>
            </a:r>
            <a:endParaRPr b="0" i="0" sz="175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55" name="Google Shape;155;p7"/>
          <p:cNvSpPr/>
          <p:nvPr/>
        </p:nvSpPr>
        <p:spPr>
          <a:xfrm>
            <a:off x="5477256" y="2990088"/>
            <a:ext cx="1536192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1140"/>
              <a:buFont typeface="Montserrat"/>
              <a:buNone/>
            </a:pPr>
            <a:r>
              <a:rPr b="0" i="0" lang="en-US" sz="144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10 ближайших</a:t>
            </a:r>
            <a:endParaRPr b="0" i="0" sz="144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1140"/>
              <a:buFont typeface="Montserrat"/>
              <a:buNone/>
            </a:pPr>
            <a:r>
              <a:rPr b="0" i="0" lang="en-US" sz="144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соседей</a:t>
            </a:r>
            <a:endParaRPr b="0" i="0" sz="144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56" name="Google Shape;156;p7"/>
          <p:cNvSpPr/>
          <p:nvPr/>
        </p:nvSpPr>
        <p:spPr>
          <a:xfrm>
            <a:off x="7287768" y="2743200"/>
            <a:ext cx="237744" cy="384048"/>
          </a:xfrm>
          <a:prstGeom prst="chevron">
            <a:avLst>
              <a:gd fmla="val 50000" name="adj"/>
            </a:avLst>
          </a:prstGeom>
          <a:solidFill>
            <a:srgbClr val="D2CEC5"/>
          </a:solidFill>
          <a:ln cap="flat" cmpd="sng" w="12700">
            <a:solidFill>
              <a:srgbClr val="D2CE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7"/>
          <p:cNvSpPr/>
          <p:nvPr/>
        </p:nvSpPr>
        <p:spPr>
          <a:xfrm>
            <a:off x="7626096" y="1508760"/>
            <a:ext cx="1874520" cy="2761488"/>
          </a:xfrm>
          <a:prstGeom prst="roundRect">
            <a:avLst>
              <a:gd fmla="val 3902" name="adj"/>
            </a:avLst>
          </a:prstGeom>
          <a:solidFill>
            <a:srgbClr val="FBFAF8"/>
          </a:solidFill>
          <a:ln cap="flat" cmpd="sng" w="10150">
            <a:solidFill>
              <a:srgbClr val="E1D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7"/>
          <p:cNvSpPr/>
          <p:nvPr/>
        </p:nvSpPr>
        <p:spPr>
          <a:xfrm>
            <a:off x="8321040" y="1773936"/>
            <a:ext cx="512064" cy="512064"/>
          </a:xfrm>
          <a:prstGeom prst="ellipse">
            <a:avLst/>
          </a:prstGeom>
          <a:solidFill>
            <a:srgbClr val="C9C5E1"/>
          </a:solidFill>
          <a:ln cap="flat" cmpd="sng" w="10150">
            <a:solidFill>
              <a:srgbClr val="C9C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7"/>
          <p:cNvSpPr/>
          <p:nvPr/>
        </p:nvSpPr>
        <p:spPr>
          <a:xfrm>
            <a:off x="8321040" y="1938583"/>
            <a:ext cx="5121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000"/>
              <a:buFont typeface="Montserrat"/>
              <a:buNone/>
            </a:pPr>
            <a:r>
              <a:rPr b="1" i="0" lang="en-US" sz="16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4</a:t>
            </a:r>
            <a:endParaRPr b="0" i="0" sz="16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7808976" y="2487168"/>
            <a:ext cx="1508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350"/>
              <a:buFont typeface="Montserrat"/>
              <a:buNone/>
            </a:pPr>
            <a:r>
              <a:rPr b="1" i="0" lang="en-US" sz="175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RBF-вес</a:t>
            </a:r>
            <a:endParaRPr b="0" i="0" sz="175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61" name="Google Shape;161;p7"/>
          <p:cNvSpPr/>
          <p:nvPr/>
        </p:nvSpPr>
        <p:spPr>
          <a:xfrm>
            <a:off x="7790688" y="2990088"/>
            <a:ext cx="1536192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1140"/>
              <a:buFont typeface="Montserrat"/>
              <a:buNone/>
            </a:pPr>
            <a:r>
              <a:rPr b="0" i="0" lang="en-US" sz="144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w = exp(-d/σ)</a:t>
            </a:r>
            <a:endParaRPr b="0" i="0" sz="144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62" name="Google Shape;162;p7"/>
          <p:cNvSpPr/>
          <p:nvPr/>
        </p:nvSpPr>
        <p:spPr>
          <a:xfrm>
            <a:off x="7758756" y="3772067"/>
            <a:ext cx="16092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760"/>
              <a:buFont typeface="Montserrat"/>
              <a:buNone/>
            </a:pPr>
            <a:r>
              <a:rPr b="0" i="0" lang="en-US" sz="96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σ — медиана соседских</a:t>
            </a:r>
            <a:endParaRPr b="0" i="0" sz="96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760"/>
              <a:buFont typeface="Montserrat"/>
              <a:buNone/>
            </a:pPr>
            <a:r>
              <a:rPr b="0" i="0" lang="en-US" sz="96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расстояний за месяц</a:t>
            </a:r>
            <a:endParaRPr b="0" i="0" sz="96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63" name="Google Shape;163;p7"/>
          <p:cNvSpPr/>
          <p:nvPr/>
        </p:nvSpPr>
        <p:spPr>
          <a:xfrm>
            <a:off x="9601200" y="2743200"/>
            <a:ext cx="237744" cy="384048"/>
          </a:xfrm>
          <a:prstGeom prst="chevron">
            <a:avLst>
              <a:gd fmla="val 50000" name="adj"/>
            </a:avLst>
          </a:prstGeom>
          <a:solidFill>
            <a:srgbClr val="D2CEC5"/>
          </a:solidFill>
          <a:ln cap="flat" cmpd="sng" w="12700">
            <a:solidFill>
              <a:srgbClr val="D2CE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7"/>
          <p:cNvSpPr/>
          <p:nvPr/>
        </p:nvSpPr>
        <p:spPr>
          <a:xfrm>
            <a:off x="9939528" y="1508760"/>
            <a:ext cx="1874520" cy="2761488"/>
          </a:xfrm>
          <a:prstGeom prst="roundRect">
            <a:avLst>
              <a:gd fmla="val 3902" name="adj"/>
            </a:avLst>
          </a:prstGeom>
          <a:solidFill>
            <a:srgbClr val="FBFAF8"/>
          </a:solidFill>
          <a:ln cap="flat" cmpd="sng" w="10150">
            <a:solidFill>
              <a:srgbClr val="E1D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10634472" y="1773936"/>
            <a:ext cx="512064" cy="512064"/>
          </a:xfrm>
          <a:prstGeom prst="ellipse">
            <a:avLst/>
          </a:prstGeom>
          <a:solidFill>
            <a:srgbClr val="E8D9B5"/>
          </a:solidFill>
          <a:ln cap="flat" cmpd="sng" w="10150">
            <a:solidFill>
              <a:srgbClr val="E8D9B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7"/>
          <p:cNvSpPr/>
          <p:nvPr/>
        </p:nvSpPr>
        <p:spPr>
          <a:xfrm>
            <a:off x="10757911" y="1938450"/>
            <a:ext cx="2652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000"/>
              <a:buFont typeface="Montserrat"/>
              <a:buNone/>
            </a:pPr>
            <a:r>
              <a:rPr b="1" i="0" lang="en-US" sz="16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endParaRPr b="0" i="0" sz="16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67" name="Google Shape;167;p7"/>
          <p:cNvSpPr/>
          <p:nvPr/>
        </p:nvSpPr>
        <p:spPr>
          <a:xfrm>
            <a:off x="10122408" y="2487168"/>
            <a:ext cx="1508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350"/>
              <a:buFont typeface="Montserrat"/>
              <a:buNone/>
            </a:pPr>
            <a:r>
              <a:rPr b="1" i="0" lang="en-US" sz="175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Louvain</a:t>
            </a:r>
            <a:endParaRPr b="0" i="0" sz="175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68" name="Google Shape;168;p7"/>
          <p:cNvSpPr/>
          <p:nvPr/>
        </p:nvSpPr>
        <p:spPr>
          <a:xfrm>
            <a:off x="10104120" y="2990088"/>
            <a:ext cx="1536192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1140"/>
              <a:buFont typeface="Montserrat"/>
              <a:buNone/>
            </a:pPr>
            <a:r>
              <a:rPr b="0" i="0" lang="en-US" sz="144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сообщества</a:t>
            </a:r>
            <a:endParaRPr b="0" i="0" sz="144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1140"/>
              <a:buFont typeface="Montserrat"/>
              <a:buNone/>
            </a:pPr>
            <a:r>
              <a:rPr b="0" i="0" lang="en-US" sz="144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в графе</a:t>
            </a:r>
            <a:endParaRPr b="0" i="0" sz="144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69" name="Google Shape;169;p7"/>
          <p:cNvSpPr/>
          <p:nvPr/>
        </p:nvSpPr>
        <p:spPr>
          <a:xfrm>
            <a:off x="685797" y="5087750"/>
            <a:ext cx="19476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000"/>
              <a:buFont typeface="Montserrat"/>
              <a:buNone/>
            </a:pPr>
            <a:r>
              <a:rPr b="1" i="0" lang="en-US" sz="30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Почему kNN?</a:t>
            </a:r>
            <a:endParaRPr b="0" i="0" sz="30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70" name="Google Shape;170;p7"/>
          <p:cNvSpPr/>
          <p:nvPr/>
        </p:nvSpPr>
        <p:spPr>
          <a:xfrm>
            <a:off x="2532900" y="5087750"/>
            <a:ext cx="83394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1020"/>
              <a:buFont typeface="Montserrat"/>
              <a:buNone/>
            </a:pPr>
            <a:r>
              <a:rPr b="0" i="0" lang="en-US" sz="192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Сеть остается разреженной и интерпретируемой: каждый муниципалитет соединен только с ближайшими экономическими профилями.</a:t>
            </a:r>
            <a:endParaRPr b="0" i="0" sz="192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71" name="Google Shape;171;p7"/>
          <p:cNvSpPr txBox="1"/>
          <p:nvPr>
            <p:ph idx="4294967295" type="sldNum"/>
          </p:nvPr>
        </p:nvSpPr>
        <p:spPr>
          <a:xfrm>
            <a:off x="11686032" y="6528816"/>
            <a:ext cx="8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</a:pPr>
            <a:fld id="{00000000-1234-1234-1234-123412341234}" type="slidenum">
              <a:rPr b="0" i="0" lang="en-US" sz="700" u="none" cap="none" strike="noStrike">
                <a:solidFill>
                  <a:srgbClr val="9A9EA2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0" i="0" sz="700" u="none" cap="none" strike="noStrike">
              <a:solidFill>
                <a:srgbClr val="9A9EA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8"/>
          <p:cNvSpPr/>
          <p:nvPr/>
        </p:nvSpPr>
        <p:spPr>
          <a:xfrm>
            <a:off x="658368" y="429768"/>
            <a:ext cx="81381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2500"/>
              <a:buFont typeface="Montserrat"/>
              <a:buNone/>
            </a:pPr>
            <a:r>
              <a:rPr b="1" i="0" lang="en-US" sz="41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Динамическая часть</a:t>
            </a:r>
            <a:endParaRPr b="0" i="0" sz="41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78" name="Google Shape;178;p8"/>
          <p:cNvSpPr/>
          <p:nvPr/>
        </p:nvSpPr>
        <p:spPr>
          <a:xfrm>
            <a:off x="685800" y="978408"/>
            <a:ext cx="9784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1050"/>
              <a:buFont typeface="Montserrat"/>
              <a:buNone/>
            </a:pPr>
            <a:r>
              <a:rPr b="0" i="0" lang="en-US" sz="185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Почему месячные кластеры нельзя просто «склеить» по номеру</a:t>
            </a:r>
            <a:endParaRPr b="0" i="0" sz="185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179" name="Google Shape;179;p8"/>
          <p:cNvCxnSpPr/>
          <p:nvPr/>
        </p:nvCxnSpPr>
        <p:spPr>
          <a:xfrm>
            <a:off x="914400" y="1920240"/>
            <a:ext cx="10378440" cy="0"/>
          </a:xfrm>
          <a:prstGeom prst="straightConnector1">
            <a:avLst/>
          </a:prstGeom>
          <a:noFill/>
          <a:ln cap="flat" cmpd="sng" w="19050">
            <a:solidFill>
              <a:srgbClr val="C9C5B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0" name="Google Shape;180;p8"/>
          <p:cNvSpPr/>
          <p:nvPr/>
        </p:nvSpPr>
        <p:spPr>
          <a:xfrm>
            <a:off x="841248" y="1847088"/>
            <a:ext cx="146304" cy="146304"/>
          </a:xfrm>
          <a:prstGeom prst="ellipse">
            <a:avLst/>
          </a:prstGeom>
          <a:solidFill>
            <a:srgbClr val="AFC7D8"/>
          </a:solidFill>
          <a:ln cap="flat" cmpd="sng" w="10150">
            <a:solidFill>
              <a:srgbClr val="AFC7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8"/>
          <p:cNvSpPr/>
          <p:nvPr/>
        </p:nvSpPr>
        <p:spPr>
          <a:xfrm>
            <a:off x="594360" y="2057400"/>
            <a:ext cx="65836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750"/>
              <a:buFont typeface="Montserrat"/>
              <a:buNone/>
            </a:pPr>
            <a:r>
              <a:rPr b="0" i="0" lang="en-US" sz="130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01.2023</a:t>
            </a:r>
            <a:endParaRPr b="0" i="0" sz="13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2" name="Google Shape;182;p8"/>
          <p:cNvSpPr/>
          <p:nvPr/>
        </p:nvSpPr>
        <p:spPr>
          <a:xfrm>
            <a:off x="2605583" y="1847088"/>
            <a:ext cx="146304" cy="146304"/>
          </a:xfrm>
          <a:prstGeom prst="ellipse">
            <a:avLst/>
          </a:prstGeom>
          <a:solidFill>
            <a:srgbClr val="AFC7D8"/>
          </a:solidFill>
          <a:ln cap="flat" cmpd="sng" w="10150">
            <a:solidFill>
              <a:srgbClr val="AFC7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8"/>
          <p:cNvSpPr/>
          <p:nvPr/>
        </p:nvSpPr>
        <p:spPr>
          <a:xfrm>
            <a:off x="2358695" y="2057400"/>
            <a:ext cx="6585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750"/>
              <a:buFont typeface="Montserrat"/>
              <a:buNone/>
            </a:pPr>
            <a:r>
              <a:rPr b="0" i="0" lang="en-US" sz="130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04.2023</a:t>
            </a:r>
            <a:endParaRPr b="0" i="0" sz="13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4" name="Google Shape;184;p8"/>
          <p:cNvSpPr/>
          <p:nvPr/>
        </p:nvSpPr>
        <p:spPr>
          <a:xfrm>
            <a:off x="4369918" y="1847088"/>
            <a:ext cx="146304" cy="146304"/>
          </a:xfrm>
          <a:prstGeom prst="ellipse">
            <a:avLst/>
          </a:prstGeom>
          <a:solidFill>
            <a:srgbClr val="AFC7D8"/>
          </a:solidFill>
          <a:ln cap="flat" cmpd="sng" w="10150">
            <a:solidFill>
              <a:srgbClr val="AFC7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8"/>
          <p:cNvSpPr/>
          <p:nvPr/>
        </p:nvSpPr>
        <p:spPr>
          <a:xfrm>
            <a:off x="4123030" y="2057400"/>
            <a:ext cx="6585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750"/>
              <a:buFont typeface="Montserrat"/>
              <a:buNone/>
            </a:pPr>
            <a:r>
              <a:rPr b="0" i="0" lang="en-US" sz="130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08.2023</a:t>
            </a:r>
            <a:endParaRPr b="0" i="0" sz="13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6" name="Google Shape;186;p8"/>
          <p:cNvSpPr/>
          <p:nvPr/>
        </p:nvSpPr>
        <p:spPr>
          <a:xfrm>
            <a:off x="6134252" y="1847088"/>
            <a:ext cx="146304" cy="146304"/>
          </a:xfrm>
          <a:prstGeom prst="ellipse">
            <a:avLst/>
          </a:prstGeom>
          <a:solidFill>
            <a:srgbClr val="AFC7D8"/>
          </a:solidFill>
          <a:ln cap="flat" cmpd="sng" w="10150">
            <a:solidFill>
              <a:srgbClr val="AFC7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8"/>
          <p:cNvSpPr/>
          <p:nvPr/>
        </p:nvSpPr>
        <p:spPr>
          <a:xfrm>
            <a:off x="5887364" y="2057400"/>
            <a:ext cx="65836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750"/>
              <a:buFont typeface="Montserrat"/>
              <a:buNone/>
            </a:pPr>
            <a:r>
              <a:rPr b="0" i="0" lang="en-US" sz="130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12.2023</a:t>
            </a:r>
            <a:endParaRPr b="0" i="0" sz="13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8" name="Google Shape;188;p8"/>
          <p:cNvSpPr/>
          <p:nvPr/>
        </p:nvSpPr>
        <p:spPr>
          <a:xfrm>
            <a:off x="7898587" y="1847088"/>
            <a:ext cx="146304" cy="146304"/>
          </a:xfrm>
          <a:prstGeom prst="ellipse">
            <a:avLst/>
          </a:prstGeom>
          <a:solidFill>
            <a:srgbClr val="AFC7D8"/>
          </a:solidFill>
          <a:ln cap="flat" cmpd="sng" w="10150">
            <a:solidFill>
              <a:srgbClr val="AFC7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8"/>
          <p:cNvSpPr/>
          <p:nvPr/>
        </p:nvSpPr>
        <p:spPr>
          <a:xfrm>
            <a:off x="7628388" y="2057350"/>
            <a:ext cx="6867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750"/>
              <a:buFont typeface="Montserrat"/>
              <a:buNone/>
            </a:pPr>
            <a:r>
              <a:rPr b="0" i="0" lang="en-US" sz="130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04.2024</a:t>
            </a:r>
            <a:endParaRPr b="0" i="0" sz="13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90" name="Google Shape;190;p8"/>
          <p:cNvSpPr/>
          <p:nvPr/>
        </p:nvSpPr>
        <p:spPr>
          <a:xfrm>
            <a:off x="9662922" y="1847088"/>
            <a:ext cx="146304" cy="146304"/>
          </a:xfrm>
          <a:prstGeom prst="ellipse">
            <a:avLst/>
          </a:prstGeom>
          <a:solidFill>
            <a:srgbClr val="AFC7D8"/>
          </a:solidFill>
          <a:ln cap="flat" cmpd="sng" w="10150">
            <a:solidFill>
              <a:srgbClr val="AFC7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8"/>
          <p:cNvSpPr/>
          <p:nvPr/>
        </p:nvSpPr>
        <p:spPr>
          <a:xfrm>
            <a:off x="9416034" y="2057400"/>
            <a:ext cx="65836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750"/>
              <a:buFont typeface="Montserrat"/>
              <a:buNone/>
            </a:pPr>
            <a:r>
              <a:rPr b="0" i="0" lang="en-US" sz="130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08.2024</a:t>
            </a:r>
            <a:endParaRPr b="0" i="0" sz="13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92" name="Google Shape;192;p8"/>
          <p:cNvSpPr/>
          <p:nvPr/>
        </p:nvSpPr>
        <p:spPr>
          <a:xfrm>
            <a:off x="11219688" y="1847088"/>
            <a:ext cx="146304" cy="146304"/>
          </a:xfrm>
          <a:prstGeom prst="ellipse">
            <a:avLst/>
          </a:prstGeom>
          <a:solidFill>
            <a:srgbClr val="E4C4B8"/>
          </a:solidFill>
          <a:ln cap="flat" cmpd="sng" w="10150">
            <a:solidFill>
              <a:srgbClr val="E4C4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8"/>
          <p:cNvSpPr/>
          <p:nvPr/>
        </p:nvSpPr>
        <p:spPr>
          <a:xfrm>
            <a:off x="10972800" y="2057400"/>
            <a:ext cx="65836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750"/>
              <a:buFont typeface="Montserrat"/>
              <a:buNone/>
            </a:pPr>
            <a:r>
              <a:rPr b="0" i="0" lang="en-US" sz="130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12.2024</a:t>
            </a:r>
            <a:endParaRPr b="0" i="0" sz="13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94" name="Google Shape;194;p8"/>
          <p:cNvSpPr/>
          <p:nvPr/>
        </p:nvSpPr>
        <p:spPr>
          <a:xfrm>
            <a:off x="713232" y="2606040"/>
            <a:ext cx="3218688" cy="2057400"/>
          </a:xfrm>
          <a:prstGeom prst="roundRect">
            <a:avLst>
              <a:gd fmla="val 3556" name="adj"/>
            </a:avLst>
          </a:prstGeom>
          <a:solidFill>
            <a:srgbClr val="FBFAF8"/>
          </a:solidFill>
          <a:ln cap="flat" cmpd="sng" w="10150">
            <a:solidFill>
              <a:srgbClr val="E1D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8"/>
          <p:cNvSpPr/>
          <p:nvPr/>
        </p:nvSpPr>
        <p:spPr>
          <a:xfrm>
            <a:off x="960125" y="2907796"/>
            <a:ext cx="24690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400"/>
              <a:buFont typeface="Montserrat"/>
              <a:buNone/>
            </a:pPr>
            <a:r>
              <a:rPr b="1" i="0" lang="en-US" sz="20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1 / Ежемесячная сеть</a:t>
            </a:r>
            <a:endParaRPr b="0" i="0" sz="20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96" name="Google Shape;196;p8"/>
          <p:cNvSpPr/>
          <p:nvPr/>
        </p:nvSpPr>
        <p:spPr>
          <a:xfrm>
            <a:off x="960125" y="3596000"/>
            <a:ext cx="2743200" cy="67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1150"/>
              <a:buFont typeface="Montserrat"/>
              <a:buNone/>
            </a:pPr>
            <a:r>
              <a:rPr b="0" i="0" lang="en-US" sz="145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24 графа строятся независимо</a:t>
            </a:r>
            <a:endParaRPr b="0" i="0" sz="145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1150"/>
              <a:buFont typeface="Montserrat"/>
              <a:buNone/>
            </a:pPr>
            <a:r>
              <a:rPr b="0" i="0" lang="en-US" sz="145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для месяцев 2023-2024.</a:t>
            </a:r>
            <a:endParaRPr b="0" i="0" sz="145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97" name="Google Shape;197;p8"/>
          <p:cNvSpPr/>
          <p:nvPr/>
        </p:nvSpPr>
        <p:spPr>
          <a:xfrm>
            <a:off x="4133088" y="2606040"/>
            <a:ext cx="3218688" cy="2057400"/>
          </a:xfrm>
          <a:prstGeom prst="roundRect">
            <a:avLst>
              <a:gd fmla="val 3556" name="adj"/>
            </a:avLst>
          </a:prstGeom>
          <a:solidFill>
            <a:srgbClr val="F3F6F2"/>
          </a:solidFill>
          <a:ln cap="flat" cmpd="sng" w="10150">
            <a:solidFill>
              <a:srgbClr val="E1D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8"/>
          <p:cNvSpPr/>
          <p:nvPr/>
        </p:nvSpPr>
        <p:spPr>
          <a:xfrm>
            <a:off x="4389175" y="2903286"/>
            <a:ext cx="25602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400"/>
              <a:buFont typeface="Montserrat"/>
              <a:buNone/>
            </a:pPr>
            <a:r>
              <a:rPr b="1" i="0" lang="en-US" sz="20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2 / Локальные сообщества</a:t>
            </a:r>
            <a:endParaRPr b="0" i="0" sz="20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99" name="Google Shape;199;p8"/>
          <p:cNvSpPr/>
          <p:nvPr/>
        </p:nvSpPr>
        <p:spPr>
          <a:xfrm>
            <a:off x="4366226" y="3639419"/>
            <a:ext cx="26061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1150"/>
              <a:buFont typeface="Montserrat"/>
              <a:buNone/>
            </a:pPr>
            <a:r>
              <a:rPr b="0" i="0" lang="en-US" sz="145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Номера Louvain-кластеров</a:t>
            </a:r>
            <a:endParaRPr b="0" i="0" sz="145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1150"/>
              <a:buFont typeface="Montserrat"/>
              <a:buNone/>
            </a:pPr>
            <a:r>
              <a:rPr b="0" i="0" lang="en-US" sz="145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не являются постоянными типами.</a:t>
            </a:r>
            <a:endParaRPr b="0" i="0" sz="145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00" name="Google Shape;200;p8"/>
          <p:cNvSpPr/>
          <p:nvPr/>
        </p:nvSpPr>
        <p:spPr>
          <a:xfrm>
            <a:off x="7552944" y="2606040"/>
            <a:ext cx="3913632" cy="2057400"/>
          </a:xfrm>
          <a:prstGeom prst="roundRect">
            <a:avLst>
              <a:gd fmla="val 3556" name="adj"/>
            </a:avLst>
          </a:prstGeom>
          <a:solidFill>
            <a:srgbClr val="F7F1F2"/>
          </a:solidFill>
          <a:ln cap="flat" cmpd="sng" w="10150">
            <a:solidFill>
              <a:srgbClr val="E1D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8"/>
          <p:cNvSpPr/>
          <p:nvPr/>
        </p:nvSpPr>
        <p:spPr>
          <a:xfrm>
            <a:off x="7781550" y="2857849"/>
            <a:ext cx="2331600" cy="60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400"/>
              <a:buFont typeface="Montserrat"/>
              <a:buNone/>
            </a:pPr>
            <a:r>
              <a:rPr b="1" i="0" lang="en-US" sz="20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3 / Устойчивые типы</a:t>
            </a:r>
            <a:endParaRPr b="0" i="0" sz="20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02" name="Google Shape;202;p8"/>
          <p:cNvSpPr/>
          <p:nvPr/>
        </p:nvSpPr>
        <p:spPr>
          <a:xfrm>
            <a:off x="7781551" y="3595994"/>
            <a:ext cx="31548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1150"/>
              <a:buFont typeface="Montserrat"/>
              <a:buNone/>
            </a:pPr>
            <a:r>
              <a:rPr b="0" i="0" lang="en-US" sz="145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Профили месячных кластеров</a:t>
            </a:r>
            <a:endParaRPr b="0" i="0" sz="145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1150"/>
              <a:buFont typeface="Montserrat"/>
              <a:buNone/>
            </a:pPr>
            <a:r>
              <a:rPr b="0" i="0" lang="en-US" sz="145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объединяются в K = 3 экономических типа.</a:t>
            </a:r>
            <a:endParaRPr b="0" i="0" sz="145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03" name="Google Shape;203;p8"/>
          <p:cNvSpPr/>
          <p:nvPr/>
        </p:nvSpPr>
        <p:spPr>
          <a:xfrm>
            <a:off x="4188825" y="5083950"/>
            <a:ext cx="3856200" cy="310800"/>
          </a:xfrm>
          <a:prstGeom prst="roundRect">
            <a:avLst>
              <a:gd fmla="val 17647" name="adj"/>
            </a:avLst>
          </a:prstGeom>
          <a:solidFill>
            <a:srgbClr val="E8D9B5"/>
          </a:solidFill>
          <a:ln cap="flat" cmpd="sng" w="12700">
            <a:solidFill>
              <a:srgbClr val="E8D9B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8"/>
          <p:cNvSpPr/>
          <p:nvPr/>
        </p:nvSpPr>
        <p:spPr>
          <a:xfrm>
            <a:off x="3911996" y="5157050"/>
            <a:ext cx="43680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870"/>
              <a:buFont typeface="Montserrat"/>
              <a:buNone/>
            </a:pPr>
            <a:r>
              <a:rPr b="1" i="0" lang="en-US" sz="177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«номер 0» ≠ постоянный тип</a:t>
            </a:r>
            <a:endParaRPr b="0" i="0" sz="177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05" name="Google Shape;205;p8"/>
          <p:cNvSpPr/>
          <p:nvPr/>
        </p:nvSpPr>
        <p:spPr>
          <a:xfrm>
            <a:off x="914400" y="5649402"/>
            <a:ext cx="10241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939"/>
              <a:buFont typeface="Montserrat"/>
              <a:buNone/>
            </a:pPr>
            <a:r>
              <a:rPr b="0" i="0" lang="en-US" sz="154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Так сохраняется содержательный смысл динамики: </a:t>
            </a:r>
            <a:endParaRPr b="0" i="0" sz="1540" u="none" cap="none" strike="noStrike">
              <a:solidFill>
                <a:srgbClr val="70777C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939"/>
              <a:buFont typeface="Montserrat"/>
              <a:buNone/>
            </a:pPr>
            <a:r>
              <a:rPr b="0" i="0" lang="en-US" sz="154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мы отслеживаем изменение экономической структуры, а не идентификаторов кластеров.</a:t>
            </a:r>
            <a:endParaRPr b="0" i="0" sz="154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06" name="Google Shape;206;p8"/>
          <p:cNvSpPr txBox="1"/>
          <p:nvPr>
            <p:ph idx="4294967295" type="sldNum"/>
          </p:nvPr>
        </p:nvSpPr>
        <p:spPr>
          <a:xfrm>
            <a:off x="11686032" y="6528816"/>
            <a:ext cx="8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</a:pPr>
            <a:fld id="{00000000-1234-1234-1234-123412341234}" type="slidenum">
              <a:rPr b="0" i="0" lang="en-US" sz="700" u="none" cap="none" strike="noStrike">
                <a:solidFill>
                  <a:srgbClr val="9A9EA2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0" i="0" sz="700" u="none" cap="none" strike="noStrike">
              <a:solidFill>
                <a:srgbClr val="9A9EA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9"/>
          <p:cNvSpPr/>
          <p:nvPr/>
        </p:nvSpPr>
        <p:spPr>
          <a:xfrm>
            <a:off x="658377" y="429775"/>
            <a:ext cx="107808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2500"/>
              <a:buFont typeface="Montserrat"/>
              <a:buNone/>
            </a:pPr>
            <a:r>
              <a:rPr b="1" i="0" lang="en-US" sz="41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Как выбрали resolution = 1.25</a:t>
            </a:r>
            <a:endParaRPr b="0" i="0" sz="41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13" name="Google Shape;213;p9"/>
          <p:cNvSpPr/>
          <p:nvPr/>
        </p:nvSpPr>
        <p:spPr>
          <a:xfrm>
            <a:off x="685800" y="978400"/>
            <a:ext cx="11000100" cy="25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1050"/>
              <a:buFont typeface="Montserrat"/>
              <a:buNone/>
            </a:pPr>
            <a:r>
              <a:rPr b="0" i="0" lang="en-US" sz="185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Решение принято по совокупности сетевых, атрибутивных и устойчивостных проверок</a:t>
            </a:r>
            <a:endParaRPr b="0" i="0" sz="185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14" name="Google Shape;214;p9"/>
          <p:cNvSpPr/>
          <p:nvPr/>
        </p:nvSpPr>
        <p:spPr>
          <a:xfrm>
            <a:off x="685800" y="1773907"/>
            <a:ext cx="2834700" cy="3310200"/>
          </a:xfrm>
          <a:prstGeom prst="roundRect">
            <a:avLst>
              <a:gd fmla="val 2581" name="adj"/>
            </a:avLst>
          </a:prstGeom>
          <a:solidFill>
            <a:srgbClr val="FBFAF8"/>
          </a:solidFill>
          <a:ln cap="flat" cmpd="sng" w="10150">
            <a:solidFill>
              <a:srgbClr val="E1D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9"/>
          <p:cNvSpPr/>
          <p:nvPr/>
        </p:nvSpPr>
        <p:spPr>
          <a:xfrm>
            <a:off x="868655" y="1848475"/>
            <a:ext cx="24690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050"/>
              <a:buFont typeface="Montserrat"/>
              <a:buNone/>
            </a:pPr>
            <a:r>
              <a:rPr b="1" i="0" lang="en-US" sz="145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Modularity</a:t>
            </a:r>
            <a:endParaRPr b="0" i="0" sz="145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216" name="Google Shape;216;p9"/>
          <p:cNvCxnSpPr/>
          <p:nvPr/>
        </p:nvCxnSpPr>
        <p:spPr>
          <a:xfrm>
            <a:off x="1051560" y="4654268"/>
            <a:ext cx="2267700" cy="0"/>
          </a:xfrm>
          <a:prstGeom prst="straightConnector1">
            <a:avLst/>
          </a:prstGeom>
          <a:noFill/>
          <a:ln cap="flat" cmpd="sng" w="12700">
            <a:solidFill>
              <a:srgbClr val="BFC1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17" name="Google Shape;217;p9"/>
          <p:cNvCxnSpPr/>
          <p:nvPr/>
        </p:nvCxnSpPr>
        <p:spPr>
          <a:xfrm rot="10800000">
            <a:off x="1051560" y="2148668"/>
            <a:ext cx="0" cy="2505600"/>
          </a:xfrm>
          <a:prstGeom prst="straightConnector1">
            <a:avLst/>
          </a:prstGeom>
          <a:noFill/>
          <a:ln cap="flat" cmpd="sng" w="12700">
            <a:solidFill>
              <a:srgbClr val="BFC1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18" name="Google Shape;218;p9"/>
          <p:cNvCxnSpPr/>
          <p:nvPr/>
        </p:nvCxnSpPr>
        <p:spPr>
          <a:xfrm>
            <a:off x="1051560" y="4654268"/>
            <a:ext cx="2267700" cy="0"/>
          </a:xfrm>
          <a:prstGeom prst="straightConnector1">
            <a:avLst/>
          </a:prstGeom>
          <a:noFill/>
          <a:ln cap="flat" cmpd="sng" w="9525">
            <a:solidFill>
              <a:srgbClr val="E8E5D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9" name="Google Shape;219;p9"/>
          <p:cNvSpPr/>
          <p:nvPr/>
        </p:nvSpPr>
        <p:spPr>
          <a:xfrm>
            <a:off x="722376" y="4590260"/>
            <a:ext cx="283500" cy="12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630"/>
              <a:buFont typeface="Montserrat"/>
              <a:buNone/>
            </a:pPr>
            <a:r>
              <a:rPr b="0" i="0" lang="en-US" sz="63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0.795</a:t>
            </a:r>
            <a:endParaRPr b="0" i="0" sz="63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220" name="Google Shape;220;p9"/>
          <p:cNvCxnSpPr/>
          <p:nvPr/>
        </p:nvCxnSpPr>
        <p:spPr>
          <a:xfrm>
            <a:off x="1051560" y="3819116"/>
            <a:ext cx="2267700" cy="0"/>
          </a:xfrm>
          <a:prstGeom prst="straightConnector1">
            <a:avLst/>
          </a:prstGeom>
          <a:noFill/>
          <a:ln cap="flat" cmpd="sng" w="9525">
            <a:solidFill>
              <a:srgbClr val="E8E5D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1" name="Google Shape;221;p9"/>
          <p:cNvSpPr/>
          <p:nvPr/>
        </p:nvSpPr>
        <p:spPr>
          <a:xfrm>
            <a:off x="722376" y="3755107"/>
            <a:ext cx="283500" cy="12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630"/>
              <a:buFont typeface="Montserrat"/>
              <a:buNone/>
            </a:pPr>
            <a:r>
              <a:rPr b="0" i="0" lang="en-US" sz="63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0.802</a:t>
            </a:r>
            <a:endParaRPr b="0" i="0" sz="63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222" name="Google Shape;222;p9"/>
          <p:cNvCxnSpPr/>
          <p:nvPr/>
        </p:nvCxnSpPr>
        <p:spPr>
          <a:xfrm>
            <a:off x="1051560" y="2983964"/>
            <a:ext cx="2267700" cy="0"/>
          </a:xfrm>
          <a:prstGeom prst="straightConnector1">
            <a:avLst/>
          </a:prstGeom>
          <a:noFill/>
          <a:ln cap="flat" cmpd="sng" w="9525">
            <a:solidFill>
              <a:srgbClr val="E8E5D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3" name="Google Shape;223;p9"/>
          <p:cNvSpPr/>
          <p:nvPr/>
        </p:nvSpPr>
        <p:spPr>
          <a:xfrm>
            <a:off x="722376" y="2919956"/>
            <a:ext cx="283500" cy="12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630"/>
              <a:buFont typeface="Montserrat"/>
              <a:buNone/>
            </a:pPr>
            <a:r>
              <a:rPr b="0" i="0" lang="en-US" sz="63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0.809</a:t>
            </a:r>
            <a:endParaRPr b="0" i="0" sz="63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224" name="Google Shape;224;p9"/>
          <p:cNvCxnSpPr/>
          <p:nvPr/>
        </p:nvCxnSpPr>
        <p:spPr>
          <a:xfrm>
            <a:off x="1051560" y="2148812"/>
            <a:ext cx="2267700" cy="0"/>
          </a:xfrm>
          <a:prstGeom prst="straightConnector1">
            <a:avLst/>
          </a:prstGeom>
          <a:noFill/>
          <a:ln cap="flat" cmpd="sng" w="9525">
            <a:solidFill>
              <a:srgbClr val="E8E5D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5" name="Google Shape;225;p9"/>
          <p:cNvSpPr/>
          <p:nvPr/>
        </p:nvSpPr>
        <p:spPr>
          <a:xfrm>
            <a:off x="722376" y="2084804"/>
            <a:ext cx="283500" cy="12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630"/>
              <a:buFont typeface="Montserrat"/>
              <a:buNone/>
            </a:pPr>
            <a:r>
              <a:rPr b="0" i="0" lang="en-US" sz="63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0.816</a:t>
            </a:r>
            <a:endParaRPr b="0" i="0" sz="63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226" name="Google Shape;226;p9"/>
          <p:cNvCxnSpPr/>
          <p:nvPr/>
        </p:nvCxnSpPr>
        <p:spPr>
          <a:xfrm flipH="1" rot="10800000">
            <a:off x="1124712" y="2638107"/>
            <a:ext cx="424200" cy="1527000"/>
          </a:xfrm>
          <a:prstGeom prst="straightConnector1">
            <a:avLst/>
          </a:prstGeom>
          <a:noFill/>
          <a:ln cap="flat" cmpd="sng" w="27925">
            <a:solidFill>
              <a:srgbClr val="7F9FB6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27" name="Google Shape;227;p9"/>
          <p:cNvCxnSpPr/>
          <p:nvPr/>
        </p:nvCxnSpPr>
        <p:spPr>
          <a:xfrm flipH="1" rot="10800000">
            <a:off x="1548994" y="2387472"/>
            <a:ext cx="424200" cy="250500"/>
          </a:xfrm>
          <a:prstGeom prst="straightConnector1">
            <a:avLst/>
          </a:prstGeom>
          <a:noFill/>
          <a:ln cap="flat" cmpd="sng" w="27925">
            <a:solidFill>
              <a:srgbClr val="7F9FB6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28" name="Google Shape;228;p9"/>
          <p:cNvCxnSpPr/>
          <p:nvPr/>
        </p:nvCxnSpPr>
        <p:spPr>
          <a:xfrm flipH="1" rot="10800000">
            <a:off x="1973275" y="2327727"/>
            <a:ext cx="424200" cy="59700"/>
          </a:xfrm>
          <a:prstGeom prst="straightConnector1">
            <a:avLst/>
          </a:prstGeom>
          <a:noFill/>
          <a:ln cap="flat" cmpd="sng" w="27925">
            <a:solidFill>
              <a:srgbClr val="7F9FB6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29" name="Google Shape;229;p9"/>
          <p:cNvCxnSpPr/>
          <p:nvPr/>
        </p:nvCxnSpPr>
        <p:spPr>
          <a:xfrm>
            <a:off x="2397557" y="2327773"/>
            <a:ext cx="424200" cy="59700"/>
          </a:xfrm>
          <a:prstGeom prst="straightConnector1">
            <a:avLst/>
          </a:prstGeom>
          <a:noFill/>
          <a:ln cap="flat" cmpd="sng" w="27925">
            <a:solidFill>
              <a:srgbClr val="7F9FB6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30" name="Google Shape;230;p9"/>
          <p:cNvCxnSpPr/>
          <p:nvPr/>
        </p:nvCxnSpPr>
        <p:spPr>
          <a:xfrm>
            <a:off x="2821838" y="2387427"/>
            <a:ext cx="424200" cy="1741800"/>
          </a:xfrm>
          <a:prstGeom prst="straightConnector1">
            <a:avLst/>
          </a:prstGeom>
          <a:noFill/>
          <a:ln cap="flat" cmpd="sng" w="27925">
            <a:solidFill>
              <a:srgbClr val="7F9FB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1" name="Google Shape;231;p9"/>
          <p:cNvSpPr/>
          <p:nvPr/>
        </p:nvSpPr>
        <p:spPr>
          <a:xfrm>
            <a:off x="1083564" y="4123960"/>
            <a:ext cx="82200" cy="82200"/>
          </a:xfrm>
          <a:prstGeom prst="ellipse">
            <a:avLst/>
          </a:prstGeom>
          <a:solidFill>
            <a:srgbClr val="7F9FB6"/>
          </a:solidFill>
          <a:ln cap="flat" cmpd="sng" w="10150">
            <a:solidFill>
              <a:srgbClr val="7F9F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932688" y="4727420"/>
            <a:ext cx="384000" cy="1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630"/>
              <a:buFont typeface="Montserrat"/>
              <a:buNone/>
            </a:pPr>
            <a:r>
              <a:rPr b="0" i="0" lang="en-US" sz="63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0.50</a:t>
            </a:r>
            <a:endParaRPr b="0" i="0" sz="63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1507846" y="2596824"/>
            <a:ext cx="82200" cy="82200"/>
          </a:xfrm>
          <a:prstGeom prst="ellipse">
            <a:avLst/>
          </a:prstGeom>
          <a:solidFill>
            <a:srgbClr val="7F9FB6"/>
          </a:solidFill>
          <a:ln cap="flat" cmpd="sng" w="10150">
            <a:solidFill>
              <a:srgbClr val="7F9F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9"/>
          <p:cNvSpPr/>
          <p:nvPr/>
        </p:nvSpPr>
        <p:spPr>
          <a:xfrm>
            <a:off x="1356970" y="4727420"/>
            <a:ext cx="384000" cy="1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630"/>
              <a:buFont typeface="Montserrat"/>
              <a:buNone/>
            </a:pPr>
            <a:r>
              <a:rPr b="0" i="0" lang="en-US" sz="63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0.75</a:t>
            </a:r>
            <a:endParaRPr b="0" i="0" sz="63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35" name="Google Shape;235;p9"/>
          <p:cNvSpPr/>
          <p:nvPr/>
        </p:nvSpPr>
        <p:spPr>
          <a:xfrm>
            <a:off x="1932127" y="2346279"/>
            <a:ext cx="82200" cy="82200"/>
          </a:xfrm>
          <a:prstGeom prst="ellipse">
            <a:avLst/>
          </a:prstGeom>
          <a:solidFill>
            <a:srgbClr val="7F9FB6"/>
          </a:solidFill>
          <a:ln cap="flat" cmpd="sng" w="10150">
            <a:solidFill>
              <a:srgbClr val="7F9F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9"/>
          <p:cNvSpPr/>
          <p:nvPr/>
        </p:nvSpPr>
        <p:spPr>
          <a:xfrm>
            <a:off x="1781251" y="4727420"/>
            <a:ext cx="384000" cy="1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630"/>
              <a:buFont typeface="Montserrat"/>
              <a:buNone/>
            </a:pPr>
            <a:r>
              <a:rPr b="0" i="0" lang="en-US" sz="63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1.00</a:t>
            </a:r>
            <a:endParaRPr b="0" i="0" sz="63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37" name="Google Shape;237;p9"/>
          <p:cNvSpPr/>
          <p:nvPr/>
        </p:nvSpPr>
        <p:spPr>
          <a:xfrm>
            <a:off x="2356409" y="2286625"/>
            <a:ext cx="82200" cy="82200"/>
          </a:xfrm>
          <a:prstGeom prst="ellipse">
            <a:avLst/>
          </a:prstGeom>
          <a:solidFill>
            <a:srgbClr val="7F9FB6"/>
          </a:solidFill>
          <a:ln cap="flat" cmpd="sng" w="10150">
            <a:solidFill>
              <a:srgbClr val="7F9F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9"/>
          <p:cNvSpPr/>
          <p:nvPr/>
        </p:nvSpPr>
        <p:spPr>
          <a:xfrm>
            <a:off x="2319833" y="2250049"/>
            <a:ext cx="155400" cy="155400"/>
          </a:xfrm>
          <a:prstGeom prst="ellipse">
            <a:avLst/>
          </a:prstGeom>
          <a:solidFill>
            <a:srgbClr val="FFFFFF">
              <a:alpha val="0"/>
            </a:srgbClr>
          </a:solidFill>
          <a:ln cap="flat" cmpd="sng" w="17775">
            <a:solidFill>
              <a:srgbClr val="7F9F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9"/>
          <p:cNvSpPr/>
          <p:nvPr/>
        </p:nvSpPr>
        <p:spPr>
          <a:xfrm>
            <a:off x="2205533" y="4727420"/>
            <a:ext cx="384000" cy="1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630"/>
              <a:buFont typeface="Montserrat"/>
              <a:buNone/>
            </a:pPr>
            <a:r>
              <a:rPr b="0" i="0" lang="en-US" sz="63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1.25</a:t>
            </a:r>
            <a:endParaRPr b="0" i="0" sz="63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40" name="Google Shape;240;p9"/>
          <p:cNvSpPr/>
          <p:nvPr/>
        </p:nvSpPr>
        <p:spPr>
          <a:xfrm>
            <a:off x="2780690" y="2346279"/>
            <a:ext cx="82200" cy="82200"/>
          </a:xfrm>
          <a:prstGeom prst="ellipse">
            <a:avLst/>
          </a:prstGeom>
          <a:solidFill>
            <a:srgbClr val="7F9FB6"/>
          </a:solidFill>
          <a:ln cap="flat" cmpd="sng" w="10150">
            <a:solidFill>
              <a:srgbClr val="7F9F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9"/>
          <p:cNvSpPr/>
          <p:nvPr/>
        </p:nvSpPr>
        <p:spPr>
          <a:xfrm>
            <a:off x="2629814" y="4727420"/>
            <a:ext cx="384000" cy="1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630"/>
              <a:buFont typeface="Montserrat"/>
              <a:buNone/>
            </a:pPr>
            <a:r>
              <a:rPr b="0" i="0" lang="en-US" sz="63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1.50</a:t>
            </a:r>
            <a:endParaRPr b="0" i="0" sz="63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42" name="Google Shape;242;p9"/>
          <p:cNvSpPr/>
          <p:nvPr/>
        </p:nvSpPr>
        <p:spPr>
          <a:xfrm>
            <a:off x="3204972" y="4088167"/>
            <a:ext cx="82200" cy="82200"/>
          </a:xfrm>
          <a:prstGeom prst="ellipse">
            <a:avLst/>
          </a:prstGeom>
          <a:solidFill>
            <a:srgbClr val="7F9FB6"/>
          </a:solidFill>
          <a:ln cap="flat" cmpd="sng" w="10150">
            <a:solidFill>
              <a:srgbClr val="7F9F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9"/>
          <p:cNvSpPr/>
          <p:nvPr/>
        </p:nvSpPr>
        <p:spPr>
          <a:xfrm>
            <a:off x="3054096" y="4727420"/>
            <a:ext cx="384000" cy="1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630"/>
              <a:buFont typeface="Montserrat"/>
              <a:buNone/>
            </a:pPr>
            <a:r>
              <a:rPr b="0" i="0" lang="en-US" sz="63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2.00</a:t>
            </a:r>
            <a:endParaRPr b="0" i="0" sz="63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44" name="Google Shape;244;p9"/>
          <p:cNvSpPr/>
          <p:nvPr/>
        </p:nvSpPr>
        <p:spPr>
          <a:xfrm>
            <a:off x="3685032" y="1773907"/>
            <a:ext cx="2834700" cy="3310200"/>
          </a:xfrm>
          <a:prstGeom prst="roundRect">
            <a:avLst>
              <a:gd fmla="val 2581" name="adj"/>
            </a:avLst>
          </a:prstGeom>
          <a:solidFill>
            <a:srgbClr val="FBFAF8"/>
          </a:solidFill>
          <a:ln cap="flat" cmpd="sng" w="10150">
            <a:solidFill>
              <a:srgbClr val="E1D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9"/>
          <p:cNvSpPr/>
          <p:nvPr/>
        </p:nvSpPr>
        <p:spPr>
          <a:xfrm>
            <a:off x="3867887" y="1848487"/>
            <a:ext cx="24690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050"/>
              <a:buFont typeface="Montserrat"/>
              <a:buNone/>
            </a:pPr>
            <a:r>
              <a:rPr b="1" i="0" lang="en-US" sz="145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Средний попарный ARI</a:t>
            </a:r>
            <a:endParaRPr b="0" i="0" sz="145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246" name="Google Shape;246;p9"/>
          <p:cNvCxnSpPr/>
          <p:nvPr/>
        </p:nvCxnSpPr>
        <p:spPr>
          <a:xfrm>
            <a:off x="4050792" y="4654268"/>
            <a:ext cx="2267700" cy="0"/>
          </a:xfrm>
          <a:prstGeom prst="straightConnector1">
            <a:avLst/>
          </a:prstGeom>
          <a:noFill/>
          <a:ln cap="flat" cmpd="sng" w="12700">
            <a:solidFill>
              <a:srgbClr val="BFC1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7" name="Google Shape;247;p9"/>
          <p:cNvCxnSpPr/>
          <p:nvPr/>
        </p:nvCxnSpPr>
        <p:spPr>
          <a:xfrm rot="10800000">
            <a:off x="4050792" y="2148668"/>
            <a:ext cx="0" cy="2505600"/>
          </a:xfrm>
          <a:prstGeom prst="straightConnector1">
            <a:avLst/>
          </a:prstGeom>
          <a:noFill/>
          <a:ln cap="flat" cmpd="sng" w="12700">
            <a:solidFill>
              <a:srgbClr val="BFC1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8" name="Google Shape;248;p9"/>
          <p:cNvCxnSpPr/>
          <p:nvPr/>
        </p:nvCxnSpPr>
        <p:spPr>
          <a:xfrm>
            <a:off x="4050792" y="4654268"/>
            <a:ext cx="2267700" cy="0"/>
          </a:xfrm>
          <a:prstGeom prst="straightConnector1">
            <a:avLst/>
          </a:prstGeom>
          <a:noFill/>
          <a:ln cap="flat" cmpd="sng" w="9525">
            <a:solidFill>
              <a:srgbClr val="E8E5D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9" name="Google Shape;249;p9"/>
          <p:cNvSpPr/>
          <p:nvPr/>
        </p:nvSpPr>
        <p:spPr>
          <a:xfrm>
            <a:off x="3721608" y="4590260"/>
            <a:ext cx="283500" cy="12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630"/>
              <a:buFont typeface="Montserrat"/>
              <a:buNone/>
            </a:pPr>
            <a:r>
              <a:rPr b="0" i="0" lang="en-US" sz="63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0.61</a:t>
            </a:r>
            <a:endParaRPr b="0" i="0" sz="63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250" name="Google Shape;250;p9"/>
          <p:cNvCxnSpPr/>
          <p:nvPr/>
        </p:nvCxnSpPr>
        <p:spPr>
          <a:xfrm>
            <a:off x="4050792" y="3819116"/>
            <a:ext cx="2267700" cy="0"/>
          </a:xfrm>
          <a:prstGeom prst="straightConnector1">
            <a:avLst/>
          </a:prstGeom>
          <a:noFill/>
          <a:ln cap="flat" cmpd="sng" w="9525">
            <a:solidFill>
              <a:srgbClr val="E8E5D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1" name="Google Shape;251;p9"/>
          <p:cNvSpPr/>
          <p:nvPr/>
        </p:nvSpPr>
        <p:spPr>
          <a:xfrm>
            <a:off x="3721608" y="3755107"/>
            <a:ext cx="283500" cy="12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630"/>
              <a:buFont typeface="Montserrat"/>
              <a:buNone/>
            </a:pPr>
            <a:r>
              <a:rPr b="0" i="0" lang="en-US" sz="63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0.64</a:t>
            </a:r>
            <a:endParaRPr b="0" i="0" sz="63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252" name="Google Shape;252;p9"/>
          <p:cNvCxnSpPr/>
          <p:nvPr/>
        </p:nvCxnSpPr>
        <p:spPr>
          <a:xfrm>
            <a:off x="4050792" y="2983964"/>
            <a:ext cx="2267700" cy="0"/>
          </a:xfrm>
          <a:prstGeom prst="straightConnector1">
            <a:avLst/>
          </a:prstGeom>
          <a:noFill/>
          <a:ln cap="flat" cmpd="sng" w="9525">
            <a:solidFill>
              <a:srgbClr val="E8E5D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3" name="Google Shape;253;p9"/>
          <p:cNvSpPr/>
          <p:nvPr/>
        </p:nvSpPr>
        <p:spPr>
          <a:xfrm>
            <a:off x="3721608" y="2919956"/>
            <a:ext cx="283500" cy="12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630"/>
              <a:buFont typeface="Montserrat"/>
              <a:buNone/>
            </a:pPr>
            <a:r>
              <a:rPr b="0" i="0" lang="en-US" sz="63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0.67</a:t>
            </a:r>
            <a:endParaRPr b="0" i="0" sz="63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254" name="Google Shape;254;p9"/>
          <p:cNvCxnSpPr/>
          <p:nvPr/>
        </p:nvCxnSpPr>
        <p:spPr>
          <a:xfrm>
            <a:off x="4050792" y="2148812"/>
            <a:ext cx="2267700" cy="0"/>
          </a:xfrm>
          <a:prstGeom prst="straightConnector1">
            <a:avLst/>
          </a:prstGeom>
          <a:noFill/>
          <a:ln cap="flat" cmpd="sng" w="9525">
            <a:solidFill>
              <a:srgbClr val="E8E5D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5" name="Google Shape;255;p9"/>
          <p:cNvSpPr/>
          <p:nvPr/>
        </p:nvSpPr>
        <p:spPr>
          <a:xfrm>
            <a:off x="3721608" y="2084804"/>
            <a:ext cx="283500" cy="12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630"/>
              <a:buFont typeface="Montserrat"/>
              <a:buNone/>
            </a:pPr>
            <a:r>
              <a:rPr b="0" i="0" lang="en-US" sz="63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0.70</a:t>
            </a:r>
            <a:endParaRPr b="0" i="0" sz="63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256" name="Google Shape;256;p9"/>
          <p:cNvCxnSpPr/>
          <p:nvPr/>
        </p:nvCxnSpPr>
        <p:spPr>
          <a:xfrm>
            <a:off x="4123944" y="3537948"/>
            <a:ext cx="424200" cy="303300"/>
          </a:xfrm>
          <a:prstGeom prst="straightConnector1">
            <a:avLst/>
          </a:prstGeom>
          <a:noFill/>
          <a:ln cap="flat" cmpd="sng" w="27925">
            <a:solidFill>
              <a:srgbClr val="C8968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57" name="Google Shape;257;p9"/>
          <p:cNvCxnSpPr/>
          <p:nvPr/>
        </p:nvCxnSpPr>
        <p:spPr>
          <a:xfrm flipH="1" rot="10800000">
            <a:off x="4548226" y="3460087"/>
            <a:ext cx="424200" cy="381300"/>
          </a:xfrm>
          <a:prstGeom prst="straightConnector1">
            <a:avLst/>
          </a:prstGeom>
          <a:noFill/>
          <a:ln cap="flat" cmpd="sng" w="27925">
            <a:solidFill>
              <a:srgbClr val="C8968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58" name="Google Shape;258;p9"/>
          <p:cNvCxnSpPr/>
          <p:nvPr/>
        </p:nvCxnSpPr>
        <p:spPr>
          <a:xfrm flipH="1" rot="10800000">
            <a:off x="4972507" y="2549800"/>
            <a:ext cx="424200" cy="910200"/>
          </a:xfrm>
          <a:prstGeom prst="straightConnector1">
            <a:avLst/>
          </a:prstGeom>
          <a:noFill/>
          <a:ln cap="flat" cmpd="sng" w="27925">
            <a:solidFill>
              <a:srgbClr val="C8968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59" name="Google Shape;259;p9"/>
          <p:cNvCxnSpPr/>
          <p:nvPr/>
        </p:nvCxnSpPr>
        <p:spPr>
          <a:xfrm>
            <a:off x="5396789" y="2549685"/>
            <a:ext cx="424200" cy="1862400"/>
          </a:xfrm>
          <a:prstGeom prst="straightConnector1">
            <a:avLst/>
          </a:prstGeom>
          <a:noFill/>
          <a:ln cap="flat" cmpd="sng" w="27925">
            <a:solidFill>
              <a:srgbClr val="C8968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60" name="Google Shape;260;p9"/>
          <p:cNvCxnSpPr/>
          <p:nvPr/>
        </p:nvCxnSpPr>
        <p:spPr>
          <a:xfrm flipH="1" rot="10800000">
            <a:off x="5821070" y="2836474"/>
            <a:ext cx="424200" cy="1575600"/>
          </a:xfrm>
          <a:prstGeom prst="straightConnector1">
            <a:avLst/>
          </a:prstGeom>
          <a:noFill/>
          <a:ln cap="flat" cmpd="sng" w="27925">
            <a:solidFill>
              <a:srgbClr val="C8968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1" name="Google Shape;261;p9"/>
          <p:cNvSpPr/>
          <p:nvPr/>
        </p:nvSpPr>
        <p:spPr>
          <a:xfrm>
            <a:off x="4082796" y="3496800"/>
            <a:ext cx="82200" cy="82200"/>
          </a:xfrm>
          <a:prstGeom prst="ellipse">
            <a:avLst/>
          </a:prstGeom>
          <a:solidFill>
            <a:srgbClr val="C89682"/>
          </a:solidFill>
          <a:ln cap="flat" cmpd="sng" w="10150">
            <a:solidFill>
              <a:srgbClr val="C896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9"/>
          <p:cNvSpPr/>
          <p:nvPr/>
        </p:nvSpPr>
        <p:spPr>
          <a:xfrm>
            <a:off x="3931920" y="4727420"/>
            <a:ext cx="384000" cy="1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630"/>
              <a:buFont typeface="Montserrat"/>
              <a:buNone/>
            </a:pPr>
            <a:r>
              <a:rPr b="0" i="0" lang="en-US" sz="63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0.50</a:t>
            </a:r>
            <a:endParaRPr b="0" i="0" sz="63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63" name="Google Shape;263;p9"/>
          <p:cNvSpPr/>
          <p:nvPr/>
        </p:nvSpPr>
        <p:spPr>
          <a:xfrm>
            <a:off x="4507078" y="3800239"/>
            <a:ext cx="82200" cy="82200"/>
          </a:xfrm>
          <a:prstGeom prst="ellipse">
            <a:avLst/>
          </a:prstGeom>
          <a:solidFill>
            <a:srgbClr val="C89682"/>
          </a:solidFill>
          <a:ln cap="flat" cmpd="sng" w="10150">
            <a:solidFill>
              <a:srgbClr val="C896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9"/>
          <p:cNvSpPr/>
          <p:nvPr/>
        </p:nvSpPr>
        <p:spPr>
          <a:xfrm>
            <a:off x="4356202" y="4727420"/>
            <a:ext cx="384000" cy="1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630"/>
              <a:buFont typeface="Montserrat"/>
              <a:buNone/>
            </a:pPr>
            <a:r>
              <a:rPr b="0" i="0" lang="en-US" sz="63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0.75</a:t>
            </a:r>
            <a:endParaRPr b="0" i="0" sz="63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65" name="Google Shape;265;p9"/>
          <p:cNvSpPr/>
          <p:nvPr/>
        </p:nvSpPr>
        <p:spPr>
          <a:xfrm>
            <a:off x="4931359" y="3418853"/>
            <a:ext cx="82200" cy="82200"/>
          </a:xfrm>
          <a:prstGeom prst="ellipse">
            <a:avLst/>
          </a:prstGeom>
          <a:solidFill>
            <a:srgbClr val="C89682"/>
          </a:solidFill>
          <a:ln cap="flat" cmpd="sng" w="10150">
            <a:solidFill>
              <a:srgbClr val="C896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9"/>
          <p:cNvSpPr/>
          <p:nvPr/>
        </p:nvSpPr>
        <p:spPr>
          <a:xfrm>
            <a:off x="4780483" y="4727420"/>
            <a:ext cx="384000" cy="1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630"/>
              <a:buFont typeface="Montserrat"/>
              <a:buNone/>
            </a:pPr>
            <a:r>
              <a:rPr b="0" i="0" lang="en-US" sz="63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1.00</a:t>
            </a:r>
            <a:endParaRPr b="0" i="0" sz="63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67" name="Google Shape;267;p9"/>
          <p:cNvSpPr/>
          <p:nvPr/>
        </p:nvSpPr>
        <p:spPr>
          <a:xfrm>
            <a:off x="5355641" y="2508537"/>
            <a:ext cx="82200" cy="82200"/>
          </a:xfrm>
          <a:prstGeom prst="ellipse">
            <a:avLst/>
          </a:prstGeom>
          <a:solidFill>
            <a:srgbClr val="C89682"/>
          </a:solidFill>
          <a:ln cap="flat" cmpd="sng" w="10150">
            <a:solidFill>
              <a:srgbClr val="C896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9"/>
          <p:cNvSpPr/>
          <p:nvPr/>
        </p:nvSpPr>
        <p:spPr>
          <a:xfrm>
            <a:off x="5319065" y="2471961"/>
            <a:ext cx="155400" cy="155400"/>
          </a:xfrm>
          <a:prstGeom prst="ellipse">
            <a:avLst/>
          </a:prstGeom>
          <a:solidFill>
            <a:srgbClr val="FFFFFF">
              <a:alpha val="0"/>
            </a:srgbClr>
          </a:solidFill>
          <a:ln cap="flat" cmpd="sng" w="17775">
            <a:solidFill>
              <a:srgbClr val="C896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9"/>
          <p:cNvSpPr/>
          <p:nvPr/>
        </p:nvSpPr>
        <p:spPr>
          <a:xfrm>
            <a:off x="5204765" y="4727420"/>
            <a:ext cx="384000" cy="1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630"/>
              <a:buFont typeface="Montserrat"/>
              <a:buNone/>
            </a:pPr>
            <a:r>
              <a:rPr b="0" i="0" lang="en-US" sz="63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1.25</a:t>
            </a:r>
            <a:endParaRPr b="0" i="0" sz="63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70" name="Google Shape;270;p9"/>
          <p:cNvSpPr/>
          <p:nvPr/>
        </p:nvSpPr>
        <p:spPr>
          <a:xfrm>
            <a:off x="5779922" y="4370926"/>
            <a:ext cx="82200" cy="82200"/>
          </a:xfrm>
          <a:prstGeom prst="ellipse">
            <a:avLst/>
          </a:prstGeom>
          <a:solidFill>
            <a:srgbClr val="C89682"/>
          </a:solidFill>
          <a:ln cap="flat" cmpd="sng" w="10150">
            <a:solidFill>
              <a:srgbClr val="C896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9"/>
          <p:cNvSpPr/>
          <p:nvPr/>
        </p:nvSpPr>
        <p:spPr>
          <a:xfrm>
            <a:off x="5629046" y="4727420"/>
            <a:ext cx="384000" cy="1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630"/>
              <a:buFont typeface="Montserrat"/>
              <a:buNone/>
            </a:pPr>
            <a:r>
              <a:rPr b="0" i="0" lang="en-US" sz="63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1.50</a:t>
            </a:r>
            <a:endParaRPr b="0" i="0" sz="63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72" name="Google Shape;272;p9"/>
          <p:cNvSpPr/>
          <p:nvPr/>
        </p:nvSpPr>
        <p:spPr>
          <a:xfrm>
            <a:off x="6204204" y="2795272"/>
            <a:ext cx="82200" cy="82200"/>
          </a:xfrm>
          <a:prstGeom prst="ellipse">
            <a:avLst/>
          </a:prstGeom>
          <a:solidFill>
            <a:srgbClr val="C89682"/>
          </a:solidFill>
          <a:ln cap="flat" cmpd="sng" w="10150">
            <a:solidFill>
              <a:srgbClr val="C8968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9"/>
          <p:cNvSpPr/>
          <p:nvPr/>
        </p:nvSpPr>
        <p:spPr>
          <a:xfrm>
            <a:off x="6053328" y="4727420"/>
            <a:ext cx="384000" cy="1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630"/>
              <a:buFont typeface="Montserrat"/>
              <a:buNone/>
            </a:pPr>
            <a:r>
              <a:rPr b="0" i="0" lang="en-US" sz="63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2.00</a:t>
            </a:r>
            <a:endParaRPr b="0" i="0" sz="63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74" name="Google Shape;274;p9"/>
          <p:cNvSpPr/>
          <p:nvPr/>
        </p:nvSpPr>
        <p:spPr>
          <a:xfrm>
            <a:off x="6684264" y="1417320"/>
            <a:ext cx="4754880" cy="3310128"/>
          </a:xfrm>
          <a:prstGeom prst="roundRect">
            <a:avLst>
              <a:gd fmla="val 2210" name="adj"/>
            </a:avLst>
          </a:prstGeom>
          <a:solidFill>
            <a:srgbClr val="F3F6F2"/>
          </a:solidFill>
          <a:ln cap="flat" cmpd="sng" w="10150">
            <a:solidFill>
              <a:srgbClr val="E1D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9"/>
          <p:cNvSpPr/>
          <p:nvPr/>
        </p:nvSpPr>
        <p:spPr>
          <a:xfrm>
            <a:off x="6976876" y="1719075"/>
            <a:ext cx="4181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450"/>
              <a:buFont typeface="Montserrat"/>
              <a:buNone/>
            </a:pPr>
            <a:r>
              <a:rPr b="1" i="0" lang="en-US" sz="205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Что показали проверки?</a:t>
            </a:r>
            <a:endParaRPr b="0" i="0" sz="205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76" name="Google Shape;276;p9"/>
          <p:cNvSpPr/>
          <p:nvPr/>
        </p:nvSpPr>
        <p:spPr>
          <a:xfrm>
            <a:off x="6995148" y="2314175"/>
            <a:ext cx="146400" cy="146400"/>
          </a:xfrm>
          <a:prstGeom prst="ellipse">
            <a:avLst/>
          </a:prstGeom>
          <a:solidFill>
            <a:srgbClr val="AFC7D8"/>
          </a:solidFill>
          <a:ln cap="flat" cmpd="sng" w="10150">
            <a:solidFill>
              <a:srgbClr val="AFC7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9"/>
          <p:cNvSpPr/>
          <p:nvPr/>
        </p:nvSpPr>
        <p:spPr>
          <a:xfrm>
            <a:off x="7273055" y="2295867"/>
            <a:ext cx="9876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950"/>
              <a:buFont typeface="Montserrat"/>
              <a:buNone/>
            </a:pPr>
            <a:r>
              <a:rPr b="1" i="0" lang="en-US" sz="125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ICVI</a:t>
            </a:r>
            <a:endParaRPr b="0" i="0" sz="125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78" name="Google Shape;278;p9"/>
          <p:cNvSpPr/>
          <p:nvPr/>
        </p:nvSpPr>
        <p:spPr>
          <a:xfrm>
            <a:off x="8655850" y="2409063"/>
            <a:ext cx="25017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880"/>
              <a:buFont typeface="Montserrat"/>
              <a:buNone/>
            </a:pPr>
            <a:r>
              <a:rPr b="0" i="0" lang="en-US" sz="128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1.25 дает сбалансированный профиль показателей, без опоры на один индекс.</a:t>
            </a:r>
            <a:endParaRPr b="0" i="0" sz="128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79" name="Google Shape;279;p9"/>
          <p:cNvSpPr/>
          <p:nvPr/>
        </p:nvSpPr>
        <p:spPr>
          <a:xfrm>
            <a:off x="6995160" y="3182220"/>
            <a:ext cx="146400" cy="146400"/>
          </a:xfrm>
          <a:prstGeom prst="ellipse">
            <a:avLst/>
          </a:prstGeom>
          <a:solidFill>
            <a:srgbClr val="E4C4B8"/>
          </a:solidFill>
          <a:ln cap="flat" cmpd="sng" w="10150">
            <a:solidFill>
              <a:srgbClr val="E4C4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9"/>
          <p:cNvSpPr/>
          <p:nvPr/>
        </p:nvSpPr>
        <p:spPr>
          <a:xfrm>
            <a:off x="7273640" y="3163913"/>
            <a:ext cx="12501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950"/>
              <a:buFont typeface="Montserrat"/>
              <a:buNone/>
            </a:pPr>
            <a:r>
              <a:rPr b="1" i="0" lang="en-US" sz="125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Стабильность</a:t>
            </a:r>
            <a:endParaRPr b="0" i="0" sz="125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81" name="Google Shape;281;p9"/>
          <p:cNvSpPr/>
          <p:nvPr/>
        </p:nvSpPr>
        <p:spPr>
          <a:xfrm>
            <a:off x="8655850" y="3190538"/>
            <a:ext cx="25017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880"/>
              <a:buFont typeface="Montserrat"/>
              <a:buNone/>
            </a:pPr>
            <a:r>
              <a:rPr b="0" i="0" lang="en-US" sz="128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Средний попарный ARI для 5 seed при 1.25 = 0.6856.</a:t>
            </a:r>
            <a:endParaRPr b="0" i="0" sz="128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82" name="Google Shape;282;p9"/>
          <p:cNvSpPr/>
          <p:nvPr/>
        </p:nvSpPr>
        <p:spPr>
          <a:xfrm>
            <a:off x="6995148" y="3975428"/>
            <a:ext cx="146400" cy="146400"/>
          </a:xfrm>
          <a:prstGeom prst="ellipse">
            <a:avLst/>
          </a:prstGeom>
          <a:solidFill>
            <a:srgbClr val="BFD2C4"/>
          </a:solidFill>
          <a:ln cap="flat" cmpd="sng" w="10150">
            <a:solidFill>
              <a:srgbClr val="BFD2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9"/>
          <p:cNvSpPr/>
          <p:nvPr/>
        </p:nvSpPr>
        <p:spPr>
          <a:xfrm>
            <a:off x="7273651" y="3957113"/>
            <a:ext cx="11448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950"/>
              <a:buFont typeface="Montserrat"/>
              <a:buNone/>
            </a:pPr>
            <a:r>
              <a:rPr b="1" i="0" lang="en-US" sz="125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Расстояние</a:t>
            </a:r>
            <a:endParaRPr b="0" i="0" sz="125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84" name="Google Shape;284;p9"/>
          <p:cNvSpPr/>
          <p:nvPr/>
        </p:nvSpPr>
        <p:spPr>
          <a:xfrm>
            <a:off x="8655850" y="3950675"/>
            <a:ext cx="25734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880"/>
              <a:buFont typeface="Montserrat"/>
              <a:buNone/>
            </a:pPr>
            <a:r>
              <a:rPr b="0" i="0" lang="en-US" sz="128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Euclidean при 1.25 выше Cosine по Modularity, SW и CH.</a:t>
            </a:r>
            <a:endParaRPr b="0" i="0" sz="128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85" name="Google Shape;285;p9"/>
          <p:cNvSpPr/>
          <p:nvPr/>
        </p:nvSpPr>
        <p:spPr>
          <a:xfrm>
            <a:off x="7366585" y="5212205"/>
            <a:ext cx="3401700" cy="310800"/>
          </a:xfrm>
          <a:prstGeom prst="roundRect">
            <a:avLst>
              <a:gd fmla="val 17647" name="adj"/>
            </a:avLst>
          </a:prstGeom>
          <a:solidFill>
            <a:srgbClr val="E8D9B5"/>
          </a:solidFill>
          <a:ln cap="flat" cmpd="sng" w="12700">
            <a:solidFill>
              <a:srgbClr val="E8D9B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9"/>
          <p:cNvSpPr/>
          <p:nvPr/>
        </p:nvSpPr>
        <p:spPr>
          <a:xfrm>
            <a:off x="7467169" y="5276213"/>
            <a:ext cx="32004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870"/>
              <a:buFont typeface="Montserrat"/>
              <a:buNone/>
            </a:pPr>
            <a:r>
              <a:rPr b="1" i="0" lang="en-US" sz="167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Финальная resolution = 1.25</a:t>
            </a:r>
            <a:endParaRPr b="0" i="0" sz="167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87" name="Google Shape;287;p9"/>
          <p:cNvSpPr/>
          <p:nvPr/>
        </p:nvSpPr>
        <p:spPr>
          <a:xfrm>
            <a:off x="7104960" y="5666043"/>
            <a:ext cx="3913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880"/>
              <a:buFont typeface="Montserrat"/>
              <a:buNone/>
            </a:pPr>
            <a:r>
              <a:rPr b="0" i="0" lang="en-US" sz="118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Не максимум одной метрики, а выбранный компромисс между качеством и устойчивостью.</a:t>
            </a:r>
            <a:endParaRPr b="0" i="0" sz="118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88" name="Google Shape;288;p9"/>
          <p:cNvSpPr/>
          <p:nvPr/>
        </p:nvSpPr>
        <p:spPr>
          <a:xfrm>
            <a:off x="685807" y="5346117"/>
            <a:ext cx="53493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780"/>
              <a:buFont typeface="Montserrat"/>
              <a:buNone/>
            </a:pPr>
            <a:r>
              <a:rPr b="0" i="0" lang="en-US" sz="128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Подсветка на графиках = выбранная точка 1.25.</a:t>
            </a:r>
            <a:endParaRPr b="0" i="0" sz="128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89" name="Google Shape;289;p9"/>
          <p:cNvSpPr txBox="1"/>
          <p:nvPr>
            <p:ph idx="4294967295" type="sldNum"/>
          </p:nvPr>
        </p:nvSpPr>
        <p:spPr>
          <a:xfrm>
            <a:off x="11686032" y="6528816"/>
            <a:ext cx="8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</a:pPr>
            <a:fld id="{00000000-1234-1234-1234-123412341234}" type="slidenum">
              <a:rPr b="0" i="0" lang="en-US" sz="700" u="none" cap="none" strike="noStrike">
                <a:solidFill>
                  <a:srgbClr val="9A9EA2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0" i="0" sz="700" u="none" cap="none" strike="noStrike">
              <a:solidFill>
                <a:srgbClr val="9A9EA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10"/>
          <p:cNvSpPr/>
          <p:nvPr/>
        </p:nvSpPr>
        <p:spPr>
          <a:xfrm>
            <a:off x="685802" y="668075"/>
            <a:ext cx="110277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2500"/>
              <a:buFont typeface="Montserrat"/>
              <a:buNone/>
            </a:pPr>
            <a:r>
              <a:rPr b="1" i="0" lang="en-US" sz="41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ICVI и устойчивость финальной конфигурации</a:t>
            </a:r>
            <a:endParaRPr b="0" i="0" sz="41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96" name="Google Shape;296;p10"/>
          <p:cNvSpPr/>
          <p:nvPr/>
        </p:nvSpPr>
        <p:spPr>
          <a:xfrm>
            <a:off x="705625" y="1600921"/>
            <a:ext cx="97842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1050"/>
              <a:buFont typeface="Montserrat"/>
              <a:buNone/>
            </a:pPr>
            <a:r>
              <a:rPr b="0" i="0" lang="en-US" sz="185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Декабрь 2024, resolution = 1.25</a:t>
            </a:r>
            <a:endParaRPr b="0" i="0" sz="185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97" name="Google Shape;297;p10"/>
          <p:cNvSpPr/>
          <p:nvPr/>
        </p:nvSpPr>
        <p:spPr>
          <a:xfrm>
            <a:off x="705613" y="2131391"/>
            <a:ext cx="2578500" cy="1298400"/>
          </a:xfrm>
          <a:prstGeom prst="roundRect">
            <a:avLst>
              <a:gd fmla="val 5634" name="adj"/>
            </a:avLst>
          </a:prstGeom>
          <a:solidFill>
            <a:srgbClr val="AFC7D8"/>
          </a:solidFill>
          <a:ln cap="flat" cmpd="sng" w="10150">
            <a:solidFill>
              <a:srgbClr val="E1D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10"/>
          <p:cNvSpPr/>
          <p:nvPr/>
        </p:nvSpPr>
        <p:spPr>
          <a:xfrm>
            <a:off x="870204" y="2286839"/>
            <a:ext cx="2249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920"/>
              <a:buFont typeface="Montserrat"/>
              <a:buNone/>
            </a:pPr>
            <a:r>
              <a:rPr b="1" i="0" lang="en-US" sz="142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Silhouette (SW)</a:t>
            </a:r>
            <a:endParaRPr b="0" i="0" sz="142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99" name="Google Shape;299;p10"/>
          <p:cNvSpPr/>
          <p:nvPr/>
        </p:nvSpPr>
        <p:spPr>
          <a:xfrm>
            <a:off x="870204" y="2588591"/>
            <a:ext cx="22494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2200"/>
              <a:buFont typeface="Montserrat"/>
              <a:buNone/>
            </a:pPr>
            <a:r>
              <a:rPr b="1" i="0" lang="en-US" sz="30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0.1636</a:t>
            </a:r>
            <a:endParaRPr b="0" i="0" sz="30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00" name="Google Shape;300;p10"/>
          <p:cNvSpPr/>
          <p:nvPr/>
        </p:nvSpPr>
        <p:spPr>
          <a:xfrm>
            <a:off x="870204" y="3100655"/>
            <a:ext cx="22494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760"/>
              <a:buFont typeface="Montserrat"/>
              <a:buNone/>
            </a:pPr>
            <a:r>
              <a:rPr b="0" i="0" lang="en-US" sz="126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выше – лучше</a:t>
            </a:r>
            <a:endParaRPr b="0" i="0" sz="126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01" name="Google Shape;301;p10"/>
          <p:cNvSpPr/>
          <p:nvPr/>
        </p:nvSpPr>
        <p:spPr>
          <a:xfrm>
            <a:off x="3439668" y="2131391"/>
            <a:ext cx="2578500" cy="1298400"/>
          </a:xfrm>
          <a:prstGeom prst="roundRect">
            <a:avLst>
              <a:gd fmla="val 5634" name="adj"/>
            </a:avLst>
          </a:prstGeom>
          <a:solidFill>
            <a:srgbClr val="BFD2C4"/>
          </a:solidFill>
          <a:ln cap="flat" cmpd="sng" w="10150">
            <a:solidFill>
              <a:srgbClr val="E1D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10"/>
          <p:cNvSpPr/>
          <p:nvPr/>
        </p:nvSpPr>
        <p:spPr>
          <a:xfrm>
            <a:off x="3604261" y="2286839"/>
            <a:ext cx="2249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920"/>
              <a:buFont typeface="Montserrat"/>
              <a:buNone/>
            </a:pPr>
            <a:r>
              <a:rPr b="1" i="0" lang="en-US" sz="142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Calinski–Harabasz (CH)</a:t>
            </a:r>
            <a:endParaRPr b="0" i="0" sz="142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03" name="Google Shape;303;p10"/>
          <p:cNvSpPr/>
          <p:nvPr/>
        </p:nvSpPr>
        <p:spPr>
          <a:xfrm>
            <a:off x="3604261" y="2588591"/>
            <a:ext cx="22494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2200"/>
              <a:buFont typeface="Montserrat"/>
              <a:buNone/>
            </a:pPr>
            <a:r>
              <a:rPr b="1" i="0" lang="en-US" sz="30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879.10</a:t>
            </a:r>
            <a:endParaRPr b="0" i="0" sz="30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04" name="Google Shape;304;p10"/>
          <p:cNvSpPr/>
          <p:nvPr/>
        </p:nvSpPr>
        <p:spPr>
          <a:xfrm>
            <a:off x="3604261" y="3100655"/>
            <a:ext cx="22494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760"/>
              <a:buFont typeface="Montserrat"/>
              <a:buNone/>
            </a:pPr>
            <a:r>
              <a:rPr b="0" i="0" lang="en-US" sz="126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выше – лучше</a:t>
            </a:r>
            <a:endParaRPr b="0" i="0" sz="126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05" name="Google Shape;305;p10"/>
          <p:cNvSpPr/>
          <p:nvPr/>
        </p:nvSpPr>
        <p:spPr>
          <a:xfrm>
            <a:off x="6173724" y="2131391"/>
            <a:ext cx="2578500" cy="1298400"/>
          </a:xfrm>
          <a:prstGeom prst="roundRect">
            <a:avLst>
              <a:gd fmla="val 5634" name="adj"/>
            </a:avLst>
          </a:prstGeom>
          <a:solidFill>
            <a:srgbClr val="E4C4B8"/>
          </a:solidFill>
          <a:ln cap="flat" cmpd="sng" w="10150">
            <a:solidFill>
              <a:srgbClr val="E1D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10"/>
          <p:cNvSpPr/>
          <p:nvPr/>
        </p:nvSpPr>
        <p:spPr>
          <a:xfrm>
            <a:off x="6338317" y="2286839"/>
            <a:ext cx="2249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920"/>
              <a:buFont typeface="Montserrat"/>
              <a:buNone/>
            </a:pPr>
            <a:r>
              <a:rPr b="1" i="0" lang="en-US" sz="142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S_Dbw</a:t>
            </a:r>
            <a:endParaRPr b="0" i="0" sz="142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07" name="Google Shape;307;p10"/>
          <p:cNvSpPr/>
          <p:nvPr/>
        </p:nvSpPr>
        <p:spPr>
          <a:xfrm>
            <a:off x="6338317" y="2588591"/>
            <a:ext cx="22494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2200"/>
              <a:buFont typeface="Montserrat"/>
              <a:buNone/>
            </a:pPr>
            <a:r>
              <a:rPr b="1" i="0" lang="en-US" sz="30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0.3210</a:t>
            </a:r>
            <a:endParaRPr b="0" i="0" sz="30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08" name="Google Shape;308;p10"/>
          <p:cNvSpPr/>
          <p:nvPr/>
        </p:nvSpPr>
        <p:spPr>
          <a:xfrm>
            <a:off x="6338317" y="3100655"/>
            <a:ext cx="22494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760"/>
              <a:buFont typeface="Montserrat"/>
              <a:buNone/>
            </a:pPr>
            <a:r>
              <a:rPr b="0" i="0" lang="en-US" sz="126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ниже – лучше</a:t>
            </a:r>
            <a:endParaRPr b="0" i="0" sz="126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09" name="Google Shape;309;p10"/>
          <p:cNvSpPr/>
          <p:nvPr/>
        </p:nvSpPr>
        <p:spPr>
          <a:xfrm>
            <a:off x="8907781" y="2131391"/>
            <a:ext cx="2578500" cy="1298400"/>
          </a:xfrm>
          <a:prstGeom prst="roundRect">
            <a:avLst>
              <a:gd fmla="val 5634" name="adj"/>
            </a:avLst>
          </a:prstGeom>
          <a:solidFill>
            <a:srgbClr val="C9C5E1"/>
          </a:solidFill>
          <a:ln cap="flat" cmpd="sng" w="10150">
            <a:solidFill>
              <a:srgbClr val="E1D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10"/>
          <p:cNvSpPr/>
          <p:nvPr/>
        </p:nvSpPr>
        <p:spPr>
          <a:xfrm>
            <a:off x="9072373" y="2286839"/>
            <a:ext cx="2249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920"/>
              <a:buFont typeface="Montserrat"/>
              <a:buNone/>
            </a:pPr>
            <a:r>
              <a:rPr b="1" i="0" lang="en-US" sz="142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AVI</a:t>
            </a:r>
            <a:endParaRPr b="0" i="0" sz="142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11" name="Google Shape;311;p10"/>
          <p:cNvSpPr/>
          <p:nvPr/>
        </p:nvSpPr>
        <p:spPr>
          <a:xfrm>
            <a:off x="9072373" y="2588591"/>
            <a:ext cx="22494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2200"/>
              <a:buFont typeface="Montserrat"/>
              <a:buNone/>
            </a:pPr>
            <a:r>
              <a:rPr b="1" i="0" lang="en-US" sz="30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0.8794</a:t>
            </a:r>
            <a:endParaRPr b="0" i="0" sz="30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12" name="Google Shape;312;p10"/>
          <p:cNvSpPr/>
          <p:nvPr/>
        </p:nvSpPr>
        <p:spPr>
          <a:xfrm>
            <a:off x="9072373" y="3100655"/>
            <a:ext cx="22494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760"/>
              <a:buFont typeface="Montserrat"/>
              <a:buNone/>
            </a:pPr>
            <a:r>
              <a:rPr b="0" i="0" lang="en-US" sz="126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выше – лучше</a:t>
            </a:r>
            <a:endParaRPr b="0" i="0" sz="126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13" name="Google Shape;313;p10"/>
          <p:cNvSpPr/>
          <p:nvPr/>
        </p:nvSpPr>
        <p:spPr>
          <a:xfrm>
            <a:off x="705613" y="3667582"/>
            <a:ext cx="2578500" cy="1298400"/>
          </a:xfrm>
          <a:prstGeom prst="roundRect">
            <a:avLst>
              <a:gd fmla="val 5634" name="adj"/>
            </a:avLst>
          </a:prstGeom>
          <a:solidFill>
            <a:srgbClr val="E8D9B5"/>
          </a:solidFill>
          <a:ln cap="flat" cmpd="sng" w="10150">
            <a:solidFill>
              <a:srgbClr val="E1D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10"/>
          <p:cNvSpPr/>
          <p:nvPr/>
        </p:nvSpPr>
        <p:spPr>
          <a:xfrm>
            <a:off x="870204" y="3823031"/>
            <a:ext cx="2249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920"/>
              <a:buFont typeface="Montserrat"/>
              <a:buNone/>
            </a:pPr>
            <a:r>
              <a:rPr b="1" i="0" lang="en-US" sz="142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AVU</a:t>
            </a:r>
            <a:endParaRPr b="0" i="0" sz="142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15" name="Google Shape;315;p10"/>
          <p:cNvSpPr/>
          <p:nvPr/>
        </p:nvSpPr>
        <p:spPr>
          <a:xfrm>
            <a:off x="870204" y="4124783"/>
            <a:ext cx="22494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2200"/>
              <a:buFont typeface="Montserrat"/>
              <a:buNone/>
            </a:pPr>
            <a:r>
              <a:rPr b="1" i="0" lang="en-US" sz="30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0.4813</a:t>
            </a:r>
            <a:endParaRPr b="0" i="0" sz="30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16" name="Google Shape;316;p10"/>
          <p:cNvSpPr/>
          <p:nvPr/>
        </p:nvSpPr>
        <p:spPr>
          <a:xfrm>
            <a:off x="870204" y="4636847"/>
            <a:ext cx="22494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760"/>
              <a:buFont typeface="Montserrat"/>
              <a:buNone/>
            </a:pPr>
            <a:r>
              <a:rPr b="0" i="0" lang="en-US" sz="126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ниже – лучше</a:t>
            </a:r>
            <a:endParaRPr b="0" i="0" sz="126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17" name="Google Shape;317;p10"/>
          <p:cNvSpPr/>
          <p:nvPr/>
        </p:nvSpPr>
        <p:spPr>
          <a:xfrm>
            <a:off x="3439668" y="3667582"/>
            <a:ext cx="2578500" cy="1298400"/>
          </a:xfrm>
          <a:prstGeom prst="roundRect">
            <a:avLst>
              <a:gd fmla="val 5634" name="adj"/>
            </a:avLst>
          </a:prstGeom>
          <a:solidFill>
            <a:srgbClr val="AFC7D8"/>
          </a:solidFill>
          <a:ln cap="flat" cmpd="sng" w="10150">
            <a:solidFill>
              <a:srgbClr val="E1D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10"/>
          <p:cNvSpPr/>
          <p:nvPr/>
        </p:nvSpPr>
        <p:spPr>
          <a:xfrm>
            <a:off x="3604261" y="3823031"/>
            <a:ext cx="2249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920"/>
              <a:buFont typeface="Montserrat"/>
              <a:buNone/>
            </a:pPr>
            <a:r>
              <a:rPr b="1" i="0" lang="en-US" sz="142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MQ</a:t>
            </a:r>
            <a:endParaRPr b="0" i="0" sz="142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19" name="Google Shape;319;p10"/>
          <p:cNvSpPr/>
          <p:nvPr/>
        </p:nvSpPr>
        <p:spPr>
          <a:xfrm>
            <a:off x="3604261" y="4124783"/>
            <a:ext cx="22494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2200"/>
              <a:buFont typeface="Montserrat"/>
              <a:buNone/>
            </a:pPr>
            <a:r>
              <a:rPr b="1" i="0" lang="en-US" sz="30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17.5880</a:t>
            </a:r>
            <a:endParaRPr b="0" i="0" sz="30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20" name="Google Shape;320;p10"/>
          <p:cNvSpPr/>
          <p:nvPr/>
        </p:nvSpPr>
        <p:spPr>
          <a:xfrm>
            <a:off x="3604261" y="4636847"/>
            <a:ext cx="22494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760"/>
              <a:buFont typeface="Montserrat"/>
              <a:buNone/>
            </a:pPr>
            <a:r>
              <a:rPr b="0" i="0" lang="en-US" sz="126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выше – лучше</a:t>
            </a:r>
            <a:endParaRPr b="0" i="0" sz="126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21" name="Google Shape;321;p10"/>
          <p:cNvSpPr/>
          <p:nvPr/>
        </p:nvSpPr>
        <p:spPr>
          <a:xfrm>
            <a:off x="6173724" y="3667582"/>
            <a:ext cx="2578500" cy="1298400"/>
          </a:xfrm>
          <a:prstGeom prst="roundRect">
            <a:avLst>
              <a:gd fmla="val 5634" name="adj"/>
            </a:avLst>
          </a:prstGeom>
          <a:solidFill>
            <a:srgbClr val="BFD2C4"/>
          </a:solidFill>
          <a:ln cap="flat" cmpd="sng" w="10150">
            <a:solidFill>
              <a:srgbClr val="E1D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10"/>
          <p:cNvSpPr/>
          <p:nvPr/>
        </p:nvSpPr>
        <p:spPr>
          <a:xfrm>
            <a:off x="6338317" y="3823031"/>
            <a:ext cx="2249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920"/>
              <a:buFont typeface="Montserrat"/>
              <a:buNone/>
            </a:pPr>
            <a:r>
              <a:rPr b="1" i="0" lang="en-US" sz="142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Modularity</a:t>
            </a:r>
            <a:endParaRPr b="0" i="0" sz="142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23" name="Google Shape;323;p10"/>
          <p:cNvSpPr/>
          <p:nvPr/>
        </p:nvSpPr>
        <p:spPr>
          <a:xfrm>
            <a:off x="6338317" y="4124783"/>
            <a:ext cx="22494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2200"/>
              <a:buFont typeface="Montserrat"/>
              <a:buNone/>
            </a:pPr>
            <a:r>
              <a:rPr b="1" i="0" lang="en-US" sz="30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0.8145</a:t>
            </a:r>
            <a:endParaRPr b="0" i="0" sz="30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24" name="Google Shape;324;p10"/>
          <p:cNvSpPr/>
          <p:nvPr/>
        </p:nvSpPr>
        <p:spPr>
          <a:xfrm>
            <a:off x="6338317" y="4636847"/>
            <a:ext cx="22494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760"/>
              <a:buFont typeface="Montserrat"/>
              <a:buNone/>
            </a:pPr>
            <a:r>
              <a:rPr b="0" i="0" lang="en-US" sz="126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сетевое качество</a:t>
            </a:r>
            <a:endParaRPr b="0" i="0" sz="126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25" name="Google Shape;325;p10"/>
          <p:cNvSpPr/>
          <p:nvPr/>
        </p:nvSpPr>
        <p:spPr>
          <a:xfrm>
            <a:off x="8907781" y="3667582"/>
            <a:ext cx="2578500" cy="1298400"/>
          </a:xfrm>
          <a:prstGeom prst="roundRect">
            <a:avLst>
              <a:gd fmla="val 5634" name="adj"/>
            </a:avLst>
          </a:prstGeom>
          <a:solidFill>
            <a:srgbClr val="E4C4B8"/>
          </a:solidFill>
          <a:ln cap="flat" cmpd="sng" w="10150">
            <a:solidFill>
              <a:srgbClr val="E1D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10"/>
          <p:cNvSpPr/>
          <p:nvPr/>
        </p:nvSpPr>
        <p:spPr>
          <a:xfrm>
            <a:off x="9072373" y="3823031"/>
            <a:ext cx="2249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920"/>
              <a:buFont typeface="Montserrat"/>
              <a:buNone/>
            </a:pPr>
            <a:r>
              <a:rPr b="1" i="0" lang="en-US" sz="142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Средний попарный ARI</a:t>
            </a:r>
            <a:endParaRPr b="0" i="0" sz="142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27" name="Google Shape;327;p10"/>
          <p:cNvSpPr/>
          <p:nvPr/>
        </p:nvSpPr>
        <p:spPr>
          <a:xfrm>
            <a:off x="9072373" y="4124783"/>
            <a:ext cx="22494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2200"/>
              <a:buFont typeface="Montserrat"/>
              <a:buNone/>
            </a:pPr>
            <a:r>
              <a:rPr b="1" i="0" lang="en-US" sz="30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0.6856</a:t>
            </a:r>
            <a:endParaRPr b="0" i="0" sz="30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28" name="Google Shape;328;p10"/>
          <p:cNvSpPr/>
          <p:nvPr/>
        </p:nvSpPr>
        <p:spPr>
          <a:xfrm>
            <a:off x="9072373" y="4636847"/>
            <a:ext cx="22494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760"/>
              <a:buFont typeface="Montserrat"/>
              <a:buNone/>
            </a:pPr>
            <a:r>
              <a:rPr b="0" i="0" lang="en-US" sz="126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5 seed</a:t>
            </a:r>
            <a:endParaRPr b="0" i="0" sz="126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29" name="Google Shape;329;p10"/>
          <p:cNvSpPr/>
          <p:nvPr/>
        </p:nvSpPr>
        <p:spPr>
          <a:xfrm>
            <a:off x="701088" y="5195135"/>
            <a:ext cx="10789800" cy="841200"/>
          </a:xfrm>
          <a:prstGeom prst="roundRect">
            <a:avLst>
              <a:gd fmla="val 8696" name="adj"/>
            </a:avLst>
          </a:prstGeom>
          <a:solidFill>
            <a:srgbClr val="FBFAF8"/>
          </a:solidFill>
          <a:ln cap="flat" cmpd="sng" w="10150">
            <a:solidFill>
              <a:srgbClr val="E1D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10"/>
          <p:cNvSpPr/>
          <p:nvPr/>
        </p:nvSpPr>
        <p:spPr>
          <a:xfrm>
            <a:off x="914950" y="5524225"/>
            <a:ext cx="14553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880"/>
              <a:buFont typeface="Montserrat"/>
              <a:buNone/>
            </a:pPr>
            <a:r>
              <a:rPr b="1" i="0" lang="en-US" sz="128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Интерпретация</a:t>
            </a:r>
            <a:endParaRPr b="0" i="0" sz="128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31" name="Google Shape;331;p10"/>
          <p:cNvSpPr/>
          <p:nvPr/>
        </p:nvSpPr>
        <p:spPr>
          <a:xfrm>
            <a:off x="2540650" y="5460325"/>
            <a:ext cx="86631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850"/>
              <a:buFont typeface="Montserrat"/>
              <a:buNone/>
            </a:pPr>
            <a:r>
              <a:rPr b="0" i="0" lang="en-US" sz="135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SW, CH, AVI и MQ читаются в сторону больших значений; для S_Dbw и AVU – наоборот. Метрики используются совместно, поскольку каждая описывает свою сторону структуры кластеров.</a:t>
            </a:r>
            <a:endParaRPr b="0" i="0" sz="135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32" name="Google Shape;332;p10"/>
          <p:cNvSpPr/>
          <p:nvPr/>
        </p:nvSpPr>
        <p:spPr>
          <a:xfrm>
            <a:off x="792450" y="6156518"/>
            <a:ext cx="10607100" cy="21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9093"/>
              </a:buClr>
              <a:buSzPts val="730"/>
              <a:buFont typeface="Montserrat"/>
              <a:buNone/>
            </a:pPr>
            <a:r>
              <a:rPr b="0" i="0" lang="en-US" sz="1030" u="none" cap="none" strike="noStrike">
                <a:solidFill>
                  <a:srgbClr val="8B9093"/>
                </a:solidFill>
                <a:latin typeface="Montserrat"/>
                <a:ea typeface="Montserrat"/>
                <a:cs typeface="Montserrat"/>
                <a:sym typeface="Montserrat"/>
              </a:rPr>
              <a:t>AVI, AVU и MQ в проекте используются как реализованные сетевые диагностические показатели внутренней и внешней связности кластеров.</a:t>
            </a:r>
            <a:endParaRPr b="0" i="0" sz="103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33" name="Google Shape;333;p10"/>
          <p:cNvSpPr txBox="1"/>
          <p:nvPr>
            <p:ph idx="4294967295" type="sldNum"/>
          </p:nvPr>
        </p:nvSpPr>
        <p:spPr>
          <a:xfrm>
            <a:off x="11686032" y="6528816"/>
            <a:ext cx="8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</a:pPr>
            <a:fld id="{00000000-1234-1234-1234-123412341234}" type="slidenum">
              <a:rPr b="0" i="0" lang="en-US" sz="700" u="none" cap="none" strike="noStrike">
                <a:solidFill>
                  <a:srgbClr val="9A9EA2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0" i="0" sz="700" u="none" cap="none" strike="noStrike">
              <a:solidFill>
                <a:srgbClr val="9A9EA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11"/>
          <p:cNvSpPr/>
          <p:nvPr/>
        </p:nvSpPr>
        <p:spPr>
          <a:xfrm>
            <a:off x="658368" y="429768"/>
            <a:ext cx="81381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2500"/>
              <a:buFont typeface="Montserrat"/>
              <a:buNone/>
            </a:pPr>
            <a:r>
              <a:rPr b="1" i="0" lang="en-US" sz="41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Euclidean vs Cosine</a:t>
            </a:r>
            <a:endParaRPr b="0" i="0" sz="41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40" name="Google Shape;340;p11"/>
          <p:cNvSpPr/>
          <p:nvPr/>
        </p:nvSpPr>
        <p:spPr>
          <a:xfrm>
            <a:off x="685800" y="978400"/>
            <a:ext cx="10495800" cy="25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1050"/>
              <a:buFont typeface="Montserrat"/>
              <a:buNone/>
            </a:pPr>
            <a:r>
              <a:rPr b="0" i="0" lang="en-US" sz="185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Контролируемое сравнение: одинаковый kNN, одинаковый RBF, resolution = 1.25</a:t>
            </a:r>
            <a:endParaRPr b="0" i="0" sz="185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41" name="Google Shape;341;p11"/>
          <p:cNvSpPr/>
          <p:nvPr/>
        </p:nvSpPr>
        <p:spPr>
          <a:xfrm>
            <a:off x="874773" y="1636854"/>
            <a:ext cx="1920300" cy="512100"/>
          </a:xfrm>
          <a:prstGeom prst="roundRect">
            <a:avLst>
              <a:gd fmla="val 7143" name="adj"/>
            </a:avLst>
          </a:prstGeom>
          <a:solidFill>
            <a:srgbClr val="24313A"/>
          </a:solidFill>
          <a:ln cap="flat" cmpd="sng" w="12700">
            <a:solidFill>
              <a:srgbClr val="2431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11"/>
          <p:cNvSpPr/>
          <p:nvPr/>
        </p:nvSpPr>
        <p:spPr>
          <a:xfrm>
            <a:off x="929637" y="1774015"/>
            <a:ext cx="18105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39"/>
              <a:buFont typeface="Montserrat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Метод</a:t>
            </a:r>
            <a:endParaRPr b="0" i="0" sz="16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43" name="Google Shape;343;p11"/>
          <p:cNvSpPr/>
          <p:nvPr/>
        </p:nvSpPr>
        <p:spPr>
          <a:xfrm>
            <a:off x="2868165" y="1636854"/>
            <a:ext cx="1170300" cy="512100"/>
          </a:xfrm>
          <a:prstGeom prst="roundRect">
            <a:avLst>
              <a:gd fmla="val 7143" name="adj"/>
            </a:avLst>
          </a:prstGeom>
          <a:solidFill>
            <a:srgbClr val="AFC7D8"/>
          </a:solidFill>
          <a:ln cap="flat" cmpd="sng" w="12700">
            <a:solidFill>
              <a:srgbClr val="AFC7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11"/>
          <p:cNvSpPr/>
          <p:nvPr/>
        </p:nvSpPr>
        <p:spPr>
          <a:xfrm>
            <a:off x="2923029" y="1774015"/>
            <a:ext cx="10608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839"/>
              <a:buFont typeface="Montserrat"/>
              <a:buNone/>
            </a:pPr>
            <a:r>
              <a:rPr b="1" i="0" lang="en-US" sz="14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Кластеров</a:t>
            </a:r>
            <a:endParaRPr b="0" i="0" sz="14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45" name="Google Shape;345;p11"/>
          <p:cNvSpPr/>
          <p:nvPr/>
        </p:nvSpPr>
        <p:spPr>
          <a:xfrm>
            <a:off x="4111749" y="1636854"/>
            <a:ext cx="1572900" cy="512100"/>
          </a:xfrm>
          <a:prstGeom prst="roundRect">
            <a:avLst>
              <a:gd fmla="val 7143" name="adj"/>
            </a:avLst>
          </a:prstGeom>
          <a:solidFill>
            <a:srgbClr val="AFC7D8"/>
          </a:solidFill>
          <a:ln cap="flat" cmpd="sng" w="12700">
            <a:solidFill>
              <a:srgbClr val="AFC7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11"/>
          <p:cNvSpPr/>
          <p:nvPr/>
        </p:nvSpPr>
        <p:spPr>
          <a:xfrm>
            <a:off x="4166613" y="1774015"/>
            <a:ext cx="14631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839"/>
              <a:buFont typeface="Montserrat"/>
              <a:buNone/>
            </a:pPr>
            <a:r>
              <a:rPr b="1" i="0" lang="en-US" sz="144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Modularity</a:t>
            </a:r>
            <a:endParaRPr b="0" i="0" sz="144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47" name="Google Shape;347;p11"/>
          <p:cNvSpPr/>
          <p:nvPr/>
        </p:nvSpPr>
        <p:spPr>
          <a:xfrm>
            <a:off x="5757669" y="1636854"/>
            <a:ext cx="1225200" cy="512100"/>
          </a:xfrm>
          <a:prstGeom prst="roundRect">
            <a:avLst>
              <a:gd fmla="val 7143" name="adj"/>
            </a:avLst>
          </a:prstGeom>
          <a:solidFill>
            <a:srgbClr val="AFC7D8"/>
          </a:solidFill>
          <a:ln cap="flat" cmpd="sng" w="12700">
            <a:solidFill>
              <a:srgbClr val="AFC7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11"/>
          <p:cNvSpPr/>
          <p:nvPr/>
        </p:nvSpPr>
        <p:spPr>
          <a:xfrm>
            <a:off x="5812533" y="1774015"/>
            <a:ext cx="11157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839"/>
              <a:buFont typeface="Montserrat"/>
              <a:buNone/>
            </a:pPr>
            <a:r>
              <a:rPr b="1" i="0" lang="en-US" sz="14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SW</a:t>
            </a:r>
            <a:endParaRPr b="0" i="0" sz="14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49" name="Google Shape;349;p11"/>
          <p:cNvSpPr/>
          <p:nvPr/>
        </p:nvSpPr>
        <p:spPr>
          <a:xfrm>
            <a:off x="7056117" y="1636854"/>
            <a:ext cx="1326000" cy="512100"/>
          </a:xfrm>
          <a:prstGeom prst="roundRect">
            <a:avLst>
              <a:gd fmla="val 7143" name="adj"/>
            </a:avLst>
          </a:prstGeom>
          <a:solidFill>
            <a:srgbClr val="AFC7D8"/>
          </a:solidFill>
          <a:ln cap="flat" cmpd="sng" w="12700">
            <a:solidFill>
              <a:srgbClr val="AFC7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11"/>
          <p:cNvSpPr/>
          <p:nvPr/>
        </p:nvSpPr>
        <p:spPr>
          <a:xfrm>
            <a:off x="7110981" y="1774015"/>
            <a:ext cx="12162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839"/>
              <a:buFont typeface="Montserrat"/>
              <a:buNone/>
            </a:pPr>
            <a:r>
              <a:rPr b="1" i="0" lang="en-US" sz="14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CH</a:t>
            </a:r>
            <a:endParaRPr b="0" i="0" sz="14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51" name="Google Shape;351;p11"/>
          <p:cNvSpPr/>
          <p:nvPr/>
        </p:nvSpPr>
        <p:spPr>
          <a:xfrm>
            <a:off x="8455149" y="1636854"/>
            <a:ext cx="1225200" cy="512100"/>
          </a:xfrm>
          <a:prstGeom prst="roundRect">
            <a:avLst>
              <a:gd fmla="val 7143" name="adj"/>
            </a:avLst>
          </a:prstGeom>
          <a:solidFill>
            <a:srgbClr val="AFC7D8"/>
          </a:solidFill>
          <a:ln cap="flat" cmpd="sng" w="12700">
            <a:solidFill>
              <a:srgbClr val="AFC7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11"/>
          <p:cNvSpPr/>
          <p:nvPr/>
        </p:nvSpPr>
        <p:spPr>
          <a:xfrm>
            <a:off x="8510013" y="1774015"/>
            <a:ext cx="11157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839"/>
              <a:buFont typeface="Montserrat"/>
              <a:buNone/>
            </a:pPr>
            <a:r>
              <a:rPr b="1" i="0" lang="en-US" sz="14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S_Dbw</a:t>
            </a:r>
            <a:endParaRPr b="0" i="0" sz="14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53" name="Google Shape;353;p11"/>
          <p:cNvSpPr/>
          <p:nvPr/>
        </p:nvSpPr>
        <p:spPr>
          <a:xfrm>
            <a:off x="874773" y="2231215"/>
            <a:ext cx="1920300" cy="512100"/>
          </a:xfrm>
          <a:prstGeom prst="roundRect">
            <a:avLst>
              <a:gd fmla="val 7143" name="adj"/>
            </a:avLst>
          </a:prstGeom>
          <a:solidFill>
            <a:srgbClr val="FBFAF8"/>
          </a:solidFill>
          <a:ln cap="flat" cmpd="sng" w="9525">
            <a:solidFill>
              <a:srgbClr val="E3E0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11"/>
          <p:cNvSpPr/>
          <p:nvPr/>
        </p:nvSpPr>
        <p:spPr>
          <a:xfrm>
            <a:off x="929637" y="2377519"/>
            <a:ext cx="18105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900"/>
              <a:buFont typeface="Montserrat"/>
              <a:buNone/>
            </a:pPr>
            <a:r>
              <a:rPr b="1" i="0" lang="en-US" sz="16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Euclidean</a:t>
            </a:r>
            <a:endParaRPr b="0" i="0" sz="16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55" name="Google Shape;355;p11"/>
          <p:cNvSpPr/>
          <p:nvPr/>
        </p:nvSpPr>
        <p:spPr>
          <a:xfrm>
            <a:off x="2868165" y="2231215"/>
            <a:ext cx="1170300" cy="512100"/>
          </a:xfrm>
          <a:prstGeom prst="roundRect">
            <a:avLst>
              <a:gd fmla="val 7143" name="adj"/>
            </a:avLst>
          </a:prstGeom>
          <a:solidFill>
            <a:srgbClr val="FBFAF8"/>
          </a:solidFill>
          <a:ln cap="flat" cmpd="sng" w="9525">
            <a:solidFill>
              <a:srgbClr val="E3E0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11"/>
          <p:cNvSpPr/>
          <p:nvPr/>
        </p:nvSpPr>
        <p:spPr>
          <a:xfrm>
            <a:off x="2923029" y="2377519"/>
            <a:ext cx="10608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900"/>
              <a:buFont typeface="Montserrat"/>
              <a:buNone/>
            </a:pPr>
            <a:r>
              <a:rPr b="0" i="0" lang="en-US" sz="14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20</a:t>
            </a:r>
            <a:endParaRPr b="0" i="0" sz="14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57" name="Google Shape;357;p11"/>
          <p:cNvSpPr/>
          <p:nvPr/>
        </p:nvSpPr>
        <p:spPr>
          <a:xfrm>
            <a:off x="4111749" y="2231215"/>
            <a:ext cx="1572900" cy="512100"/>
          </a:xfrm>
          <a:prstGeom prst="roundRect">
            <a:avLst>
              <a:gd fmla="val 7143" name="adj"/>
            </a:avLst>
          </a:prstGeom>
          <a:solidFill>
            <a:srgbClr val="FBFAF8"/>
          </a:solidFill>
          <a:ln cap="flat" cmpd="sng" w="9525">
            <a:solidFill>
              <a:srgbClr val="E3E0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11"/>
          <p:cNvSpPr/>
          <p:nvPr/>
        </p:nvSpPr>
        <p:spPr>
          <a:xfrm>
            <a:off x="4166613" y="2377519"/>
            <a:ext cx="14631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900"/>
              <a:buFont typeface="Montserrat"/>
              <a:buNone/>
            </a:pPr>
            <a:r>
              <a:rPr b="0" i="0" lang="en-US" sz="14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0.8145</a:t>
            </a:r>
            <a:endParaRPr b="0" i="0" sz="14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59" name="Google Shape;359;p11"/>
          <p:cNvSpPr/>
          <p:nvPr/>
        </p:nvSpPr>
        <p:spPr>
          <a:xfrm>
            <a:off x="5757669" y="2231215"/>
            <a:ext cx="1225200" cy="512100"/>
          </a:xfrm>
          <a:prstGeom prst="roundRect">
            <a:avLst>
              <a:gd fmla="val 7143" name="adj"/>
            </a:avLst>
          </a:prstGeom>
          <a:solidFill>
            <a:srgbClr val="FBFAF8"/>
          </a:solidFill>
          <a:ln cap="flat" cmpd="sng" w="9525">
            <a:solidFill>
              <a:srgbClr val="E3E0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11"/>
          <p:cNvSpPr/>
          <p:nvPr/>
        </p:nvSpPr>
        <p:spPr>
          <a:xfrm>
            <a:off x="5812533" y="2377519"/>
            <a:ext cx="11157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900"/>
              <a:buFont typeface="Montserrat"/>
              <a:buNone/>
            </a:pPr>
            <a:r>
              <a:rPr b="0" i="0" lang="en-US" sz="14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0.1636</a:t>
            </a:r>
            <a:endParaRPr b="0" i="0" sz="14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61" name="Google Shape;361;p11"/>
          <p:cNvSpPr/>
          <p:nvPr/>
        </p:nvSpPr>
        <p:spPr>
          <a:xfrm>
            <a:off x="7056117" y="2231215"/>
            <a:ext cx="1326000" cy="512100"/>
          </a:xfrm>
          <a:prstGeom prst="roundRect">
            <a:avLst>
              <a:gd fmla="val 7143" name="adj"/>
            </a:avLst>
          </a:prstGeom>
          <a:solidFill>
            <a:srgbClr val="FBFAF8"/>
          </a:solidFill>
          <a:ln cap="flat" cmpd="sng" w="9525">
            <a:solidFill>
              <a:srgbClr val="E3E0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11"/>
          <p:cNvSpPr/>
          <p:nvPr/>
        </p:nvSpPr>
        <p:spPr>
          <a:xfrm>
            <a:off x="7110981" y="2377519"/>
            <a:ext cx="12162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900"/>
              <a:buFont typeface="Montserrat"/>
              <a:buNone/>
            </a:pPr>
            <a:r>
              <a:rPr b="0" i="0" lang="en-US" sz="14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879.1</a:t>
            </a:r>
            <a:endParaRPr b="0" i="0" sz="14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63" name="Google Shape;363;p11"/>
          <p:cNvSpPr/>
          <p:nvPr/>
        </p:nvSpPr>
        <p:spPr>
          <a:xfrm>
            <a:off x="8455149" y="2231215"/>
            <a:ext cx="1225200" cy="512100"/>
          </a:xfrm>
          <a:prstGeom prst="roundRect">
            <a:avLst>
              <a:gd fmla="val 7143" name="adj"/>
            </a:avLst>
          </a:prstGeom>
          <a:solidFill>
            <a:srgbClr val="FBFAF8"/>
          </a:solidFill>
          <a:ln cap="flat" cmpd="sng" w="9525">
            <a:solidFill>
              <a:srgbClr val="E3E0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11"/>
          <p:cNvSpPr/>
          <p:nvPr/>
        </p:nvSpPr>
        <p:spPr>
          <a:xfrm>
            <a:off x="8510013" y="2377519"/>
            <a:ext cx="11157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900"/>
              <a:buFont typeface="Montserrat"/>
              <a:buNone/>
            </a:pPr>
            <a:r>
              <a:rPr b="0" i="0" lang="en-US" sz="14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0.3210</a:t>
            </a:r>
            <a:endParaRPr b="0" i="0" sz="14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65" name="Google Shape;365;p11"/>
          <p:cNvSpPr/>
          <p:nvPr/>
        </p:nvSpPr>
        <p:spPr>
          <a:xfrm>
            <a:off x="874773" y="2825575"/>
            <a:ext cx="1920300" cy="512100"/>
          </a:xfrm>
          <a:prstGeom prst="roundRect">
            <a:avLst>
              <a:gd fmla="val 7143" name="adj"/>
            </a:avLst>
          </a:prstGeom>
          <a:solidFill>
            <a:srgbClr val="F3F6F2"/>
          </a:solidFill>
          <a:ln cap="flat" cmpd="sng" w="9525">
            <a:solidFill>
              <a:srgbClr val="E3E0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11"/>
          <p:cNvSpPr/>
          <p:nvPr/>
        </p:nvSpPr>
        <p:spPr>
          <a:xfrm>
            <a:off x="929637" y="2971879"/>
            <a:ext cx="18105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900"/>
              <a:buFont typeface="Montserrat"/>
              <a:buNone/>
            </a:pPr>
            <a:r>
              <a:rPr b="1" i="0" lang="en-US" sz="16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Cosine</a:t>
            </a:r>
            <a:endParaRPr b="0" i="0" sz="16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67" name="Google Shape;367;p11"/>
          <p:cNvSpPr/>
          <p:nvPr/>
        </p:nvSpPr>
        <p:spPr>
          <a:xfrm>
            <a:off x="2868165" y="2825575"/>
            <a:ext cx="1170300" cy="512100"/>
          </a:xfrm>
          <a:prstGeom prst="roundRect">
            <a:avLst>
              <a:gd fmla="val 7143" name="adj"/>
            </a:avLst>
          </a:prstGeom>
          <a:solidFill>
            <a:srgbClr val="F3F6F2"/>
          </a:solidFill>
          <a:ln cap="flat" cmpd="sng" w="9525">
            <a:solidFill>
              <a:srgbClr val="E3E0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11"/>
          <p:cNvSpPr/>
          <p:nvPr/>
        </p:nvSpPr>
        <p:spPr>
          <a:xfrm>
            <a:off x="2923029" y="2971879"/>
            <a:ext cx="10608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900"/>
              <a:buFont typeface="Montserrat"/>
              <a:buNone/>
            </a:pPr>
            <a:r>
              <a:rPr b="0" i="0" lang="en-US" sz="14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30</a:t>
            </a:r>
            <a:endParaRPr b="0" i="0" sz="14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69" name="Google Shape;369;p11"/>
          <p:cNvSpPr/>
          <p:nvPr/>
        </p:nvSpPr>
        <p:spPr>
          <a:xfrm>
            <a:off x="4111749" y="2825575"/>
            <a:ext cx="1572900" cy="512100"/>
          </a:xfrm>
          <a:prstGeom prst="roundRect">
            <a:avLst>
              <a:gd fmla="val 7143" name="adj"/>
            </a:avLst>
          </a:prstGeom>
          <a:solidFill>
            <a:srgbClr val="F3F6F2"/>
          </a:solidFill>
          <a:ln cap="flat" cmpd="sng" w="9525">
            <a:solidFill>
              <a:srgbClr val="E3E0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11"/>
          <p:cNvSpPr/>
          <p:nvPr/>
        </p:nvSpPr>
        <p:spPr>
          <a:xfrm>
            <a:off x="4166613" y="2971879"/>
            <a:ext cx="14631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900"/>
              <a:buFont typeface="Montserrat"/>
              <a:buNone/>
            </a:pPr>
            <a:r>
              <a:rPr b="0" i="0" lang="en-US" sz="9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0.8129</a:t>
            </a:r>
            <a:endParaRPr b="0" i="0" sz="9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71" name="Google Shape;371;p11"/>
          <p:cNvSpPr/>
          <p:nvPr/>
        </p:nvSpPr>
        <p:spPr>
          <a:xfrm>
            <a:off x="5757669" y="2825575"/>
            <a:ext cx="1225200" cy="512100"/>
          </a:xfrm>
          <a:prstGeom prst="roundRect">
            <a:avLst>
              <a:gd fmla="val 7143" name="adj"/>
            </a:avLst>
          </a:prstGeom>
          <a:solidFill>
            <a:srgbClr val="F3F6F2"/>
          </a:solidFill>
          <a:ln cap="flat" cmpd="sng" w="9525">
            <a:solidFill>
              <a:srgbClr val="E3E0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11"/>
          <p:cNvSpPr/>
          <p:nvPr/>
        </p:nvSpPr>
        <p:spPr>
          <a:xfrm>
            <a:off x="5812533" y="2971879"/>
            <a:ext cx="11157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900"/>
              <a:buFont typeface="Montserrat"/>
              <a:buNone/>
            </a:pPr>
            <a:r>
              <a:rPr b="0" i="0" lang="en-US" sz="14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0.1555</a:t>
            </a:r>
            <a:endParaRPr b="0" i="0" sz="14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73" name="Google Shape;373;p11"/>
          <p:cNvSpPr/>
          <p:nvPr/>
        </p:nvSpPr>
        <p:spPr>
          <a:xfrm>
            <a:off x="7056117" y="2825575"/>
            <a:ext cx="1326000" cy="512100"/>
          </a:xfrm>
          <a:prstGeom prst="roundRect">
            <a:avLst>
              <a:gd fmla="val 7143" name="adj"/>
            </a:avLst>
          </a:prstGeom>
          <a:solidFill>
            <a:srgbClr val="F3F6F2"/>
          </a:solidFill>
          <a:ln cap="flat" cmpd="sng" w="9525">
            <a:solidFill>
              <a:srgbClr val="E3E0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11"/>
          <p:cNvSpPr/>
          <p:nvPr/>
        </p:nvSpPr>
        <p:spPr>
          <a:xfrm>
            <a:off x="7110981" y="2971879"/>
            <a:ext cx="12162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900"/>
              <a:buFont typeface="Montserrat"/>
              <a:buNone/>
            </a:pPr>
            <a:r>
              <a:rPr b="0" i="0" lang="en-US" sz="14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698.2</a:t>
            </a:r>
            <a:endParaRPr b="0" i="0" sz="14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75" name="Google Shape;375;p11"/>
          <p:cNvSpPr/>
          <p:nvPr/>
        </p:nvSpPr>
        <p:spPr>
          <a:xfrm>
            <a:off x="8455149" y="2825575"/>
            <a:ext cx="1225200" cy="512100"/>
          </a:xfrm>
          <a:prstGeom prst="roundRect">
            <a:avLst>
              <a:gd fmla="val 7143" name="adj"/>
            </a:avLst>
          </a:prstGeom>
          <a:solidFill>
            <a:srgbClr val="F3F6F2"/>
          </a:solidFill>
          <a:ln cap="flat" cmpd="sng" w="9525">
            <a:solidFill>
              <a:srgbClr val="E3E0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1"/>
          <p:cNvSpPr/>
          <p:nvPr/>
        </p:nvSpPr>
        <p:spPr>
          <a:xfrm>
            <a:off x="8510013" y="2971879"/>
            <a:ext cx="11157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900"/>
              <a:buFont typeface="Montserrat"/>
              <a:buNone/>
            </a:pPr>
            <a:r>
              <a:rPr b="0" i="0" lang="en-US" sz="14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0.3022</a:t>
            </a:r>
            <a:endParaRPr b="0" i="0" sz="14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77" name="Google Shape;377;p11"/>
          <p:cNvSpPr/>
          <p:nvPr/>
        </p:nvSpPr>
        <p:spPr>
          <a:xfrm>
            <a:off x="874767" y="3739902"/>
            <a:ext cx="4983600" cy="1902000"/>
          </a:xfrm>
          <a:prstGeom prst="roundRect">
            <a:avLst>
              <a:gd fmla="val 3846" name="adj"/>
            </a:avLst>
          </a:prstGeom>
          <a:solidFill>
            <a:srgbClr val="FBFAF8"/>
          </a:solidFill>
          <a:ln cap="flat" cmpd="sng" w="10150">
            <a:solidFill>
              <a:srgbClr val="E1D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11"/>
          <p:cNvSpPr/>
          <p:nvPr/>
        </p:nvSpPr>
        <p:spPr>
          <a:xfrm>
            <a:off x="1139953" y="4169725"/>
            <a:ext cx="19203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250"/>
              <a:buFont typeface="Montserrat"/>
              <a:buNone/>
            </a:pPr>
            <a:r>
              <a:rPr b="1" i="0" lang="en-US" sz="24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Что меняется?</a:t>
            </a:r>
            <a:endParaRPr b="0" i="0" sz="24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79" name="Google Shape;379;p11"/>
          <p:cNvSpPr/>
          <p:nvPr/>
        </p:nvSpPr>
        <p:spPr>
          <a:xfrm>
            <a:off x="1139943" y="4619565"/>
            <a:ext cx="43434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1020"/>
              <a:buFont typeface="Montserrat"/>
              <a:buNone/>
            </a:pPr>
            <a:r>
              <a:rPr b="0" i="0" lang="en-US" sz="102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Euclidean дает более высокие Modularity, SW и CH.</a:t>
            </a:r>
            <a:endParaRPr b="0" i="0" sz="102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1020"/>
              <a:buFont typeface="Montserrat"/>
              <a:buNone/>
            </a:pPr>
            <a:r>
              <a:rPr b="0" i="0" lang="en-US" sz="102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Cosine дает более низкий S_Dbw.</a:t>
            </a:r>
            <a:endParaRPr b="0" i="0" sz="102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1020"/>
              <a:buFont typeface="Montserrat"/>
              <a:buNone/>
            </a:pPr>
            <a:r>
              <a:rPr b="0" i="0" lang="en-US" sz="102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Поэтому выбор – это баланс показателей, а не победитель по одному индексу.</a:t>
            </a:r>
            <a:endParaRPr b="0" i="0" sz="102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80" name="Google Shape;380;p11"/>
          <p:cNvSpPr/>
          <p:nvPr/>
        </p:nvSpPr>
        <p:spPr>
          <a:xfrm>
            <a:off x="6132567" y="3739902"/>
            <a:ext cx="5184600" cy="1902000"/>
          </a:xfrm>
          <a:prstGeom prst="roundRect">
            <a:avLst>
              <a:gd fmla="val 3846" name="adj"/>
            </a:avLst>
          </a:prstGeom>
          <a:solidFill>
            <a:srgbClr val="F7F1F2"/>
          </a:solidFill>
          <a:ln cap="flat" cmpd="sng" w="10150">
            <a:solidFill>
              <a:srgbClr val="E1D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11"/>
          <p:cNvSpPr/>
          <p:nvPr/>
        </p:nvSpPr>
        <p:spPr>
          <a:xfrm>
            <a:off x="6406875" y="4169725"/>
            <a:ext cx="33390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250"/>
              <a:buFont typeface="Montserrat"/>
              <a:buNone/>
            </a:pPr>
            <a:r>
              <a:rPr b="1" i="0" lang="en-US" sz="24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Почему остаемся на Euclidean</a:t>
            </a:r>
            <a:endParaRPr b="0" i="0" sz="24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82" name="Google Shape;382;p11"/>
          <p:cNvSpPr/>
          <p:nvPr/>
        </p:nvSpPr>
        <p:spPr>
          <a:xfrm>
            <a:off x="6406887" y="4720065"/>
            <a:ext cx="44349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1020"/>
              <a:buFont typeface="Montserrat"/>
              <a:buNone/>
            </a:pPr>
            <a:r>
              <a:rPr b="0" i="0" lang="en-US" sz="102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Он лучше поддерживает сетевую структуру при контролируемом сравнении и остается прозрачным для интерпретации «насколько близки две композиции потребления».</a:t>
            </a:r>
            <a:endParaRPr b="0" i="0" sz="102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83" name="Google Shape;383;p11"/>
          <p:cNvSpPr/>
          <p:nvPr/>
        </p:nvSpPr>
        <p:spPr>
          <a:xfrm>
            <a:off x="685800" y="5998518"/>
            <a:ext cx="10607100" cy="21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9093"/>
              </a:buClr>
              <a:buSzPts val="730"/>
              <a:buFont typeface="Montserrat"/>
              <a:buNone/>
            </a:pPr>
            <a:r>
              <a:rPr b="0" i="0" lang="en-US" sz="1230" u="none" cap="none" strike="noStrike">
                <a:solidFill>
                  <a:srgbClr val="8B9093"/>
                </a:solidFill>
                <a:latin typeface="Montserrat"/>
                <a:ea typeface="Montserrat"/>
                <a:cs typeface="Montserrat"/>
                <a:sym typeface="Montserrat"/>
              </a:rPr>
              <a:t>Контрольный срез: декабрь 2024. Для Cosine использована отдельная глобальная sigma как контролируемая схема сравнения.</a:t>
            </a:r>
            <a:endParaRPr b="0" i="0" sz="123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84" name="Google Shape;384;p11"/>
          <p:cNvSpPr txBox="1"/>
          <p:nvPr>
            <p:ph idx="4294967295" type="sldNum"/>
          </p:nvPr>
        </p:nvSpPr>
        <p:spPr>
          <a:xfrm>
            <a:off x="11686032" y="6528816"/>
            <a:ext cx="8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</a:pPr>
            <a:fld id="{00000000-1234-1234-1234-123412341234}" type="slidenum">
              <a:rPr b="0" i="0" lang="en-US" sz="700" u="none" cap="none" strike="noStrike">
                <a:solidFill>
                  <a:srgbClr val="9A9EA2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0" i="0" sz="700" u="none" cap="none" strike="noStrike">
              <a:solidFill>
                <a:srgbClr val="9A9EA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12"/>
          <p:cNvSpPr/>
          <p:nvPr/>
        </p:nvSpPr>
        <p:spPr>
          <a:xfrm>
            <a:off x="658377" y="429775"/>
            <a:ext cx="108081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2500"/>
              <a:buFont typeface="Montserrat"/>
              <a:buNone/>
            </a:pPr>
            <a:r>
              <a:rPr b="1" i="0" lang="en-US" sz="41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Три устойчивых экономических типа</a:t>
            </a:r>
            <a:endParaRPr b="0" i="0" sz="41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1" name="Google Shape;391;p12"/>
          <p:cNvSpPr/>
          <p:nvPr/>
        </p:nvSpPr>
        <p:spPr>
          <a:xfrm>
            <a:off x="713225" y="1060708"/>
            <a:ext cx="97842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1050"/>
              <a:buFont typeface="Montserrat"/>
              <a:buNone/>
            </a:pPr>
            <a:r>
              <a:rPr b="0" i="0" lang="en-US" sz="180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Интерпретация строится по профилям пяти долей</a:t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92" name="Google Shape;392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368" y="1444752"/>
            <a:ext cx="6629400" cy="4251960"/>
          </a:xfrm>
          <a:prstGeom prst="rect">
            <a:avLst/>
          </a:prstGeom>
          <a:noFill/>
          <a:ln>
            <a:noFill/>
          </a:ln>
        </p:spPr>
      </p:pic>
      <p:sp>
        <p:nvSpPr>
          <p:cNvPr id="393" name="Google Shape;393;p12"/>
          <p:cNvSpPr/>
          <p:nvPr/>
        </p:nvSpPr>
        <p:spPr>
          <a:xfrm>
            <a:off x="7562088" y="1444752"/>
            <a:ext cx="3904488" cy="1152144"/>
          </a:xfrm>
          <a:prstGeom prst="roundRect">
            <a:avLst>
              <a:gd fmla="val 6349" name="adj"/>
            </a:avLst>
          </a:prstGeom>
          <a:solidFill>
            <a:srgbClr val="F1F5F8"/>
          </a:solidFill>
          <a:ln cap="flat" cmpd="sng" w="10150">
            <a:solidFill>
              <a:srgbClr val="E1D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12"/>
          <p:cNvSpPr/>
          <p:nvPr/>
        </p:nvSpPr>
        <p:spPr>
          <a:xfrm>
            <a:off x="7808914" y="1682572"/>
            <a:ext cx="183000" cy="183000"/>
          </a:xfrm>
          <a:prstGeom prst="ellipse">
            <a:avLst/>
          </a:prstGeom>
          <a:solidFill>
            <a:srgbClr val="AFC7D8"/>
          </a:solidFill>
          <a:ln cap="flat" cmpd="sng" w="10150">
            <a:solidFill>
              <a:srgbClr val="AFC7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12"/>
          <p:cNvSpPr/>
          <p:nvPr/>
        </p:nvSpPr>
        <p:spPr>
          <a:xfrm>
            <a:off x="8101659" y="1682570"/>
            <a:ext cx="2999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010"/>
              <a:buFont typeface="Montserrat"/>
              <a:buNone/>
            </a:pPr>
            <a:r>
              <a:rPr b="1" i="0" lang="en-US" sz="161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Маркетплейсно-</a:t>
            </a:r>
            <a:endParaRPr b="1" i="0" sz="1610" u="none" cap="none" strike="noStrike">
              <a:solidFill>
                <a:srgbClr val="24313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010"/>
              <a:buFont typeface="Montserrat"/>
              <a:buNone/>
            </a:pPr>
            <a:r>
              <a:rPr b="1" i="0" lang="en-US" sz="161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ориентированный</a:t>
            </a:r>
            <a:endParaRPr b="0" i="0" sz="161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6" name="Google Shape;396;p12"/>
          <p:cNvSpPr/>
          <p:nvPr/>
        </p:nvSpPr>
        <p:spPr>
          <a:xfrm>
            <a:off x="8069538" y="2104475"/>
            <a:ext cx="28896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860"/>
              <a:buFont typeface="Montserrat"/>
              <a:buNone/>
            </a:pPr>
            <a:r>
              <a:rPr b="0" i="0" lang="en-US" sz="106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~23% маркетплейсов; около 60% продовольствия</a:t>
            </a:r>
            <a:endParaRPr b="0" i="0" sz="106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7" name="Google Shape;397;p12"/>
          <p:cNvSpPr/>
          <p:nvPr/>
        </p:nvSpPr>
        <p:spPr>
          <a:xfrm>
            <a:off x="7562088" y="2834640"/>
            <a:ext cx="3904488" cy="1152144"/>
          </a:xfrm>
          <a:prstGeom prst="roundRect">
            <a:avLst>
              <a:gd fmla="val 6349" name="adj"/>
            </a:avLst>
          </a:prstGeom>
          <a:solidFill>
            <a:srgbClr val="F8F1EE"/>
          </a:solidFill>
          <a:ln cap="flat" cmpd="sng" w="10150">
            <a:solidFill>
              <a:srgbClr val="E1D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12"/>
          <p:cNvSpPr/>
          <p:nvPr/>
        </p:nvSpPr>
        <p:spPr>
          <a:xfrm>
            <a:off x="7767576" y="3090773"/>
            <a:ext cx="183000" cy="183000"/>
          </a:xfrm>
          <a:prstGeom prst="ellipse">
            <a:avLst/>
          </a:prstGeom>
          <a:solidFill>
            <a:srgbClr val="E4C4B8"/>
          </a:solidFill>
          <a:ln cap="flat" cmpd="sng" w="10150">
            <a:solidFill>
              <a:srgbClr val="E4C4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9" name="Google Shape;399;p12"/>
          <p:cNvSpPr/>
          <p:nvPr/>
        </p:nvSpPr>
        <p:spPr>
          <a:xfrm>
            <a:off x="8101584" y="3109070"/>
            <a:ext cx="2999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010"/>
              <a:buFont typeface="Montserrat"/>
              <a:buNone/>
            </a:pPr>
            <a:r>
              <a:rPr b="1" i="0" lang="en-US" sz="161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Диверсифицированный сервисный</a:t>
            </a:r>
            <a:endParaRPr b="0" i="0" sz="161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00" name="Google Shape;400;p12"/>
          <p:cNvSpPr/>
          <p:nvPr/>
        </p:nvSpPr>
        <p:spPr>
          <a:xfrm>
            <a:off x="8101522" y="3497542"/>
            <a:ext cx="29628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860"/>
              <a:buFont typeface="Montserrat"/>
              <a:buNone/>
            </a:pPr>
            <a:r>
              <a:rPr b="0" i="0" lang="en-US" sz="106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выше общепит и транспорт; ниже продовольственная доля</a:t>
            </a:r>
            <a:endParaRPr b="0" i="0" sz="106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01" name="Google Shape;401;p12"/>
          <p:cNvSpPr/>
          <p:nvPr/>
        </p:nvSpPr>
        <p:spPr>
          <a:xfrm>
            <a:off x="7562088" y="4224528"/>
            <a:ext cx="3904488" cy="1152144"/>
          </a:xfrm>
          <a:prstGeom prst="roundRect">
            <a:avLst>
              <a:gd fmla="val 6349" name="adj"/>
            </a:avLst>
          </a:prstGeom>
          <a:solidFill>
            <a:srgbClr val="F0F5F1"/>
          </a:solidFill>
          <a:ln cap="flat" cmpd="sng" w="10150">
            <a:solidFill>
              <a:srgbClr val="E1D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12"/>
          <p:cNvSpPr/>
          <p:nvPr/>
        </p:nvSpPr>
        <p:spPr>
          <a:xfrm>
            <a:off x="7767564" y="4498973"/>
            <a:ext cx="183000" cy="183000"/>
          </a:xfrm>
          <a:prstGeom prst="ellipse">
            <a:avLst/>
          </a:prstGeom>
          <a:solidFill>
            <a:srgbClr val="BFD2C4"/>
          </a:solidFill>
          <a:ln cap="flat" cmpd="sng" w="10150">
            <a:solidFill>
              <a:srgbClr val="BFD2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12"/>
          <p:cNvSpPr/>
          <p:nvPr/>
        </p:nvSpPr>
        <p:spPr>
          <a:xfrm>
            <a:off x="8101584" y="4444046"/>
            <a:ext cx="2999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010"/>
              <a:buFont typeface="Montserrat"/>
              <a:buNone/>
            </a:pPr>
            <a:r>
              <a:rPr b="1" i="0" lang="en-US" sz="161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Продовольственный</a:t>
            </a:r>
            <a:endParaRPr b="0" i="0" sz="161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04" name="Google Shape;404;p12"/>
          <p:cNvSpPr/>
          <p:nvPr/>
        </p:nvSpPr>
        <p:spPr>
          <a:xfrm>
            <a:off x="8101597" y="4796280"/>
            <a:ext cx="29628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860"/>
              <a:buFont typeface="Montserrat"/>
              <a:buNone/>
            </a:pPr>
            <a:r>
              <a:rPr b="0" i="0" lang="en-US" sz="106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~68% продовольствия и самая низкая доля маркетплейсов</a:t>
            </a:r>
            <a:endParaRPr b="0" i="0" sz="106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05" name="Google Shape;405;p12"/>
          <p:cNvSpPr/>
          <p:nvPr/>
        </p:nvSpPr>
        <p:spPr>
          <a:xfrm>
            <a:off x="7589520" y="5715000"/>
            <a:ext cx="3246120" cy="310896"/>
          </a:xfrm>
          <a:prstGeom prst="roundRect">
            <a:avLst>
              <a:gd fmla="val 17647" name="adj"/>
            </a:avLst>
          </a:prstGeom>
          <a:solidFill>
            <a:srgbClr val="E8D9B5"/>
          </a:solidFill>
          <a:ln cap="flat" cmpd="sng" w="12700">
            <a:solidFill>
              <a:srgbClr val="E8D9B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12"/>
          <p:cNvSpPr/>
          <p:nvPr/>
        </p:nvSpPr>
        <p:spPr>
          <a:xfrm>
            <a:off x="7690104" y="5779008"/>
            <a:ext cx="3044952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870"/>
              <a:buFont typeface="Montserrat"/>
              <a:buNone/>
            </a:pPr>
            <a:r>
              <a:rPr b="1" i="0" lang="en-US" sz="127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K = 3: лучший профиль по K=3…10</a:t>
            </a:r>
            <a:endParaRPr b="0" i="0" sz="127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07" name="Google Shape;407;p12"/>
          <p:cNvSpPr/>
          <p:nvPr/>
        </p:nvSpPr>
        <p:spPr>
          <a:xfrm>
            <a:off x="726957" y="5824858"/>
            <a:ext cx="64923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839"/>
              <a:buFont typeface="Montserrat"/>
              <a:buNone/>
            </a:pPr>
            <a:r>
              <a:rPr b="0" i="0" lang="en-US" sz="124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Названия типов – описательная интерпретация результата модели, а не официальная классификация.</a:t>
            </a:r>
            <a:endParaRPr b="0" i="0" sz="124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08" name="Google Shape;408;p12"/>
          <p:cNvSpPr txBox="1"/>
          <p:nvPr>
            <p:ph idx="4294967295" type="sldNum"/>
          </p:nvPr>
        </p:nvSpPr>
        <p:spPr>
          <a:xfrm>
            <a:off x="11686032" y="6528816"/>
            <a:ext cx="8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</a:pPr>
            <a:fld id="{00000000-1234-1234-1234-123412341234}" type="slidenum">
              <a:rPr b="0" i="0" lang="en-US" sz="700" u="none" cap="none" strike="noStrike">
                <a:solidFill>
                  <a:srgbClr val="9A9EA2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0" i="0" sz="700" u="none" cap="none" strike="noStrike">
              <a:solidFill>
                <a:srgbClr val="9A9EA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13"/>
          <p:cNvSpPr/>
          <p:nvPr/>
        </p:nvSpPr>
        <p:spPr>
          <a:xfrm>
            <a:off x="658375" y="537325"/>
            <a:ext cx="93123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2500"/>
              <a:buFont typeface="Montserrat"/>
              <a:buNone/>
            </a:pPr>
            <a:r>
              <a:rPr b="1" i="0" lang="en-US" sz="41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Как меняется структура типов во времени</a:t>
            </a:r>
            <a:endParaRPr b="0" i="0" sz="41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15" name="Google Shape;415;p13"/>
          <p:cNvSpPr/>
          <p:nvPr/>
        </p:nvSpPr>
        <p:spPr>
          <a:xfrm>
            <a:off x="728475" y="1437483"/>
            <a:ext cx="97842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1050"/>
              <a:buFont typeface="Montserrat"/>
              <a:buNone/>
            </a:pPr>
            <a:r>
              <a:rPr b="0" i="0" lang="en-US" sz="185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Доли municipality-month наблюдений по устойчивым экономическим типам</a:t>
            </a:r>
            <a:endParaRPr b="0" i="0" sz="185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16" name="Google Shape;416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8468" y="1801420"/>
            <a:ext cx="7726800" cy="4434900"/>
          </a:xfrm>
          <a:prstGeom prst="rect">
            <a:avLst/>
          </a:prstGeom>
          <a:noFill/>
          <a:ln>
            <a:noFill/>
          </a:ln>
        </p:spPr>
      </p:pic>
      <p:sp>
        <p:nvSpPr>
          <p:cNvPr id="417" name="Google Shape;417;p13"/>
          <p:cNvSpPr/>
          <p:nvPr/>
        </p:nvSpPr>
        <p:spPr>
          <a:xfrm>
            <a:off x="8720324" y="1828852"/>
            <a:ext cx="2743200" cy="4389000"/>
          </a:xfrm>
          <a:prstGeom prst="roundRect">
            <a:avLst>
              <a:gd fmla="val 2667" name="adj"/>
            </a:avLst>
          </a:prstGeom>
          <a:solidFill>
            <a:srgbClr val="FBFAF8"/>
          </a:solidFill>
          <a:ln cap="flat" cmpd="sng" w="10150">
            <a:solidFill>
              <a:srgbClr val="E1D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13"/>
          <p:cNvSpPr/>
          <p:nvPr/>
        </p:nvSpPr>
        <p:spPr>
          <a:xfrm>
            <a:off x="8994644" y="2201235"/>
            <a:ext cx="20118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300"/>
              <a:buFont typeface="Montserrat"/>
              <a:buNone/>
            </a:pPr>
            <a:r>
              <a:rPr b="1" i="0" lang="en-US" sz="19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Что видно на панели</a:t>
            </a:r>
            <a:endParaRPr b="0" i="0" sz="19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19" name="Google Shape;419;p13"/>
          <p:cNvSpPr/>
          <p:nvPr/>
        </p:nvSpPr>
        <p:spPr>
          <a:xfrm>
            <a:off x="8994644" y="2898760"/>
            <a:ext cx="2148900" cy="93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939"/>
              <a:buFont typeface="Montserrat"/>
              <a:buNone/>
            </a:pPr>
            <a:r>
              <a:rPr b="0" i="0" lang="en-US" sz="114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Структура типов меняется по месяцам: в 2023 году продовольственный тип занимает заметную долю панели, а в 2024 году возрастает доля маркетплейсно-ориентированного типа.</a:t>
            </a:r>
            <a:endParaRPr b="0" i="0" sz="114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20" name="Google Shape;420;p13"/>
          <p:cNvSpPr/>
          <p:nvPr/>
        </p:nvSpPr>
        <p:spPr>
          <a:xfrm>
            <a:off x="8994719" y="4218357"/>
            <a:ext cx="1737300" cy="310800"/>
          </a:xfrm>
          <a:prstGeom prst="roundRect">
            <a:avLst>
              <a:gd fmla="val 17647" name="adj"/>
            </a:avLst>
          </a:prstGeom>
          <a:solidFill>
            <a:srgbClr val="AFC7D8"/>
          </a:solidFill>
          <a:ln cap="flat" cmpd="sng" w="12700">
            <a:solidFill>
              <a:srgbClr val="AFC7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" name="Google Shape;421;p13"/>
          <p:cNvSpPr/>
          <p:nvPr/>
        </p:nvSpPr>
        <p:spPr>
          <a:xfrm>
            <a:off x="9095228" y="4291390"/>
            <a:ext cx="15363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870"/>
              <a:buFont typeface="Montserrat"/>
              <a:buNone/>
            </a:pPr>
            <a:r>
              <a:rPr b="1" i="0" lang="en-US" sz="137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Ян. 23 → Дек. 24</a:t>
            </a:r>
            <a:endParaRPr b="0" i="0" sz="137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22" name="Google Shape;422;p13"/>
          <p:cNvSpPr/>
          <p:nvPr/>
        </p:nvSpPr>
        <p:spPr>
          <a:xfrm>
            <a:off x="8994644" y="4801495"/>
            <a:ext cx="21489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920"/>
              <a:buFont typeface="Montserrat"/>
              <a:buNone/>
            </a:pPr>
            <a:r>
              <a:rPr b="0" i="0" lang="en-US" sz="122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Эта динамика – один из основных результатов именно сетевого и временного подхода.</a:t>
            </a:r>
            <a:endParaRPr b="0" i="0" sz="122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23" name="Google Shape;423;p13"/>
          <p:cNvSpPr/>
          <p:nvPr/>
        </p:nvSpPr>
        <p:spPr>
          <a:xfrm>
            <a:off x="8990144" y="5713879"/>
            <a:ext cx="2157900" cy="28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710"/>
              <a:buFont typeface="Montserrat"/>
              <a:buNone/>
            </a:pPr>
            <a:r>
              <a:rPr b="0" i="0" lang="en-US" sz="101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Источник: monthly_economic_type_shares_final_125.csv</a:t>
            </a:r>
            <a:endParaRPr b="0" i="0" sz="101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24" name="Google Shape;424;p13"/>
          <p:cNvSpPr txBox="1"/>
          <p:nvPr>
            <p:ph idx="4294967295" type="sldNum"/>
          </p:nvPr>
        </p:nvSpPr>
        <p:spPr>
          <a:xfrm>
            <a:off x="11686032" y="6528816"/>
            <a:ext cx="8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</a:pPr>
            <a:fld id="{00000000-1234-1234-1234-123412341234}" type="slidenum">
              <a:rPr b="0" i="0" lang="en-US" sz="700" u="none" cap="none" strike="noStrike">
                <a:solidFill>
                  <a:srgbClr val="9A9EA2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0" i="0" sz="700" u="none" cap="none" strike="noStrike">
              <a:solidFill>
                <a:srgbClr val="9A9EA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5F2"/>
        </a:solidFill>
      </p:bgPr>
    </p:bg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14"/>
          <p:cNvSpPr txBox="1"/>
          <p:nvPr/>
        </p:nvSpPr>
        <p:spPr>
          <a:xfrm>
            <a:off x="658376" y="429775"/>
            <a:ext cx="110277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Переходы муниципалитетов между типами</a:t>
            </a:r>
            <a:endParaRPr b="1" sz="20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30" name="Google Shape;430;p14"/>
          <p:cNvSpPr txBox="1"/>
          <p:nvPr/>
        </p:nvSpPr>
        <p:spPr>
          <a:xfrm>
            <a:off x="685800" y="978408"/>
            <a:ext cx="100584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85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Сумма 23 последовательных месячных переходов: январь 2023 → декабрь 2024</a:t>
            </a:r>
            <a:endParaRPr sz="22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descr="sankey_transitions.png" id="431" name="Google Shape;431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368" y="1417320"/>
            <a:ext cx="8001000" cy="4251960"/>
          </a:xfrm>
          <a:prstGeom prst="rect">
            <a:avLst/>
          </a:prstGeom>
          <a:noFill/>
          <a:ln>
            <a:noFill/>
          </a:ln>
        </p:spPr>
      </p:pic>
      <p:sp>
        <p:nvSpPr>
          <p:cNvPr id="432" name="Google Shape;432;p14"/>
          <p:cNvSpPr txBox="1"/>
          <p:nvPr/>
        </p:nvSpPr>
        <p:spPr>
          <a:xfrm>
            <a:off x="502920" y="1389888"/>
            <a:ext cx="1828800" cy="29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19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Тип в месяце t</a:t>
            </a:r>
            <a:endParaRPr sz="1800"/>
          </a:p>
        </p:txBody>
      </p:sp>
      <p:sp>
        <p:nvSpPr>
          <p:cNvPr id="433" name="Google Shape;433;p14"/>
          <p:cNvSpPr txBox="1"/>
          <p:nvPr/>
        </p:nvSpPr>
        <p:spPr>
          <a:xfrm>
            <a:off x="7145455" y="1389888"/>
            <a:ext cx="1828800" cy="29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19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Тип в месяце t+1</a:t>
            </a:r>
            <a:endParaRPr sz="1800"/>
          </a:p>
        </p:txBody>
      </p:sp>
      <p:sp>
        <p:nvSpPr>
          <p:cNvPr id="434" name="Google Shape;434;p14"/>
          <p:cNvSpPr txBox="1"/>
          <p:nvPr/>
        </p:nvSpPr>
        <p:spPr>
          <a:xfrm>
            <a:off x="731458" y="1779409"/>
            <a:ext cx="20118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Маркетплейсно-</a:t>
            </a:r>
            <a:br>
              <a:rPr b="1" i="0" lang="en-US" sz="13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1" i="0" lang="en-US" sz="13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ориентированный</a:t>
            </a:r>
            <a:endParaRPr sz="1300"/>
          </a:p>
        </p:txBody>
      </p:sp>
      <p:sp>
        <p:nvSpPr>
          <p:cNvPr id="435" name="Google Shape;435;p14"/>
          <p:cNvSpPr txBox="1"/>
          <p:nvPr/>
        </p:nvSpPr>
        <p:spPr>
          <a:xfrm>
            <a:off x="805920" y="2242100"/>
            <a:ext cx="1371600" cy="26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4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19 716</a:t>
            </a:r>
            <a:endParaRPr sz="1800"/>
          </a:p>
        </p:txBody>
      </p:sp>
      <p:sp>
        <p:nvSpPr>
          <p:cNvPr id="436" name="Google Shape;436;p14"/>
          <p:cNvSpPr txBox="1"/>
          <p:nvPr/>
        </p:nvSpPr>
        <p:spPr>
          <a:xfrm>
            <a:off x="6546850" y="1830625"/>
            <a:ext cx="20118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25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Маркетплейсно-</a:t>
            </a:r>
            <a:br>
              <a:rPr b="1" i="0" lang="en-US" sz="1325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1" i="0" lang="en-US" sz="1325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ориентированный</a:t>
            </a:r>
            <a:endParaRPr sz="2000"/>
          </a:p>
        </p:txBody>
      </p:sp>
      <p:sp>
        <p:nvSpPr>
          <p:cNvPr id="437" name="Google Shape;437;p14"/>
          <p:cNvSpPr txBox="1"/>
          <p:nvPr/>
        </p:nvSpPr>
        <p:spPr>
          <a:xfrm>
            <a:off x="7388352" y="2293750"/>
            <a:ext cx="1051500" cy="2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1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21 006</a:t>
            </a:r>
            <a:endParaRPr sz="1800"/>
          </a:p>
        </p:txBody>
      </p:sp>
      <p:sp>
        <p:nvSpPr>
          <p:cNvPr id="438" name="Google Shape;438;p14"/>
          <p:cNvSpPr txBox="1"/>
          <p:nvPr/>
        </p:nvSpPr>
        <p:spPr>
          <a:xfrm>
            <a:off x="731525" y="3561100"/>
            <a:ext cx="27285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69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Диверсифицированный</a:t>
            </a:r>
            <a:endParaRPr sz="1900"/>
          </a:p>
        </p:txBody>
      </p:sp>
      <p:sp>
        <p:nvSpPr>
          <p:cNvPr id="439" name="Google Shape;439;p14"/>
          <p:cNvSpPr txBox="1"/>
          <p:nvPr/>
        </p:nvSpPr>
        <p:spPr>
          <a:xfrm>
            <a:off x="731520" y="3936007"/>
            <a:ext cx="1371600" cy="26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4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9 840</a:t>
            </a:r>
            <a:endParaRPr sz="1800"/>
          </a:p>
        </p:txBody>
      </p:sp>
      <p:sp>
        <p:nvSpPr>
          <p:cNvPr id="440" name="Google Shape;440;p14"/>
          <p:cNvSpPr txBox="1"/>
          <p:nvPr/>
        </p:nvSpPr>
        <p:spPr>
          <a:xfrm>
            <a:off x="6014700" y="3684075"/>
            <a:ext cx="25437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Диверсифицированный</a:t>
            </a:r>
            <a:endParaRPr sz="1300"/>
          </a:p>
        </p:txBody>
      </p:sp>
      <p:sp>
        <p:nvSpPr>
          <p:cNvPr id="441" name="Google Shape;441;p14"/>
          <p:cNvSpPr txBox="1"/>
          <p:nvPr/>
        </p:nvSpPr>
        <p:spPr>
          <a:xfrm>
            <a:off x="7388352" y="4031551"/>
            <a:ext cx="1051500" cy="2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1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9 936</a:t>
            </a:r>
            <a:endParaRPr sz="1800"/>
          </a:p>
        </p:txBody>
      </p:sp>
      <p:sp>
        <p:nvSpPr>
          <p:cNvPr id="442" name="Google Shape;442;p14"/>
          <p:cNvSpPr txBox="1"/>
          <p:nvPr/>
        </p:nvSpPr>
        <p:spPr>
          <a:xfrm>
            <a:off x="731527" y="4587550"/>
            <a:ext cx="26418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69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Продовольственный</a:t>
            </a:r>
            <a:endParaRPr sz="1900"/>
          </a:p>
        </p:txBody>
      </p:sp>
      <p:sp>
        <p:nvSpPr>
          <p:cNvPr id="443" name="Google Shape;443;p14"/>
          <p:cNvSpPr txBox="1"/>
          <p:nvPr/>
        </p:nvSpPr>
        <p:spPr>
          <a:xfrm>
            <a:off x="731520" y="4962446"/>
            <a:ext cx="1371600" cy="26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4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18 667</a:t>
            </a:r>
            <a:endParaRPr sz="1800"/>
          </a:p>
        </p:txBody>
      </p:sp>
      <p:sp>
        <p:nvSpPr>
          <p:cNvPr id="444" name="Google Shape;444;p14"/>
          <p:cNvSpPr txBox="1"/>
          <p:nvPr/>
        </p:nvSpPr>
        <p:spPr>
          <a:xfrm>
            <a:off x="6411550" y="4717625"/>
            <a:ext cx="2147100" cy="29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25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Продовольственный</a:t>
            </a:r>
            <a:endParaRPr sz="2000"/>
          </a:p>
        </p:txBody>
      </p:sp>
      <p:sp>
        <p:nvSpPr>
          <p:cNvPr id="445" name="Google Shape;445;p14"/>
          <p:cNvSpPr txBox="1"/>
          <p:nvPr/>
        </p:nvSpPr>
        <p:spPr>
          <a:xfrm>
            <a:off x="7388352" y="5065100"/>
            <a:ext cx="1051500" cy="2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1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17 281</a:t>
            </a:r>
            <a:endParaRPr sz="1800"/>
          </a:p>
        </p:txBody>
      </p:sp>
      <p:sp>
        <p:nvSpPr>
          <p:cNvPr id="446" name="Google Shape;446;p14"/>
          <p:cNvSpPr/>
          <p:nvPr/>
        </p:nvSpPr>
        <p:spPr>
          <a:xfrm>
            <a:off x="8796528" y="1673352"/>
            <a:ext cx="2450592" cy="3840480"/>
          </a:xfrm>
          <a:prstGeom prst="roundRect">
            <a:avLst>
              <a:gd fmla="val 16667" name="adj"/>
            </a:avLst>
          </a:prstGeom>
          <a:solidFill>
            <a:srgbClr val="FBFAF8"/>
          </a:solidFill>
          <a:ln cap="flat" cmpd="sng" w="10150">
            <a:solidFill>
              <a:srgbClr val="E1DED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p14"/>
          <p:cNvSpPr txBox="1"/>
          <p:nvPr/>
        </p:nvSpPr>
        <p:spPr>
          <a:xfrm>
            <a:off x="9070848" y="1892807"/>
            <a:ext cx="19203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Что видно в потоках</a:t>
            </a:r>
            <a:endParaRPr sz="1800"/>
          </a:p>
        </p:txBody>
      </p:sp>
      <p:sp>
        <p:nvSpPr>
          <p:cNvPr id="448" name="Google Shape;448;p14"/>
          <p:cNvSpPr txBox="1"/>
          <p:nvPr/>
        </p:nvSpPr>
        <p:spPr>
          <a:xfrm>
            <a:off x="9070848" y="2487168"/>
            <a:ext cx="1828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85.5%</a:t>
            </a:r>
            <a:endParaRPr sz="1600"/>
          </a:p>
        </p:txBody>
      </p:sp>
      <p:sp>
        <p:nvSpPr>
          <p:cNvPr id="449" name="Google Shape;449;p14"/>
          <p:cNvSpPr txBox="1"/>
          <p:nvPr/>
        </p:nvSpPr>
        <p:spPr>
          <a:xfrm>
            <a:off x="9070848" y="2944368"/>
            <a:ext cx="1920300" cy="6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19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переходов сохраняют</a:t>
            </a:r>
            <a:br>
              <a:rPr b="0" i="0" lang="en-US" sz="1119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0" i="0" lang="en-US" sz="1119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тот же экономический тип</a:t>
            </a:r>
            <a:endParaRPr sz="1600"/>
          </a:p>
        </p:txBody>
      </p:sp>
      <p:sp>
        <p:nvSpPr>
          <p:cNvPr id="450" name="Google Shape;450;p14"/>
          <p:cNvSpPr/>
          <p:nvPr/>
        </p:nvSpPr>
        <p:spPr>
          <a:xfrm>
            <a:off x="9070848" y="3639312"/>
            <a:ext cx="1901952" cy="329184"/>
          </a:xfrm>
          <a:prstGeom prst="roundRect">
            <a:avLst>
              <a:gd fmla="val 16667" name="adj"/>
            </a:avLst>
          </a:prstGeom>
          <a:solidFill>
            <a:srgbClr val="E8D9B5"/>
          </a:solidFill>
          <a:ln cap="flat" cmpd="sng" w="10150">
            <a:solidFill>
              <a:srgbClr val="E8D9B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" name="Google Shape;451;p14"/>
          <p:cNvSpPr txBox="1"/>
          <p:nvPr/>
        </p:nvSpPr>
        <p:spPr>
          <a:xfrm>
            <a:off x="9171349" y="3664550"/>
            <a:ext cx="1719300" cy="27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1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6 976 переходов</a:t>
            </a:r>
            <a:endParaRPr sz="1800"/>
          </a:p>
        </p:txBody>
      </p:sp>
      <p:sp>
        <p:nvSpPr>
          <p:cNvPr id="452" name="Google Shape;452;p14"/>
          <p:cNvSpPr txBox="1"/>
          <p:nvPr/>
        </p:nvSpPr>
        <p:spPr>
          <a:xfrm>
            <a:off x="9070848" y="4160520"/>
            <a:ext cx="1828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14.5%</a:t>
            </a:r>
            <a:endParaRPr sz="2000"/>
          </a:p>
        </p:txBody>
      </p:sp>
      <p:sp>
        <p:nvSpPr>
          <p:cNvPr id="453" name="Google Shape;453;p14"/>
          <p:cNvSpPr txBox="1"/>
          <p:nvPr/>
        </p:nvSpPr>
        <p:spPr>
          <a:xfrm>
            <a:off x="9070848" y="4616062"/>
            <a:ext cx="1920300" cy="6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19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переходов сопровождаются</a:t>
            </a:r>
            <a:br>
              <a:rPr b="0" i="0" lang="en-US" sz="1119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0" i="0" lang="en-US" sz="1119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сменой типа</a:t>
            </a:r>
            <a:endParaRPr sz="1600"/>
          </a:p>
        </p:txBody>
      </p:sp>
      <p:sp>
        <p:nvSpPr>
          <p:cNvPr id="454" name="Google Shape;454;p14"/>
          <p:cNvSpPr txBox="1"/>
          <p:nvPr/>
        </p:nvSpPr>
        <p:spPr>
          <a:xfrm>
            <a:off x="685800" y="5897880"/>
            <a:ext cx="10241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8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Sankey агрегирует переходы между соседними месяцами; это поток переходов, а не число уникальных муниципалитетов.</a:t>
            </a:r>
            <a:endParaRPr sz="1800"/>
          </a:p>
        </p:txBody>
      </p:sp>
      <p:sp>
        <p:nvSpPr>
          <p:cNvPr id="455" name="Google Shape;455;p14"/>
          <p:cNvSpPr txBox="1"/>
          <p:nvPr/>
        </p:nvSpPr>
        <p:spPr>
          <a:xfrm>
            <a:off x="685800" y="6198972"/>
            <a:ext cx="7315200" cy="2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0" u="none" cap="none" strike="noStrike">
                <a:solidFill>
                  <a:srgbClr val="8B9093"/>
                </a:solidFill>
                <a:latin typeface="Montserrat"/>
                <a:ea typeface="Montserrat"/>
                <a:cs typeface="Montserrat"/>
                <a:sym typeface="Montserrat"/>
              </a:rPr>
              <a:t>Источник: economic_type_transitions_final_125.csv</a:t>
            </a:r>
            <a:endParaRPr sz="1700"/>
          </a:p>
        </p:txBody>
      </p:sp>
      <p:sp>
        <p:nvSpPr>
          <p:cNvPr id="456" name="Google Shape;456;p14"/>
          <p:cNvSpPr/>
          <p:nvPr/>
        </p:nvSpPr>
        <p:spPr>
          <a:xfrm>
            <a:off x="685800" y="6419088"/>
            <a:ext cx="10607040" cy="7315"/>
          </a:xfrm>
          <a:prstGeom prst="rect">
            <a:avLst/>
          </a:prstGeom>
          <a:solidFill>
            <a:srgbClr val="E1DED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p14"/>
          <p:cNvSpPr txBox="1"/>
          <p:nvPr/>
        </p:nvSpPr>
        <p:spPr>
          <a:xfrm>
            <a:off x="685800" y="6473952"/>
            <a:ext cx="36576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8B9093"/>
                </a:solidFill>
                <a:latin typeface="Montserrat"/>
                <a:ea typeface="Montserrat"/>
                <a:cs typeface="Montserrat"/>
                <a:sym typeface="Montserrat"/>
              </a:rPr>
              <a:t>SberIndex • динамическая атрибутированная сеть</a:t>
            </a:r>
            <a:endParaRPr/>
          </a:p>
        </p:txBody>
      </p:sp>
      <p:sp>
        <p:nvSpPr>
          <p:cNvPr id="458" name="Google Shape;458;p14"/>
          <p:cNvSpPr txBox="1"/>
          <p:nvPr/>
        </p:nvSpPr>
        <p:spPr>
          <a:xfrm>
            <a:off x="9921240" y="647395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8B9093"/>
                </a:solidFill>
                <a:latin typeface="Montserrat"/>
                <a:ea typeface="Montserrat"/>
                <a:cs typeface="Montserrat"/>
                <a:sym typeface="Montserrat"/>
              </a:rPr>
              <a:t>01–15 • 2023–2024</a:t>
            </a:r>
            <a:endParaRPr/>
          </a:p>
        </p:txBody>
      </p:sp>
      <p:sp>
        <p:nvSpPr>
          <p:cNvPr id="459" name="Google Shape;459;p14"/>
          <p:cNvSpPr txBox="1"/>
          <p:nvPr/>
        </p:nvSpPr>
        <p:spPr>
          <a:xfrm>
            <a:off x="11686032" y="6528816"/>
            <a:ext cx="795528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11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15"/>
          <p:cNvSpPr/>
          <p:nvPr/>
        </p:nvSpPr>
        <p:spPr>
          <a:xfrm>
            <a:off x="658368" y="429768"/>
            <a:ext cx="81381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2500"/>
              <a:buFont typeface="Montserrat"/>
              <a:buNone/>
            </a:pPr>
            <a:r>
              <a:rPr b="1" i="0" lang="en-US" sz="41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Финальная оценка</a:t>
            </a:r>
            <a:endParaRPr b="0" i="0" sz="41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66" name="Google Shape;466;p15"/>
          <p:cNvSpPr/>
          <p:nvPr/>
        </p:nvSpPr>
        <p:spPr>
          <a:xfrm>
            <a:off x="685800" y="978408"/>
            <a:ext cx="9784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1050"/>
              <a:buFont typeface="Montserrat"/>
              <a:buNone/>
            </a:pPr>
            <a:r>
              <a:rPr b="0" i="0" lang="en-US" sz="185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Итог по 50 521 municipality-month наблюдению</a:t>
            </a:r>
            <a:endParaRPr b="0" i="0" sz="185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67" name="Google Shape;467;p15"/>
          <p:cNvSpPr/>
          <p:nvPr/>
        </p:nvSpPr>
        <p:spPr>
          <a:xfrm>
            <a:off x="685688" y="1758953"/>
            <a:ext cx="2469000" cy="1417200"/>
          </a:xfrm>
          <a:prstGeom prst="roundRect">
            <a:avLst>
              <a:gd fmla="val 5161" name="adj"/>
            </a:avLst>
          </a:prstGeom>
          <a:solidFill>
            <a:srgbClr val="AFC7D8"/>
          </a:solidFill>
          <a:ln cap="flat" cmpd="sng" w="10150">
            <a:solidFill>
              <a:srgbClr val="E1D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" name="Google Shape;468;p15"/>
          <p:cNvSpPr/>
          <p:nvPr/>
        </p:nvSpPr>
        <p:spPr>
          <a:xfrm>
            <a:off x="850279" y="1914401"/>
            <a:ext cx="213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920"/>
              <a:buFont typeface="Montserrat"/>
              <a:buNone/>
            </a:pPr>
            <a:r>
              <a:rPr b="1" i="0" lang="en-US" sz="162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Silhouette</a:t>
            </a:r>
            <a:endParaRPr b="0" i="0" sz="162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69" name="Google Shape;469;p15"/>
          <p:cNvSpPr/>
          <p:nvPr/>
        </p:nvSpPr>
        <p:spPr>
          <a:xfrm>
            <a:off x="850279" y="2216153"/>
            <a:ext cx="21396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2200"/>
              <a:buFont typeface="Montserrat"/>
              <a:buNone/>
            </a:pPr>
            <a:r>
              <a:rPr b="1" i="0" lang="en-US" sz="30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0.3456</a:t>
            </a:r>
            <a:endParaRPr b="0" i="0" sz="30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70" name="Google Shape;470;p15"/>
          <p:cNvSpPr/>
          <p:nvPr/>
        </p:nvSpPr>
        <p:spPr>
          <a:xfrm>
            <a:off x="850279" y="2778514"/>
            <a:ext cx="21396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760"/>
              <a:buFont typeface="Montserrat"/>
              <a:buNone/>
            </a:pPr>
            <a:r>
              <a:rPr b="0" i="0" lang="en-US" sz="136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финальная типология, K = 3</a:t>
            </a:r>
            <a:endParaRPr b="0" i="0" sz="136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71" name="Google Shape;471;p15"/>
          <p:cNvSpPr/>
          <p:nvPr/>
        </p:nvSpPr>
        <p:spPr>
          <a:xfrm>
            <a:off x="3319160" y="1758953"/>
            <a:ext cx="2469000" cy="1417200"/>
          </a:xfrm>
          <a:prstGeom prst="roundRect">
            <a:avLst>
              <a:gd fmla="val 5161" name="adj"/>
            </a:avLst>
          </a:prstGeom>
          <a:solidFill>
            <a:srgbClr val="BFD2C4"/>
          </a:solidFill>
          <a:ln cap="flat" cmpd="sng" w="10150">
            <a:solidFill>
              <a:srgbClr val="E1D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" name="Google Shape;472;p15"/>
          <p:cNvSpPr/>
          <p:nvPr/>
        </p:nvSpPr>
        <p:spPr>
          <a:xfrm>
            <a:off x="3483752" y="1914401"/>
            <a:ext cx="213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920"/>
              <a:buFont typeface="Montserrat"/>
              <a:buNone/>
            </a:pPr>
            <a:r>
              <a:rPr b="1" i="0" lang="en-US" sz="162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Calinski–Harabasz</a:t>
            </a:r>
            <a:endParaRPr b="0" i="0" sz="162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73" name="Google Shape;473;p15"/>
          <p:cNvSpPr/>
          <p:nvPr/>
        </p:nvSpPr>
        <p:spPr>
          <a:xfrm>
            <a:off x="3483752" y="2216153"/>
            <a:ext cx="21396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2200"/>
              <a:buFont typeface="Montserrat"/>
              <a:buNone/>
            </a:pPr>
            <a:r>
              <a:rPr b="1" i="0" lang="en-US" sz="30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38 527.26</a:t>
            </a:r>
            <a:endParaRPr b="0" i="0" sz="30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74" name="Google Shape;474;p15"/>
          <p:cNvSpPr/>
          <p:nvPr/>
        </p:nvSpPr>
        <p:spPr>
          <a:xfrm>
            <a:off x="3483789" y="2778452"/>
            <a:ext cx="21396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760"/>
              <a:buFont typeface="Montserrat"/>
              <a:buNone/>
            </a:pPr>
            <a:r>
              <a:rPr b="0" i="0" lang="en-US" sz="136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на всей панели</a:t>
            </a:r>
            <a:endParaRPr b="0" i="0" sz="136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75" name="Google Shape;475;p15"/>
          <p:cNvSpPr/>
          <p:nvPr/>
        </p:nvSpPr>
        <p:spPr>
          <a:xfrm>
            <a:off x="5952632" y="1758953"/>
            <a:ext cx="2469000" cy="1417200"/>
          </a:xfrm>
          <a:prstGeom prst="roundRect">
            <a:avLst>
              <a:gd fmla="val 5161" name="adj"/>
            </a:avLst>
          </a:prstGeom>
          <a:solidFill>
            <a:srgbClr val="E4C4B8"/>
          </a:solidFill>
          <a:ln cap="flat" cmpd="sng" w="10150">
            <a:solidFill>
              <a:srgbClr val="E1D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" name="Google Shape;476;p15"/>
          <p:cNvSpPr/>
          <p:nvPr/>
        </p:nvSpPr>
        <p:spPr>
          <a:xfrm>
            <a:off x="6117224" y="1914401"/>
            <a:ext cx="213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920"/>
              <a:buFont typeface="Montserrat"/>
              <a:buNone/>
            </a:pPr>
            <a:r>
              <a:rPr b="1" i="0" lang="en-US" sz="162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ARI vs 1.50</a:t>
            </a:r>
            <a:endParaRPr b="0" i="0" sz="162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77" name="Google Shape;477;p15"/>
          <p:cNvSpPr/>
          <p:nvPr/>
        </p:nvSpPr>
        <p:spPr>
          <a:xfrm>
            <a:off x="6117224" y="2216153"/>
            <a:ext cx="21396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2200"/>
              <a:buFont typeface="Montserrat"/>
              <a:buNone/>
            </a:pPr>
            <a:r>
              <a:rPr b="1" i="0" lang="en-US" sz="30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0.8723</a:t>
            </a:r>
            <a:endParaRPr b="0" i="0" sz="30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78" name="Google Shape;478;p15"/>
          <p:cNvSpPr/>
          <p:nvPr/>
        </p:nvSpPr>
        <p:spPr>
          <a:xfrm>
            <a:off x="6117236" y="2778514"/>
            <a:ext cx="21396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760"/>
              <a:buFont typeface="Montserrat"/>
              <a:buNone/>
            </a:pPr>
            <a:r>
              <a:rPr b="0" i="0" lang="en-US" sz="136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согласованность типологий</a:t>
            </a:r>
            <a:endParaRPr b="0" i="0" sz="136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79" name="Google Shape;479;p15"/>
          <p:cNvSpPr/>
          <p:nvPr/>
        </p:nvSpPr>
        <p:spPr>
          <a:xfrm>
            <a:off x="8586104" y="1758953"/>
            <a:ext cx="2469000" cy="1417200"/>
          </a:xfrm>
          <a:prstGeom prst="roundRect">
            <a:avLst>
              <a:gd fmla="val 5161" name="adj"/>
            </a:avLst>
          </a:prstGeom>
          <a:solidFill>
            <a:srgbClr val="C9C5E1"/>
          </a:solidFill>
          <a:ln cap="flat" cmpd="sng" w="10150">
            <a:solidFill>
              <a:srgbClr val="E1D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5"/>
          <p:cNvSpPr/>
          <p:nvPr/>
        </p:nvSpPr>
        <p:spPr>
          <a:xfrm>
            <a:off x="8750696" y="1914401"/>
            <a:ext cx="213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920"/>
              <a:buFont typeface="Montserrat"/>
              <a:buNone/>
            </a:pPr>
            <a:r>
              <a:rPr b="1" i="0" lang="en-US" sz="162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Exact match rate</a:t>
            </a:r>
            <a:endParaRPr b="0" i="0" sz="162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81" name="Google Shape;481;p15"/>
          <p:cNvSpPr/>
          <p:nvPr/>
        </p:nvSpPr>
        <p:spPr>
          <a:xfrm>
            <a:off x="8750696" y="2216153"/>
            <a:ext cx="21396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2200"/>
              <a:buFont typeface="Montserrat"/>
              <a:buNone/>
            </a:pPr>
            <a:r>
              <a:rPr b="1" i="0" lang="en-US" sz="30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95.85%</a:t>
            </a:r>
            <a:endParaRPr b="0" i="0" sz="30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82" name="Google Shape;482;p15"/>
          <p:cNvSpPr/>
          <p:nvPr/>
        </p:nvSpPr>
        <p:spPr>
          <a:xfrm>
            <a:off x="8750771" y="2778502"/>
            <a:ext cx="21396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760"/>
              <a:buFont typeface="Montserrat"/>
              <a:buNone/>
            </a:pPr>
            <a:r>
              <a:rPr b="0" i="0" lang="en-US" sz="136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семантических меток</a:t>
            </a:r>
            <a:endParaRPr b="0" i="0" sz="136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83" name="Google Shape;483;p15"/>
          <p:cNvSpPr/>
          <p:nvPr/>
        </p:nvSpPr>
        <p:spPr>
          <a:xfrm>
            <a:off x="685800" y="3764350"/>
            <a:ext cx="10369200" cy="2084700"/>
          </a:xfrm>
          <a:prstGeom prst="roundRect">
            <a:avLst>
              <a:gd fmla="val 3509" name="adj"/>
            </a:avLst>
          </a:prstGeom>
          <a:solidFill>
            <a:srgbClr val="FBFAF8"/>
          </a:solidFill>
          <a:ln cap="flat" cmpd="sng" w="10150">
            <a:solidFill>
              <a:srgbClr val="E1D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5"/>
          <p:cNvSpPr/>
          <p:nvPr/>
        </p:nvSpPr>
        <p:spPr>
          <a:xfrm>
            <a:off x="987547" y="4084400"/>
            <a:ext cx="5994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300"/>
              <a:buFont typeface="Montserrat"/>
              <a:buNone/>
            </a:pPr>
            <a:r>
              <a:rPr b="1" i="0" lang="en-US" sz="26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Финальная конфигурация</a:t>
            </a:r>
            <a:endParaRPr b="0" i="0" sz="26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85" name="Google Shape;485;p15"/>
          <p:cNvSpPr/>
          <p:nvPr/>
        </p:nvSpPr>
        <p:spPr>
          <a:xfrm>
            <a:off x="987552" y="4495870"/>
            <a:ext cx="1600200" cy="310800"/>
          </a:xfrm>
          <a:prstGeom prst="roundRect">
            <a:avLst>
              <a:gd fmla="val 17647" name="adj"/>
            </a:avLst>
          </a:prstGeom>
          <a:solidFill>
            <a:srgbClr val="AFC7D8"/>
          </a:solidFill>
          <a:ln cap="flat" cmpd="sng" w="12700">
            <a:solidFill>
              <a:srgbClr val="AFC7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15"/>
          <p:cNvSpPr/>
          <p:nvPr/>
        </p:nvSpPr>
        <p:spPr>
          <a:xfrm>
            <a:off x="1088136" y="4559878"/>
            <a:ext cx="13989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870"/>
              <a:buFont typeface="Montserrat"/>
              <a:buNone/>
            </a:pPr>
            <a:r>
              <a:rPr b="1" i="0" lang="en-US" sz="137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resolution 1.25</a:t>
            </a:r>
            <a:endParaRPr b="0" i="0" sz="137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87" name="Google Shape;487;p15"/>
          <p:cNvSpPr/>
          <p:nvPr/>
        </p:nvSpPr>
        <p:spPr>
          <a:xfrm>
            <a:off x="2752344" y="4495870"/>
            <a:ext cx="1051500" cy="310800"/>
          </a:xfrm>
          <a:prstGeom prst="roundRect">
            <a:avLst>
              <a:gd fmla="val 17647" name="adj"/>
            </a:avLst>
          </a:prstGeom>
          <a:solidFill>
            <a:srgbClr val="BFD2C4"/>
          </a:solidFill>
          <a:ln cap="flat" cmpd="sng" w="12700">
            <a:solidFill>
              <a:srgbClr val="BFD2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" name="Google Shape;488;p15"/>
          <p:cNvSpPr/>
          <p:nvPr/>
        </p:nvSpPr>
        <p:spPr>
          <a:xfrm>
            <a:off x="2852928" y="4559878"/>
            <a:ext cx="8505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870"/>
              <a:buFont typeface="Montserrat"/>
              <a:buNone/>
            </a:pPr>
            <a:r>
              <a:rPr b="1" i="0" lang="en-US" sz="137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k = 10</a:t>
            </a:r>
            <a:endParaRPr b="0" i="0" sz="137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89" name="Google Shape;489;p15"/>
          <p:cNvSpPr/>
          <p:nvPr/>
        </p:nvSpPr>
        <p:spPr>
          <a:xfrm>
            <a:off x="3977640" y="4495870"/>
            <a:ext cx="1097400" cy="310800"/>
          </a:xfrm>
          <a:prstGeom prst="roundRect">
            <a:avLst>
              <a:gd fmla="val 17647" name="adj"/>
            </a:avLst>
          </a:prstGeom>
          <a:solidFill>
            <a:srgbClr val="E4C4B8"/>
          </a:solidFill>
          <a:ln cap="flat" cmpd="sng" w="12700">
            <a:solidFill>
              <a:srgbClr val="E4C4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p15"/>
          <p:cNvSpPr/>
          <p:nvPr/>
        </p:nvSpPr>
        <p:spPr>
          <a:xfrm>
            <a:off x="4078224" y="4559878"/>
            <a:ext cx="8961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870"/>
              <a:buFont typeface="Montserrat"/>
              <a:buNone/>
            </a:pPr>
            <a:r>
              <a:rPr b="1" i="0" lang="en-US" sz="137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seed = 42</a:t>
            </a:r>
            <a:endParaRPr b="0" i="0" sz="137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91" name="Google Shape;491;p15"/>
          <p:cNvSpPr/>
          <p:nvPr/>
        </p:nvSpPr>
        <p:spPr>
          <a:xfrm>
            <a:off x="5257800" y="4495870"/>
            <a:ext cx="1115700" cy="310800"/>
          </a:xfrm>
          <a:prstGeom prst="roundRect">
            <a:avLst>
              <a:gd fmla="val 17647" name="adj"/>
            </a:avLst>
          </a:prstGeom>
          <a:solidFill>
            <a:srgbClr val="C9C5E1"/>
          </a:solidFill>
          <a:ln cap="flat" cmpd="sng" w="12700">
            <a:solidFill>
              <a:srgbClr val="C9C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15"/>
          <p:cNvSpPr/>
          <p:nvPr/>
        </p:nvSpPr>
        <p:spPr>
          <a:xfrm>
            <a:off x="5358384" y="4559878"/>
            <a:ext cx="9144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870"/>
              <a:buFont typeface="Montserrat"/>
              <a:buNone/>
            </a:pPr>
            <a:r>
              <a:rPr b="1" i="0" lang="en-US" sz="137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K = 3</a:t>
            </a:r>
            <a:endParaRPr b="0" i="0" sz="137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93" name="Google Shape;493;p15"/>
          <p:cNvSpPr/>
          <p:nvPr/>
        </p:nvSpPr>
        <p:spPr>
          <a:xfrm>
            <a:off x="6583675" y="4495875"/>
            <a:ext cx="1718100" cy="310800"/>
          </a:xfrm>
          <a:prstGeom prst="roundRect">
            <a:avLst>
              <a:gd fmla="val 17647" name="adj"/>
            </a:avLst>
          </a:prstGeom>
          <a:solidFill>
            <a:srgbClr val="E8D9B5"/>
          </a:solidFill>
          <a:ln cap="flat" cmpd="sng" w="12700">
            <a:solidFill>
              <a:srgbClr val="E8D9B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5"/>
          <p:cNvSpPr/>
          <p:nvPr/>
        </p:nvSpPr>
        <p:spPr>
          <a:xfrm>
            <a:off x="6684277" y="4559875"/>
            <a:ext cx="15363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870"/>
              <a:buFont typeface="Montserrat"/>
              <a:buNone/>
            </a:pPr>
            <a:r>
              <a:rPr b="1" i="0" lang="en-US" sz="137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Euclidean + RBF</a:t>
            </a:r>
            <a:endParaRPr b="0" i="0" sz="137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95" name="Google Shape;495;p15"/>
          <p:cNvSpPr/>
          <p:nvPr/>
        </p:nvSpPr>
        <p:spPr>
          <a:xfrm>
            <a:off x="987552" y="5167839"/>
            <a:ext cx="8503800" cy="28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960"/>
              <a:buFont typeface="Montserrat"/>
              <a:buNone/>
            </a:pPr>
            <a:r>
              <a:rPr b="0" i="0" lang="en-US" sz="146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Контрольный срез декабрь 2024: 20 Louvain-кластеров и Modularity = 0.8145.</a:t>
            </a:r>
            <a:endParaRPr b="0" i="0" sz="146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96" name="Google Shape;496;p15"/>
          <p:cNvSpPr txBox="1"/>
          <p:nvPr>
            <p:ph idx="4294967295" type="sldNum"/>
          </p:nvPr>
        </p:nvSpPr>
        <p:spPr>
          <a:xfrm>
            <a:off x="11686032" y="6528816"/>
            <a:ext cx="8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</a:pPr>
            <a:fld id="{00000000-1234-1234-1234-123412341234}" type="slidenum">
              <a:rPr b="0" i="0" lang="en-US" sz="700" u="none" cap="none" strike="noStrike">
                <a:solidFill>
                  <a:srgbClr val="9A9EA2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0" i="0" sz="700" u="none" cap="none" strike="noStrike">
              <a:solidFill>
                <a:srgbClr val="9A9EA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16"/>
          <p:cNvSpPr/>
          <p:nvPr/>
        </p:nvSpPr>
        <p:spPr>
          <a:xfrm>
            <a:off x="658377" y="429775"/>
            <a:ext cx="106344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2500"/>
              <a:buFont typeface="Montserrat"/>
              <a:buNone/>
            </a:pPr>
            <a:r>
              <a:rPr b="1" i="0" lang="en-US" sz="41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Воспроизводимость и ограничения</a:t>
            </a:r>
            <a:endParaRPr b="0" i="0" sz="41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03" name="Google Shape;503;p16"/>
          <p:cNvSpPr/>
          <p:nvPr/>
        </p:nvSpPr>
        <p:spPr>
          <a:xfrm>
            <a:off x="685800" y="978408"/>
            <a:ext cx="9784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1050"/>
              <a:buFont typeface="Montserrat"/>
              <a:buNone/>
            </a:pPr>
            <a:r>
              <a:rPr b="0" i="0" lang="en-US" sz="185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Проект рассчитан на повторный запуск из репозитория</a:t>
            </a:r>
            <a:endParaRPr b="0" i="0" sz="185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04" name="Google Shape;504;p16"/>
          <p:cNvSpPr/>
          <p:nvPr/>
        </p:nvSpPr>
        <p:spPr>
          <a:xfrm>
            <a:off x="685800" y="1444752"/>
            <a:ext cx="5120640" cy="4370832"/>
          </a:xfrm>
          <a:prstGeom prst="roundRect">
            <a:avLst>
              <a:gd fmla="val 1674" name="adj"/>
            </a:avLst>
          </a:prstGeom>
          <a:solidFill>
            <a:srgbClr val="F3F6F2"/>
          </a:solidFill>
          <a:ln cap="flat" cmpd="sng" w="10150">
            <a:solidFill>
              <a:srgbClr val="E1D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p16"/>
          <p:cNvSpPr/>
          <p:nvPr/>
        </p:nvSpPr>
        <p:spPr>
          <a:xfrm>
            <a:off x="960124" y="1755650"/>
            <a:ext cx="4592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450"/>
              <a:buFont typeface="Montserrat"/>
              <a:buNone/>
            </a:pPr>
            <a:r>
              <a:rPr b="1" i="0" lang="en-US" sz="255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Воспроизводимость</a:t>
            </a:r>
            <a:endParaRPr b="0" i="0" sz="255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06" name="Google Shape;506;p16"/>
          <p:cNvSpPr/>
          <p:nvPr/>
        </p:nvSpPr>
        <p:spPr>
          <a:xfrm>
            <a:off x="960120" y="2304288"/>
            <a:ext cx="283464" cy="283464"/>
          </a:xfrm>
          <a:prstGeom prst="ellipse">
            <a:avLst/>
          </a:prstGeom>
          <a:solidFill>
            <a:srgbClr val="AFC7D8"/>
          </a:solidFill>
          <a:ln cap="flat" cmpd="sng" w="10150">
            <a:solidFill>
              <a:srgbClr val="AFC7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" name="Google Shape;507;p16"/>
          <p:cNvSpPr/>
          <p:nvPr/>
        </p:nvSpPr>
        <p:spPr>
          <a:xfrm>
            <a:off x="960120" y="2377440"/>
            <a:ext cx="283464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730"/>
              <a:buFont typeface="Montserrat"/>
              <a:buNone/>
            </a:pPr>
            <a:r>
              <a:rPr b="1" i="0" lang="en-US" sz="103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01</a:t>
            </a:r>
            <a:endParaRPr b="0" i="0" sz="103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08" name="Google Shape;508;p16"/>
          <p:cNvSpPr/>
          <p:nvPr/>
        </p:nvSpPr>
        <p:spPr>
          <a:xfrm>
            <a:off x="1328949" y="2340875"/>
            <a:ext cx="1253700" cy="21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060"/>
              <a:buFont typeface="Montserrat"/>
              <a:buNone/>
            </a:pPr>
            <a:r>
              <a:rPr b="1" i="0" lang="en-US" sz="126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config.json</a:t>
            </a:r>
            <a:endParaRPr b="0" i="0" sz="126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09" name="Google Shape;509;p16"/>
          <p:cNvSpPr/>
          <p:nvPr/>
        </p:nvSpPr>
        <p:spPr>
          <a:xfrm>
            <a:off x="2880350" y="2318075"/>
            <a:ext cx="267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870"/>
              <a:buFont typeface="Montserrat"/>
              <a:buNone/>
            </a:pPr>
            <a:r>
              <a:rPr b="0" i="0" lang="en-US" sz="100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финальные параметры модели</a:t>
            </a:r>
            <a:endParaRPr b="0" i="0" sz="10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10" name="Google Shape;510;p16"/>
          <p:cNvSpPr/>
          <p:nvPr/>
        </p:nvSpPr>
        <p:spPr>
          <a:xfrm>
            <a:off x="960120" y="3035808"/>
            <a:ext cx="283464" cy="283464"/>
          </a:xfrm>
          <a:prstGeom prst="ellipse">
            <a:avLst/>
          </a:prstGeom>
          <a:solidFill>
            <a:srgbClr val="BFD2C4"/>
          </a:solidFill>
          <a:ln cap="flat" cmpd="sng" w="10150">
            <a:solidFill>
              <a:srgbClr val="BFD2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1" name="Google Shape;511;p16"/>
          <p:cNvSpPr/>
          <p:nvPr/>
        </p:nvSpPr>
        <p:spPr>
          <a:xfrm>
            <a:off x="960120" y="3108960"/>
            <a:ext cx="283464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730"/>
              <a:buFont typeface="Montserrat"/>
              <a:buNone/>
            </a:pPr>
            <a:r>
              <a:rPr b="1" i="0" lang="en-US" sz="103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02</a:t>
            </a:r>
            <a:endParaRPr b="0" i="0" sz="103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12" name="Google Shape;512;p16"/>
          <p:cNvSpPr/>
          <p:nvPr/>
        </p:nvSpPr>
        <p:spPr>
          <a:xfrm>
            <a:off x="1328952" y="3055213"/>
            <a:ext cx="900000" cy="21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060"/>
              <a:buFont typeface="Montserrat"/>
              <a:buNone/>
            </a:pPr>
            <a:r>
              <a:rPr b="1" i="0" lang="en-US" sz="126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01 → 15</a:t>
            </a:r>
            <a:endParaRPr b="0" i="0" sz="126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13" name="Google Shape;513;p16"/>
          <p:cNvSpPr/>
          <p:nvPr/>
        </p:nvSpPr>
        <p:spPr>
          <a:xfrm>
            <a:off x="2880350" y="3049588"/>
            <a:ext cx="27249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870"/>
              <a:buFont typeface="Montserrat"/>
              <a:buNone/>
            </a:pPr>
            <a:r>
              <a:rPr b="0" i="0" lang="en-US" sz="100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полный исследовательский pipeline</a:t>
            </a:r>
            <a:endParaRPr b="0" i="0" sz="10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14" name="Google Shape;514;p16"/>
          <p:cNvSpPr/>
          <p:nvPr/>
        </p:nvSpPr>
        <p:spPr>
          <a:xfrm>
            <a:off x="960120" y="3767328"/>
            <a:ext cx="283464" cy="283464"/>
          </a:xfrm>
          <a:prstGeom prst="ellipse">
            <a:avLst/>
          </a:prstGeom>
          <a:solidFill>
            <a:srgbClr val="E4C4B8"/>
          </a:solidFill>
          <a:ln cap="flat" cmpd="sng" w="10150">
            <a:solidFill>
              <a:srgbClr val="E4C4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5" name="Google Shape;515;p16"/>
          <p:cNvSpPr/>
          <p:nvPr/>
        </p:nvSpPr>
        <p:spPr>
          <a:xfrm>
            <a:off x="960120" y="3840480"/>
            <a:ext cx="283464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730"/>
              <a:buFont typeface="Montserrat"/>
              <a:buNone/>
            </a:pPr>
            <a:r>
              <a:rPr b="1" i="0" lang="en-US" sz="103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03</a:t>
            </a:r>
            <a:endParaRPr b="0" i="0" sz="103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16" name="Google Shape;516;p16"/>
          <p:cNvSpPr/>
          <p:nvPr/>
        </p:nvSpPr>
        <p:spPr>
          <a:xfrm>
            <a:off x="1314445" y="3813052"/>
            <a:ext cx="1737300" cy="21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060"/>
              <a:buFont typeface="Montserrat"/>
              <a:buNone/>
            </a:pPr>
            <a:r>
              <a:rPr b="1" i="0" lang="en-US" sz="126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data/processed</a:t>
            </a:r>
            <a:endParaRPr b="0" i="0" sz="126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17" name="Google Shape;517;p16"/>
          <p:cNvSpPr/>
          <p:nvPr/>
        </p:nvSpPr>
        <p:spPr>
          <a:xfrm>
            <a:off x="2880350" y="3781125"/>
            <a:ext cx="28836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870"/>
              <a:buFont typeface="Montserrat"/>
              <a:buNone/>
            </a:pPr>
            <a:r>
              <a:rPr b="0" i="0" lang="en-US" sz="100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сохраненные промежуточные результаты</a:t>
            </a:r>
            <a:endParaRPr b="0" i="0" sz="10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18" name="Google Shape;518;p16"/>
          <p:cNvSpPr/>
          <p:nvPr/>
        </p:nvSpPr>
        <p:spPr>
          <a:xfrm>
            <a:off x="960120" y="4498848"/>
            <a:ext cx="283464" cy="283464"/>
          </a:xfrm>
          <a:prstGeom prst="ellipse">
            <a:avLst/>
          </a:prstGeom>
          <a:solidFill>
            <a:srgbClr val="C9C5E1"/>
          </a:solidFill>
          <a:ln cap="flat" cmpd="sng" w="10150">
            <a:solidFill>
              <a:srgbClr val="C9C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9" name="Google Shape;519;p16"/>
          <p:cNvSpPr/>
          <p:nvPr/>
        </p:nvSpPr>
        <p:spPr>
          <a:xfrm>
            <a:off x="960120" y="4572000"/>
            <a:ext cx="283464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730"/>
              <a:buFont typeface="Montserrat"/>
              <a:buNone/>
            </a:pPr>
            <a:r>
              <a:rPr b="1" i="0" lang="en-US" sz="103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04</a:t>
            </a:r>
            <a:endParaRPr b="0" i="0" sz="103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20" name="Google Shape;520;p16"/>
          <p:cNvSpPr/>
          <p:nvPr/>
        </p:nvSpPr>
        <p:spPr>
          <a:xfrm>
            <a:off x="1314420" y="4512659"/>
            <a:ext cx="1737300" cy="21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060"/>
              <a:buFont typeface="Montserrat"/>
              <a:buNone/>
            </a:pPr>
            <a:r>
              <a:rPr b="1" i="0" lang="en-US" sz="106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outputs/figures</a:t>
            </a:r>
            <a:endParaRPr b="0" i="0" sz="106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21" name="Google Shape;521;p16"/>
          <p:cNvSpPr/>
          <p:nvPr/>
        </p:nvSpPr>
        <p:spPr>
          <a:xfrm>
            <a:off x="2880360" y="4489840"/>
            <a:ext cx="23316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870"/>
              <a:buFont typeface="Montserrat"/>
              <a:buNone/>
            </a:pPr>
            <a:r>
              <a:rPr b="0" i="0" lang="en-US" sz="100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готовые визуализации</a:t>
            </a:r>
            <a:endParaRPr b="0" i="0" sz="10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22" name="Google Shape;522;p16"/>
          <p:cNvSpPr/>
          <p:nvPr/>
        </p:nvSpPr>
        <p:spPr>
          <a:xfrm>
            <a:off x="960120" y="5285232"/>
            <a:ext cx="2724912" cy="310896"/>
          </a:xfrm>
          <a:prstGeom prst="roundRect">
            <a:avLst>
              <a:gd fmla="val 17647" name="adj"/>
            </a:avLst>
          </a:prstGeom>
          <a:solidFill>
            <a:srgbClr val="E8D9B5"/>
          </a:solidFill>
          <a:ln cap="flat" cmpd="sng" w="12700">
            <a:solidFill>
              <a:srgbClr val="E8D9B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3" name="Google Shape;523;p16"/>
          <p:cNvSpPr/>
          <p:nvPr/>
        </p:nvSpPr>
        <p:spPr>
          <a:xfrm>
            <a:off x="1060704" y="5349240"/>
            <a:ext cx="252374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870"/>
              <a:buFont typeface="Montserrat"/>
              <a:buNone/>
            </a:pPr>
            <a:r>
              <a:rPr b="1" i="0" lang="en-US" sz="107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RUN_ME_FIRST.md + README.md</a:t>
            </a:r>
            <a:endParaRPr b="0" i="0" sz="107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24" name="Google Shape;524;p16"/>
          <p:cNvSpPr/>
          <p:nvPr/>
        </p:nvSpPr>
        <p:spPr>
          <a:xfrm>
            <a:off x="6080760" y="1444752"/>
            <a:ext cx="5212080" cy="4370832"/>
          </a:xfrm>
          <a:prstGeom prst="roundRect">
            <a:avLst>
              <a:gd fmla="val 1674" name="adj"/>
            </a:avLst>
          </a:prstGeom>
          <a:solidFill>
            <a:srgbClr val="FBFAF8"/>
          </a:solidFill>
          <a:ln cap="flat" cmpd="sng" w="10150">
            <a:solidFill>
              <a:srgbClr val="E1D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5" name="Google Shape;525;p16"/>
          <p:cNvSpPr/>
          <p:nvPr/>
        </p:nvSpPr>
        <p:spPr>
          <a:xfrm>
            <a:off x="6364226" y="1755650"/>
            <a:ext cx="4592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450"/>
              <a:buFont typeface="Montserrat"/>
              <a:buNone/>
            </a:pPr>
            <a:r>
              <a:rPr b="1" i="0" lang="en-US" sz="255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Ограничения</a:t>
            </a:r>
            <a:endParaRPr b="0" i="0" sz="255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26" name="Google Shape;526;p16"/>
          <p:cNvSpPr/>
          <p:nvPr/>
        </p:nvSpPr>
        <p:spPr>
          <a:xfrm>
            <a:off x="6391694" y="2382013"/>
            <a:ext cx="128100" cy="128100"/>
          </a:xfrm>
          <a:prstGeom prst="ellipse">
            <a:avLst/>
          </a:prstGeom>
          <a:solidFill>
            <a:srgbClr val="E4C4B8"/>
          </a:solidFill>
          <a:ln cap="flat" cmpd="sng" w="10150">
            <a:solidFill>
              <a:srgbClr val="E4C4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7" name="Google Shape;527;p16"/>
          <p:cNvSpPr/>
          <p:nvPr/>
        </p:nvSpPr>
        <p:spPr>
          <a:xfrm>
            <a:off x="6665976" y="2304293"/>
            <a:ext cx="4133100" cy="44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889"/>
              <a:buFont typeface="Montserrat"/>
              <a:buNone/>
            </a:pPr>
            <a:r>
              <a:rPr b="0" i="0" lang="en-US" sz="119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Пять признаков описывают выбранную структуру потребления, а не всю экономику муниципалитета.</a:t>
            </a:r>
            <a:endParaRPr b="0" i="0" sz="119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28" name="Google Shape;528;p16"/>
          <p:cNvSpPr/>
          <p:nvPr/>
        </p:nvSpPr>
        <p:spPr>
          <a:xfrm>
            <a:off x="6391656" y="3054107"/>
            <a:ext cx="128100" cy="128100"/>
          </a:xfrm>
          <a:prstGeom prst="ellipse">
            <a:avLst/>
          </a:prstGeom>
          <a:solidFill>
            <a:srgbClr val="AFC7D8"/>
          </a:solidFill>
          <a:ln cap="flat" cmpd="sng" w="10150">
            <a:solidFill>
              <a:srgbClr val="AFC7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9" name="Google Shape;529;p16"/>
          <p:cNvSpPr/>
          <p:nvPr/>
        </p:nvSpPr>
        <p:spPr>
          <a:xfrm>
            <a:off x="6665976" y="2936287"/>
            <a:ext cx="4133100" cy="44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889"/>
              <a:buFont typeface="Montserrat"/>
              <a:buNone/>
            </a:pPr>
            <a:r>
              <a:rPr b="0" i="0" lang="en-US" sz="119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market_access – статический показатель 2024 года и не входит в основной вектор.</a:t>
            </a:r>
            <a:endParaRPr b="0" i="0" sz="119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30" name="Google Shape;530;p16"/>
          <p:cNvSpPr/>
          <p:nvPr/>
        </p:nvSpPr>
        <p:spPr>
          <a:xfrm>
            <a:off x="6391656" y="3804026"/>
            <a:ext cx="128100" cy="128100"/>
          </a:xfrm>
          <a:prstGeom prst="ellipse">
            <a:avLst/>
          </a:prstGeom>
          <a:solidFill>
            <a:srgbClr val="BFD2C4"/>
          </a:solidFill>
          <a:ln cap="flat" cmpd="sng" w="10150">
            <a:solidFill>
              <a:srgbClr val="BFD2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16"/>
          <p:cNvSpPr/>
          <p:nvPr/>
        </p:nvSpPr>
        <p:spPr>
          <a:xfrm>
            <a:off x="6665976" y="3694093"/>
            <a:ext cx="4133100" cy="44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889"/>
              <a:buFont typeface="Montserrat"/>
              <a:buNone/>
            </a:pPr>
            <a:r>
              <a:rPr b="0" i="0" lang="en-US" sz="119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Месячные Louvain-кластеры не имеют постоянных идентификаторов сами по себе.</a:t>
            </a:r>
            <a:endParaRPr b="0" i="0" sz="119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32" name="Google Shape;532;p16"/>
          <p:cNvSpPr/>
          <p:nvPr/>
        </p:nvSpPr>
        <p:spPr>
          <a:xfrm>
            <a:off x="6391656" y="4489845"/>
            <a:ext cx="128100" cy="128100"/>
          </a:xfrm>
          <a:prstGeom prst="ellipse">
            <a:avLst/>
          </a:prstGeom>
          <a:solidFill>
            <a:srgbClr val="C9C5E1"/>
          </a:solidFill>
          <a:ln cap="flat" cmpd="sng" w="10150">
            <a:solidFill>
              <a:srgbClr val="C9C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3" name="Google Shape;533;p16"/>
          <p:cNvSpPr/>
          <p:nvPr/>
        </p:nvSpPr>
        <p:spPr>
          <a:xfrm>
            <a:off x="6665976" y="4416487"/>
            <a:ext cx="4133100" cy="44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889"/>
              <a:buFont typeface="Montserrat"/>
              <a:buNone/>
            </a:pPr>
            <a:r>
              <a:rPr b="0" i="0" lang="en-US" sz="119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Названия трех типов – интерпретация профилей, а не официальная классификация.</a:t>
            </a:r>
            <a:endParaRPr b="0" i="0" sz="119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34" name="Google Shape;534;p16"/>
          <p:cNvSpPr txBox="1"/>
          <p:nvPr>
            <p:ph idx="4294967295" type="sldNum"/>
          </p:nvPr>
        </p:nvSpPr>
        <p:spPr>
          <a:xfrm>
            <a:off x="11686032" y="6528816"/>
            <a:ext cx="8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</a:pPr>
            <a:fld id="{00000000-1234-1234-1234-123412341234}" type="slidenum">
              <a:rPr b="0" i="0" lang="en-US" sz="700" u="none" cap="none" strike="noStrike">
                <a:solidFill>
                  <a:srgbClr val="9A9EA2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0" i="0" sz="700" u="none" cap="none" strike="noStrike">
              <a:solidFill>
                <a:srgbClr val="9A9EA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9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p17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3F0EB"/>
          </a:solidFill>
          <a:ln cap="flat" cmpd="sng" w="12700">
            <a:solidFill>
              <a:srgbClr val="F3F0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1" name="Google Shape;541;p17"/>
          <p:cNvSpPr/>
          <p:nvPr/>
        </p:nvSpPr>
        <p:spPr>
          <a:xfrm>
            <a:off x="694944" y="658368"/>
            <a:ext cx="17373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2800"/>
              <a:buFont typeface="Montserrat"/>
              <a:buNone/>
            </a:pPr>
            <a:r>
              <a:rPr b="1" i="0" lang="en-US" sz="41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Итог</a:t>
            </a:r>
            <a:endParaRPr b="0" i="0" sz="41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42" name="Google Shape;542;p17"/>
          <p:cNvSpPr/>
          <p:nvPr/>
        </p:nvSpPr>
        <p:spPr>
          <a:xfrm>
            <a:off x="713232" y="1426464"/>
            <a:ext cx="7498080" cy="7863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900"/>
              <a:buFont typeface="Montserrat"/>
              <a:buNone/>
            </a:pPr>
            <a:r>
              <a:rPr b="1" i="0" lang="en-US" sz="19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Мы построили динамическую атрибутированную сеть,</a:t>
            </a:r>
            <a:endParaRPr b="0" i="0" sz="19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900"/>
              <a:buFont typeface="Montserrat"/>
              <a:buNone/>
            </a:pPr>
            <a:r>
              <a:rPr b="1" i="0" lang="en-US" sz="190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где экономическая близость муниципалитетов становится частью модели.</a:t>
            </a:r>
            <a:endParaRPr b="0" i="0" sz="19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43" name="Google Shape;543;p17"/>
          <p:cNvSpPr/>
          <p:nvPr/>
        </p:nvSpPr>
        <p:spPr>
          <a:xfrm>
            <a:off x="731520" y="2834640"/>
            <a:ext cx="3182112" cy="1700784"/>
          </a:xfrm>
          <a:prstGeom prst="roundRect">
            <a:avLst>
              <a:gd fmla="val 4301" name="adj"/>
            </a:avLst>
          </a:prstGeom>
          <a:solidFill>
            <a:srgbClr val="FFFFFF"/>
          </a:solidFill>
          <a:ln cap="flat" cmpd="sng" w="10150">
            <a:solidFill>
              <a:srgbClr val="E1D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4" name="Google Shape;544;p17"/>
          <p:cNvSpPr/>
          <p:nvPr/>
        </p:nvSpPr>
        <p:spPr>
          <a:xfrm>
            <a:off x="987552" y="3127248"/>
            <a:ext cx="310896" cy="310896"/>
          </a:xfrm>
          <a:prstGeom prst="ellipse">
            <a:avLst/>
          </a:prstGeom>
          <a:solidFill>
            <a:srgbClr val="AFC7D8"/>
          </a:solidFill>
          <a:ln cap="flat" cmpd="sng" w="10150">
            <a:solidFill>
              <a:srgbClr val="AFC7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5" name="Google Shape;545;p17"/>
          <p:cNvSpPr/>
          <p:nvPr/>
        </p:nvSpPr>
        <p:spPr>
          <a:xfrm>
            <a:off x="987552" y="3209544"/>
            <a:ext cx="310896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780"/>
              <a:buFont typeface="Montserrat"/>
              <a:buNone/>
            </a:pPr>
            <a:r>
              <a:rPr b="1" i="0" lang="en-US" sz="108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01</a:t>
            </a:r>
            <a:endParaRPr b="0" i="0" sz="108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46" name="Google Shape;546;p17"/>
          <p:cNvSpPr/>
          <p:nvPr/>
        </p:nvSpPr>
        <p:spPr>
          <a:xfrm>
            <a:off x="1463040" y="3177534"/>
            <a:ext cx="1755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160"/>
              <a:buFont typeface="Montserrat"/>
              <a:buNone/>
            </a:pPr>
            <a:r>
              <a:rPr b="1" i="0" lang="en-US" sz="206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Сеть</a:t>
            </a:r>
            <a:endParaRPr b="0" i="0" sz="206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47" name="Google Shape;547;p17"/>
          <p:cNvSpPr/>
          <p:nvPr/>
        </p:nvSpPr>
        <p:spPr>
          <a:xfrm>
            <a:off x="1463040" y="3616500"/>
            <a:ext cx="20391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920"/>
              <a:buFont typeface="Montserrat"/>
              <a:buNone/>
            </a:pPr>
            <a:r>
              <a:rPr b="0" i="0" lang="en-US" sz="142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24 ежемесячных графа</a:t>
            </a:r>
            <a:endParaRPr b="0" i="0" sz="142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920"/>
              <a:buFont typeface="Montserrat"/>
              <a:buNone/>
            </a:pPr>
            <a:r>
              <a:rPr b="0" i="0" lang="en-US" sz="142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на основе kNN + RBF</a:t>
            </a:r>
            <a:endParaRPr b="0" i="0" sz="142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48" name="Google Shape;548;p17"/>
          <p:cNvSpPr/>
          <p:nvPr/>
        </p:nvSpPr>
        <p:spPr>
          <a:xfrm>
            <a:off x="4343400" y="2834640"/>
            <a:ext cx="3182112" cy="1700784"/>
          </a:xfrm>
          <a:prstGeom prst="roundRect">
            <a:avLst>
              <a:gd fmla="val 4301" name="adj"/>
            </a:avLst>
          </a:prstGeom>
          <a:solidFill>
            <a:srgbClr val="FFFFFF"/>
          </a:solidFill>
          <a:ln cap="flat" cmpd="sng" w="10150">
            <a:solidFill>
              <a:srgbClr val="E1D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9" name="Google Shape;549;p17"/>
          <p:cNvSpPr/>
          <p:nvPr/>
        </p:nvSpPr>
        <p:spPr>
          <a:xfrm>
            <a:off x="4599432" y="3127248"/>
            <a:ext cx="310896" cy="310896"/>
          </a:xfrm>
          <a:prstGeom prst="ellipse">
            <a:avLst/>
          </a:prstGeom>
          <a:solidFill>
            <a:srgbClr val="BFD2C4"/>
          </a:solidFill>
          <a:ln cap="flat" cmpd="sng" w="10150">
            <a:solidFill>
              <a:srgbClr val="BFD2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0" name="Google Shape;550;p17"/>
          <p:cNvSpPr/>
          <p:nvPr/>
        </p:nvSpPr>
        <p:spPr>
          <a:xfrm>
            <a:off x="4599432" y="3209544"/>
            <a:ext cx="310896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780"/>
              <a:buFont typeface="Montserrat"/>
              <a:buNone/>
            </a:pPr>
            <a:r>
              <a:rPr b="1" i="0" lang="en-US" sz="108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02</a:t>
            </a:r>
            <a:endParaRPr b="0" i="0" sz="108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51" name="Google Shape;551;p17"/>
          <p:cNvSpPr/>
          <p:nvPr/>
        </p:nvSpPr>
        <p:spPr>
          <a:xfrm>
            <a:off x="5056620" y="3177534"/>
            <a:ext cx="1755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160"/>
              <a:buFont typeface="Montserrat"/>
              <a:buNone/>
            </a:pPr>
            <a:r>
              <a:rPr b="1" i="0" lang="en-US" sz="206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Типология</a:t>
            </a:r>
            <a:endParaRPr b="0" i="0" sz="206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52" name="Google Shape;552;p17"/>
          <p:cNvSpPr/>
          <p:nvPr/>
        </p:nvSpPr>
        <p:spPr>
          <a:xfrm>
            <a:off x="5056624" y="3574738"/>
            <a:ext cx="15060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920"/>
              <a:buFont typeface="Montserrat"/>
              <a:buNone/>
            </a:pPr>
            <a:r>
              <a:rPr b="0" i="0" lang="en-US" sz="142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3 устойчивых</a:t>
            </a:r>
            <a:endParaRPr b="0" i="0" sz="142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920"/>
              <a:buFont typeface="Montserrat"/>
              <a:buNone/>
            </a:pPr>
            <a:r>
              <a:rPr b="0" i="0" lang="en-US" sz="142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экономических типа</a:t>
            </a:r>
            <a:endParaRPr b="0" i="0" sz="142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53" name="Google Shape;553;p17"/>
          <p:cNvSpPr/>
          <p:nvPr/>
        </p:nvSpPr>
        <p:spPr>
          <a:xfrm>
            <a:off x="7955280" y="2834640"/>
            <a:ext cx="3182112" cy="1700784"/>
          </a:xfrm>
          <a:prstGeom prst="roundRect">
            <a:avLst>
              <a:gd fmla="val 4301" name="adj"/>
            </a:avLst>
          </a:prstGeom>
          <a:solidFill>
            <a:srgbClr val="FFFFFF"/>
          </a:solidFill>
          <a:ln cap="flat" cmpd="sng" w="10150">
            <a:solidFill>
              <a:srgbClr val="E1D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4" name="Google Shape;554;p17"/>
          <p:cNvSpPr/>
          <p:nvPr/>
        </p:nvSpPr>
        <p:spPr>
          <a:xfrm>
            <a:off x="8211312" y="3127248"/>
            <a:ext cx="310896" cy="310896"/>
          </a:xfrm>
          <a:prstGeom prst="ellipse">
            <a:avLst/>
          </a:prstGeom>
          <a:solidFill>
            <a:srgbClr val="E4C4B8"/>
          </a:solidFill>
          <a:ln cap="flat" cmpd="sng" w="10150">
            <a:solidFill>
              <a:srgbClr val="E4C4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5" name="Google Shape;555;p17"/>
          <p:cNvSpPr/>
          <p:nvPr/>
        </p:nvSpPr>
        <p:spPr>
          <a:xfrm>
            <a:off x="8211312" y="3209544"/>
            <a:ext cx="310896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780"/>
              <a:buFont typeface="Montserrat"/>
              <a:buNone/>
            </a:pPr>
            <a:r>
              <a:rPr b="1" i="0" lang="en-US" sz="108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03</a:t>
            </a:r>
            <a:endParaRPr b="0" i="0" sz="108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56" name="Google Shape;556;p17"/>
          <p:cNvSpPr/>
          <p:nvPr/>
        </p:nvSpPr>
        <p:spPr>
          <a:xfrm>
            <a:off x="8668513" y="3177534"/>
            <a:ext cx="1755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1160"/>
              <a:buFont typeface="Montserrat"/>
              <a:buNone/>
            </a:pPr>
            <a:r>
              <a:rPr b="1" i="0" lang="en-US" sz="206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Динамика</a:t>
            </a:r>
            <a:endParaRPr b="0" i="0" sz="206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57" name="Google Shape;557;p17"/>
          <p:cNvSpPr/>
          <p:nvPr/>
        </p:nvSpPr>
        <p:spPr>
          <a:xfrm>
            <a:off x="8668525" y="3574750"/>
            <a:ext cx="22677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920"/>
              <a:buFont typeface="Montserrat"/>
              <a:buNone/>
            </a:pPr>
            <a:r>
              <a:rPr b="0" i="0" lang="en-US" sz="142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изменение структуры</a:t>
            </a:r>
            <a:endParaRPr b="0" i="0" sz="142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777C"/>
              </a:buClr>
              <a:buSzPts val="920"/>
              <a:buFont typeface="Montserrat"/>
              <a:buNone/>
            </a:pPr>
            <a:r>
              <a:rPr b="0" i="0" lang="en-US" sz="1420" u="none" cap="none" strike="noStrike">
                <a:solidFill>
                  <a:srgbClr val="70777C"/>
                </a:solidFill>
                <a:latin typeface="Montserrat"/>
                <a:ea typeface="Montserrat"/>
                <a:cs typeface="Montserrat"/>
                <a:sym typeface="Montserrat"/>
              </a:rPr>
              <a:t>наблюдается во времени</a:t>
            </a:r>
            <a:endParaRPr b="0" i="0" sz="142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58" name="Google Shape;558;p17"/>
          <p:cNvSpPr/>
          <p:nvPr/>
        </p:nvSpPr>
        <p:spPr>
          <a:xfrm>
            <a:off x="749797" y="5047500"/>
            <a:ext cx="9059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9FB6"/>
              </a:buClr>
              <a:buSzPts val="1350"/>
              <a:buFont typeface="Montserrat"/>
              <a:buNone/>
            </a:pPr>
            <a:r>
              <a:rPr b="1" i="0" lang="en-US" sz="2050" u="none" cap="none" strike="noStrike">
                <a:solidFill>
                  <a:srgbClr val="7F9FB6"/>
                </a:solidFill>
                <a:latin typeface="Montserrat"/>
                <a:ea typeface="Montserrat"/>
                <a:cs typeface="Montserrat"/>
                <a:sym typeface="Montserrat"/>
              </a:rPr>
              <a:t>Финальная модель: Euclidean + kNN(10) + RBF + Louvain(1.25)</a:t>
            </a:r>
            <a:endParaRPr b="0" i="0" sz="205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59" name="Google Shape;559;p17"/>
          <p:cNvSpPr/>
          <p:nvPr/>
        </p:nvSpPr>
        <p:spPr>
          <a:xfrm>
            <a:off x="749808" y="5522976"/>
            <a:ext cx="2240280" cy="310896"/>
          </a:xfrm>
          <a:prstGeom prst="roundRect">
            <a:avLst>
              <a:gd fmla="val 17647" name="adj"/>
            </a:avLst>
          </a:prstGeom>
          <a:solidFill>
            <a:srgbClr val="AFC7D8"/>
          </a:solidFill>
          <a:ln cap="flat" cmpd="sng" w="12700">
            <a:solidFill>
              <a:srgbClr val="AFC7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0" name="Google Shape;560;p17"/>
          <p:cNvSpPr/>
          <p:nvPr/>
        </p:nvSpPr>
        <p:spPr>
          <a:xfrm>
            <a:off x="850392" y="5586984"/>
            <a:ext cx="2039112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870"/>
              <a:buFont typeface="Montserrat"/>
              <a:buNone/>
            </a:pPr>
            <a:r>
              <a:rPr b="1" i="0" lang="en-US" sz="137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Silhouette = 0.3456</a:t>
            </a:r>
            <a:endParaRPr b="0" i="0" sz="137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61" name="Google Shape;561;p17"/>
          <p:cNvSpPr/>
          <p:nvPr/>
        </p:nvSpPr>
        <p:spPr>
          <a:xfrm>
            <a:off x="3163824" y="5522976"/>
            <a:ext cx="2468880" cy="310896"/>
          </a:xfrm>
          <a:prstGeom prst="roundRect">
            <a:avLst>
              <a:gd fmla="val 17647" name="adj"/>
            </a:avLst>
          </a:prstGeom>
          <a:solidFill>
            <a:srgbClr val="E4C4B8"/>
          </a:solidFill>
          <a:ln cap="flat" cmpd="sng" w="12700">
            <a:solidFill>
              <a:srgbClr val="E4C4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2" name="Google Shape;562;p17"/>
          <p:cNvSpPr/>
          <p:nvPr/>
        </p:nvSpPr>
        <p:spPr>
          <a:xfrm>
            <a:off x="3264408" y="5586984"/>
            <a:ext cx="2267712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870"/>
              <a:buFont typeface="Montserrat"/>
              <a:buNone/>
            </a:pPr>
            <a:r>
              <a:rPr b="1" i="0" lang="en-US" sz="137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ARI vs 1.50 = 0.8723</a:t>
            </a:r>
            <a:endParaRPr b="0" i="0" sz="137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63" name="Google Shape;563;p17"/>
          <p:cNvSpPr/>
          <p:nvPr/>
        </p:nvSpPr>
        <p:spPr>
          <a:xfrm>
            <a:off x="5797296" y="5522976"/>
            <a:ext cx="2048256" cy="310896"/>
          </a:xfrm>
          <a:prstGeom prst="roundRect">
            <a:avLst>
              <a:gd fmla="val 17647" name="adj"/>
            </a:avLst>
          </a:prstGeom>
          <a:solidFill>
            <a:srgbClr val="BFD2C4"/>
          </a:solidFill>
          <a:ln cap="flat" cmpd="sng" w="12700">
            <a:solidFill>
              <a:srgbClr val="BFD2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4" name="Google Shape;564;p17"/>
          <p:cNvSpPr/>
          <p:nvPr/>
        </p:nvSpPr>
        <p:spPr>
          <a:xfrm>
            <a:off x="5897880" y="5586984"/>
            <a:ext cx="184708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313A"/>
              </a:buClr>
              <a:buSzPts val="870"/>
              <a:buFont typeface="Montserrat"/>
              <a:buNone/>
            </a:pPr>
            <a:r>
              <a:rPr b="1" i="0" lang="en-US" sz="1370" u="none" cap="none" strike="noStrike">
                <a:solidFill>
                  <a:srgbClr val="24313A"/>
                </a:solidFill>
                <a:latin typeface="Montserrat"/>
                <a:ea typeface="Montserrat"/>
                <a:cs typeface="Montserrat"/>
                <a:sym typeface="Montserrat"/>
              </a:rPr>
              <a:t>3 устойчивых типа</a:t>
            </a:r>
            <a:endParaRPr b="0" i="0" sz="137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565" name="Google Shape;565;p17"/>
          <p:cNvCxnSpPr/>
          <p:nvPr/>
        </p:nvCxnSpPr>
        <p:spPr>
          <a:xfrm flipH="1" rot="10800000">
            <a:off x="8776960" y="937809"/>
            <a:ext cx="493776" cy="345643"/>
          </a:xfrm>
          <a:prstGeom prst="straightConnector1">
            <a:avLst/>
          </a:prstGeom>
          <a:noFill/>
          <a:ln cap="flat" cmpd="sng" w="12700">
            <a:solidFill>
              <a:srgbClr val="BFC4C7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66" name="Google Shape;566;p17"/>
          <p:cNvCxnSpPr/>
          <p:nvPr/>
        </p:nvCxnSpPr>
        <p:spPr>
          <a:xfrm flipH="1" rot="10800000">
            <a:off x="8776960" y="1169884"/>
            <a:ext cx="987552" cy="113568"/>
          </a:xfrm>
          <a:prstGeom prst="straightConnector1">
            <a:avLst/>
          </a:prstGeom>
          <a:noFill/>
          <a:ln cap="flat" cmpd="sng" w="12700">
            <a:solidFill>
              <a:srgbClr val="BFC4C7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67" name="Google Shape;567;p17"/>
          <p:cNvCxnSpPr/>
          <p:nvPr/>
        </p:nvCxnSpPr>
        <p:spPr>
          <a:xfrm>
            <a:off x="9270736" y="937809"/>
            <a:ext cx="493776" cy="232075"/>
          </a:xfrm>
          <a:prstGeom prst="straightConnector1">
            <a:avLst/>
          </a:prstGeom>
          <a:noFill/>
          <a:ln cap="flat" cmpd="sng" w="12700">
            <a:solidFill>
              <a:srgbClr val="BFC4C7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68" name="Google Shape;568;p17"/>
          <p:cNvCxnSpPr/>
          <p:nvPr/>
        </p:nvCxnSpPr>
        <p:spPr>
          <a:xfrm>
            <a:off x="9270736" y="937809"/>
            <a:ext cx="987552" cy="24689"/>
          </a:xfrm>
          <a:prstGeom prst="straightConnector1">
            <a:avLst/>
          </a:prstGeom>
          <a:noFill/>
          <a:ln cap="flat" cmpd="sng" w="12700">
            <a:solidFill>
              <a:srgbClr val="BFC4C7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69" name="Google Shape;569;p17"/>
          <p:cNvCxnSpPr/>
          <p:nvPr/>
        </p:nvCxnSpPr>
        <p:spPr>
          <a:xfrm flipH="1" rot="10800000">
            <a:off x="9764512" y="962497"/>
            <a:ext cx="493776" cy="207386"/>
          </a:xfrm>
          <a:prstGeom prst="straightConnector1">
            <a:avLst/>
          </a:prstGeom>
          <a:noFill/>
          <a:ln cap="flat" cmpd="sng" w="12700">
            <a:solidFill>
              <a:srgbClr val="BFC4C7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70" name="Google Shape;570;p17"/>
          <p:cNvCxnSpPr/>
          <p:nvPr/>
        </p:nvCxnSpPr>
        <p:spPr>
          <a:xfrm>
            <a:off x="9764512" y="1169883"/>
            <a:ext cx="987552" cy="128382"/>
          </a:xfrm>
          <a:prstGeom prst="straightConnector1">
            <a:avLst/>
          </a:prstGeom>
          <a:noFill/>
          <a:ln cap="flat" cmpd="sng" w="12700">
            <a:solidFill>
              <a:srgbClr val="BFC4C7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71" name="Google Shape;571;p17"/>
          <p:cNvCxnSpPr/>
          <p:nvPr/>
        </p:nvCxnSpPr>
        <p:spPr>
          <a:xfrm>
            <a:off x="10258288" y="962497"/>
            <a:ext cx="493776" cy="335768"/>
          </a:xfrm>
          <a:prstGeom prst="straightConnector1">
            <a:avLst/>
          </a:prstGeom>
          <a:noFill/>
          <a:ln cap="flat" cmpd="sng" w="12700">
            <a:solidFill>
              <a:srgbClr val="BFC4C7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72" name="Google Shape;572;p17"/>
          <p:cNvCxnSpPr/>
          <p:nvPr/>
        </p:nvCxnSpPr>
        <p:spPr>
          <a:xfrm>
            <a:off x="10258288" y="962497"/>
            <a:ext cx="1012241" cy="88880"/>
          </a:xfrm>
          <a:prstGeom prst="straightConnector1">
            <a:avLst/>
          </a:prstGeom>
          <a:noFill/>
          <a:ln cap="flat" cmpd="sng" w="12700">
            <a:solidFill>
              <a:srgbClr val="BFC4C7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73" name="Google Shape;573;p17"/>
          <p:cNvCxnSpPr/>
          <p:nvPr/>
        </p:nvCxnSpPr>
        <p:spPr>
          <a:xfrm flipH="1" rot="10800000">
            <a:off x="10752064" y="1219261"/>
            <a:ext cx="1036930" cy="79004"/>
          </a:xfrm>
          <a:prstGeom prst="straightConnector1">
            <a:avLst/>
          </a:prstGeom>
          <a:noFill/>
          <a:ln cap="flat" cmpd="sng" w="12700">
            <a:solidFill>
              <a:srgbClr val="BFC4C7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74" name="Google Shape;574;p17"/>
          <p:cNvCxnSpPr/>
          <p:nvPr/>
        </p:nvCxnSpPr>
        <p:spPr>
          <a:xfrm>
            <a:off x="11270529" y="1051377"/>
            <a:ext cx="518465" cy="167884"/>
          </a:xfrm>
          <a:prstGeom prst="straightConnector1">
            <a:avLst/>
          </a:prstGeom>
          <a:noFill/>
          <a:ln cap="flat" cmpd="sng" w="12700">
            <a:solidFill>
              <a:srgbClr val="BFC4C7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75" name="Google Shape;575;p17"/>
          <p:cNvCxnSpPr/>
          <p:nvPr/>
        </p:nvCxnSpPr>
        <p:spPr>
          <a:xfrm flipH="1" rot="10800000">
            <a:off x="9764512" y="1051377"/>
            <a:ext cx="1506017" cy="118506"/>
          </a:xfrm>
          <a:prstGeom prst="straightConnector1">
            <a:avLst/>
          </a:prstGeom>
          <a:noFill/>
          <a:ln cap="flat" cmpd="sng" w="12700">
            <a:solidFill>
              <a:srgbClr val="BFC4C7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6" name="Google Shape;576;p17"/>
          <p:cNvSpPr/>
          <p:nvPr/>
        </p:nvSpPr>
        <p:spPr>
          <a:xfrm>
            <a:off x="8732520" y="1239012"/>
            <a:ext cx="88880" cy="88880"/>
          </a:xfrm>
          <a:prstGeom prst="ellipse">
            <a:avLst/>
          </a:prstGeom>
          <a:solidFill>
            <a:srgbClr val="AFC7D8"/>
          </a:solidFill>
          <a:ln cap="flat" cmpd="sng" w="10150">
            <a:solidFill>
              <a:srgbClr val="AFC7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7" name="Google Shape;577;p17"/>
          <p:cNvSpPr/>
          <p:nvPr/>
        </p:nvSpPr>
        <p:spPr>
          <a:xfrm>
            <a:off x="9226296" y="893369"/>
            <a:ext cx="88880" cy="88880"/>
          </a:xfrm>
          <a:prstGeom prst="ellipse">
            <a:avLst/>
          </a:prstGeom>
          <a:solidFill>
            <a:srgbClr val="C9C5E1"/>
          </a:solidFill>
          <a:ln cap="flat" cmpd="sng" w="10150">
            <a:solidFill>
              <a:srgbClr val="C9C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8" name="Google Shape;578;p17"/>
          <p:cNvSpPr/>
          <p:nvPr/>
        </p:nvSpPr>
        <p:spPr>
          <a:xfrm>
            <a:off x="9720072" y="1125444"/>
            <a:ext cx="88880" cy="88880"/>
          </a:xfrm>
          <a:prstGeom prst="ellipse">
            <a:avLst/>
          </a:prstGeom>
          <a:solidFill>
            <a:srgbClr val="BFD2C4"/>
          </a:solidFill>
          <a:ln cap="flat" cmpd="sng" w="10150">
            <a:solidFill>
              <a:srgbClr val="BFD2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7"/>
          <p:cNvSpPr/>
          <p:nvPr/>
        </p:nvSpPr>
        <p:spPr>
          <a:xfrm>
            <a:off x="10213848" y="918058"/>
            <a:ext cx="88880" cy="88880"/>
          </a:xfrm>
          <a:prstGeom prst="ellipse">
            <a:avLst/>
          </a:prstGeom>
          <a:solidFill>
            <a:srgbClr val="E4C4B8"/>
          </a:solidFill>
          <a:ln cap="flat" cmpd="sng" w="10150">
            <a:solidFill>
              <a:srgbClr val="E4C4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0" name="Google Shape;580;p17"/>
          <p:cNvSpPr/>
          <p:nvPr/>
        </p:nvSpPr>
        <p:spPr>
          <a:xfrm>
            <a:off x="10707624" y="1253825"/>
            <a:ext cx="88880" cy="88880"/>
          </a:xfrm>
          <a:prstGeom prst="ellipse">
            <a:avLst/>
          </a:prstGeom>
          <a:solidFill>
            <a:srgbClr val="AFC7D8"/>
          </a:solidFill>
          <a:ln cap="flat" cmpd="sng" w="10150">
            <a:solidFill>
              <a:srgbClr val="AFC7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1" name="Google Shape;581;p17"/>
          <p:cNvSpPr/>
          <p:nvPr/>
        </p:nvSpPr>
        <p:spPr>
          <a:xfrm>
            <a:off x="11226089" y="1006937"/>
            <a:ext cx="88880" cy="88880"/>
          </a:xfrm>
          <a:prstGeom prst="ellipse">
            <a:avLst/>
          </a:prstGeom>
          <a:solidFill>
            <a:srgbClr val="BFD2C4"/>
          </a:solidFill>
          <a:ln cap="flat" cmpd="sng" w="10150">
            <a:solidFill>
              <a:srgbClr val="BFD2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2" name="Google Shape;582;p17"/>
          <p:cNvSpPr/>
          <p:nvPr/>
        </p:nvSpPr>
        <p:spPr>
          <a:xfrm>
            <a:off x="11744554" y="1174821"/>
            <a:ext cx="88880" cy="88880"/>
          </a:xfrm>
          <a:prstGeom prst="ellipse">
            <a:avLst/>
          </a:prstGeom>
          <a:solidFill>
            <a:srgbClr val="C9C5E1"/>
          </a:solidFill>
          <a:ln cap="flat" cmpd="sng" w="10150">
            <a:solidFill>
              <a:srgbClr val="C9C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3" name="Google Shape;583;p17"/>
          <p:cNvSpPr txBox="1"/>
          <p:nvPr>
            <p:ph idx="4294967295" type="sldNum"/>
          </p:nvPr>
        </p:nvSpPr>
        <p:spPr>
          <a:xfrm>
            <a:off x="11686032" y="6528816"/>
            <a:ext cx="8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</a:pPr>
            <a:fld id="{00000000-1234-1234-1234-123412341234}" type="slidenum">
              <a:rPr b="0" i="0" lang="en-US" sz="700" u="none" cap="none" strike="noStrike">
                <a:solidFill>
                  <a:srgbClr val="9A9EA2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0" i="0" sz="700" u="none" cap="none" strike="noStrike">
              <a:solidFill>
                <a:srgbClr val="9A9EA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