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7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pc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pc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3" name="Google Shape;50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8" name="Google Shape;57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5F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2"/>
          <p:cNvCxnSpPr/>
          <p:nvPr/>
        </p:nvCxnSpPr>
        <p:spPr>
          <a:xfrm>
            <a:off x="502920" y="6510528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/>
          <p:nvPr/>
        </p:nvSpPr>
        <p:spPr>
          <a:xfrm>
            <a:off x="530352" y="6547104"/>
            <a:ext cx="6583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F93"/>
              </a:buClr>
              <a:buSzPts val="720"/>
              <a:buFont typeface="Montserrat"/>
              <a:buNone/>
            </a:pPr>
            <a:r>
              <a:rPr b="0" i="0" lang="en-US" spc="0" sz="720" u="none" cap="none" strike="noStrike">
                <a:solidFill>
                  <a:srgbClr val="8A8F93"/>
                </a:solidFill>
                <a:latin typeface="Montserrat"/>
                <a:ea typeface="Montserrat"/>
                <a:cs typeface="Montserrat"/>
                <a:sym typeface="Montserrat"/>
              </a:rPr>
              <a:t>SberIndex • динамическая атрибутированная сеть</a:t>
            </a:r>
            <a:endParaRPr b="0" i="0" spc="0" sz="7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9646920" y="6547104"/>
            <a:ext cx="19933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F93"/>
              </a:buClr>
              <a:buSzPts val="720"/>
              <a:buFont typeface="Montserrat"/>
              <a:buNone/>
            </a:pPr>
            <a:r>
              <a:rPr b="0" i="0" lang="en-US" spc="0" sz="720" u="none" cap="none" strike="noStrike">
                <a:solidFill>
                  <a:srgbClr val="8A8F93"/>
                </a:solidFill>
                <a:latin typeface="Montserrat"/>
                <a:ea typeface="Montserrat"/>
                <a:cs typeface="Montserrat"/>
                <a:sym typeface="Montserrat"/>
              </a:rPr>
              <a:t>01–15 • 2023–2024</a:t>
            </a:r>
            <a:endParaRPr b="0" i="0" spc="0" sz="7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pc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7595800" y="509325"/>
            <a:ext cx="4210500" cy="5394900"/>
          </a:xfrm>
          <a:prstGeom prst="roundRect">
            <a:avLst>
              <a:gd fmla="val 3380" name="adj"/>
            </a:avLst>
          </a:prstGeom>
          <a:solidFill>
            <a:srgbClr val="EFF1EE"/>
          </a:solidFill>
          <a:ln cap="flat" cmpd="sng" w="12700">
            <a:solidFill>
              <a:srgbClr val="EFF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4"/>
          <p:cNvCxnSpPr/>
          <p:nvPr/>
        </p:nvCxnSpPr>
        <p:spPr>
          <a:xfrm flipH="1" rot="10800000">
            <a:off x="7837126" y="1348877"/>
            <a:ext cx="621900" cy="4353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 flipH="1" rot="10800000">
            <a:off x="7837126" y="1641077"/>
            <a:ext cx="1243500" cy="1431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4"/>
          <p:cNvCxnSpPr/>
          <p:nvPr/>
        </p:nvCxnSpPr>
        <p:spPr>
          <a:xfrm>
            <a:off x="8458918" y="1348923"/>
            <a:ext cx="621900" cy="2922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4"/>
          <p:cNvCxnSpPr/>
          <p:nvPr/>
        </p:nvCxnSpPr>
        <p:spPr>
          <a:xfrm>
            <a:off x="8458918" y="1348923"/>
            <a:ext cx="1243500" cy="312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4"/>
          <p:cNvCxnSpPr/>
          <p:nvPr/>
        </p:nvCxnSpPr>
        <p:spPr>
          <a:xfrm flipH="1" rot="10800000">
            <a:off x="9080710" y="1379865"/>
            <a:ext cx="621900" cy="2613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4"/>
          <p:cNvCxnSpPr/>
          <p:nvPr/>
        </p:nvCxnSpPr>
        <p:spPr>
          <a:xfrm>
            <a:off x="9080710" y="1641165"/>
            <a:ext cx="1243500" cy="1617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4"/>
          <p:cNvCxnSpPr/>
          <p:nvPr/>
        </p:nvCxnSpPr>
        <p:spPr>
          <a:xfrm>
            <a:off x="9702502" y="1380012"/>
            <a:ext cx="621900" cy="4227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4"/>
          <p:cNvCxnSpPr/>
          <p:nvPr/>
        </p:nvCxnSpPr>
        <p:spPr>
          <a:xfrm>
            <a:off x="9702502" y="1380012"/>
            <a:ext cx="1274700" cy="1119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4"/>
          <p:cNvCxnSpPr/>
          <p:nvPr/>
        </p:nvCxnSpPr>
        <p:spPr>
          <a:xfrm flipH="1" rot="10800000">
            <a:off x="10324294" y="1703231"/>
            <a:ext cx="1305900" cy="996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4"/>
          <p:cNvCxnSpPr/>
          <p:nvPr/>
        </p:nvCxnSpPr>
        <p:spPr>
          <a:xfrm>
            <a:off x="10977176" y="1491935"/>
            <a:ext cx="652800" cy="2115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4"/>
          <p:cNvCxnSpPr/>
          <p:nvPr/>
        </p:nvCxnSpPr>
        <p:spPr>
          <a:xfrm flipH="1" rot="10800000">
            <a:off x="9080710" y="1492065"/>
            <a:ext cx="1896600" cy="1491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4"/>
          <p:cNvSpPr/>
          <p:nvPr/>
        </p:nvSpPr>
        <p:spPr>
          <a:xfrm>
            <a:off x="7781165" y="1728216"/>
            <a:ext cx="111900" cy="111900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402957" y="1292962"/>
            <a:ext cx="111900" cy="111900"/>
          </a:xfrm>
          <a:prstGeom prst="ellipse">
            <a:avLst/>
          </a:prstGeom>
          <a:solidFill>
            <a:srgbClr val="C9C5E1"/>
          </a:solidFill>
          <a:ln cap="flat" cmpd="sng" w="1015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024749" y="1585204"/>
            <a:ext cx="111900" cy="111900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646541" y="1324051"/>
            <a:ext cx="111900" cy="111900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268333" y="1746870"/>
            <a:ext cx="111900" cy="111900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921215" y="1435974"/>
            <a:ext cx="111900" cy="111900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1574096" y="1647383"/>
            <a:ext cx="111900" cy="111900"/>
          </a:xfrm>
          <a:prstGeom prst="ellipse">
            <a:avLst/>
          </a:prstGeom>
          <a:solidFill>
            <a:srgbClr val="C9C5E1"/>
          </a:solidFill>
          <a:ln cap="flat" cmpd="sng" w="1015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189720" y="2889504"/>
            <a:ext cx="347472" cy="347472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0259568" y="3785616"/>
            <a:ext cx="256032" cy="256032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869680" y="4572000"/>
            <a:ext cx="219456" cy="219456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58368" y="914400"/>
            <a:ext cx="685800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3100"/>
              <a:buFont typeface="Montserrat"/>
              <a:buNone/>
            </a:pPr>
            <a:r>
              <a:rPr b="1" i="0" lang="en-US" spc="0" sz="33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ЭКОНОМИЧЕСКАЯ</a:t>
            </a:r>
            <a:endParaRPr b="0" i="0" spc="0" sz="3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3100"/>
              <a:buFont typeface="Montserrat"/>
              <a:buNone/>
            </a:pPr>
            <a:r>
              <a:rPr b="1" i="0" lang="en-US" spc="0" sz="33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</a:t>
            </a:r>
            <a:endParaRPr b="0" i="0" spc="0" sz="3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3100"/>
              <a:buFont typeface="Montserrat"/>
              <a:buNone/>
            </a:pPr>
            <a:r>
              <a:rPr b="1" i="0" lang="en-US" spc="0" sz="33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МУНИЦИПАЛИТЕТОВ</a:t>
            </a:r>
            <a:endParaRPr b="0" i="0" spc="0" sz="3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85800" y="2770632"/>
            <a:ext cx="6492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9FB6"/>
              </a:buClr>
              <a:buSzPts val="1700"/>
              <a:buFont typeface="Montserrat"/>
              <a:buNone/>
            </a:pPr>
            <a:r>
              <a:rPr b="1" i="0" lang="en-US" spc="0" sz="2100" u="none" cap="none" strike="noStrike">
                <a:solidFill>
                  <a:srgbClr val="7F9FB6"/>
                </a:solidFill>
                <a:latin typeface="Montserrat"/>
                <a:ea typeface="Montserrat"/>
                <a:cs typeface="Montserrat"/>
                <a:sym typeface="Montserrat"/>
              </a:rPr>
              <a:t>Динамическая кластеризация на атрибутированных сетях</a:t>
            </a:r>
            <a:endParaRPr b="0" i="0" spc="0" sz="2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85800" y="3337560"/>
            <a:ext cx="6080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20"/>
              <a:buFont typeface="Montserrat"/>
              <a:buNone/>
            </a:pPr>
            <a:r>
              <a:rPr b="0" i="0" lang="en-US" spc="0" sz="152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Как из структуры потребительских расходов получить</a:t>
            </a:r>
            <a:endParaRPr b="0" i="0" spc="0" sz="15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20"/>
              <a:buFont typeface="Montserrat"/>
              <a:buNone/>
            </a:pPr>
            <a:r>
              <a:rPr b="0" i="0" lang="en-US" spc="0" sz="152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устойчивую типологию муниципалитетов</a:t>
            </a:r>
            <a:endParaRPr b="0" i="0" spc="0" sz="15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85800" y="4206218"/>
            <a:ext cx="1719000" cy="310800"/>
          </a:xfrm>
          <a:prstGeom prst="roundRect">
            <a:avLst>
              <a:gd fmla="val 17647" name="adj"/>
            </a:avLst>
          </a:prstGeom>
          <a:solidFill>
            <a:srgbClr val="E8D9B5"/>
          </a:solidFill>
          <a:ln cap="flat" cmpd="sng" w="1270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86384" y="4270226"/>
            <a:ext cx="1518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1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СберИндекс</a:t>
            </a:r>
            <a:endParaRPr b="0" i="0" spc="0" sz="11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2532888" y="4206218"/>
            <a:ext cx="2139600" cy="310800"/>
          </a:xfrm>
          <a:prstGeom prst="roundRect">
            <a:avLst>
              <a:gd fmla="val 17647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33472" y="4270226"/>
            <a:ext cx="1938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1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2023-01 - 2024-12</a:t>
            </a:r>
            <a:endParaRPr b="0" i="0" spc="0" sz="11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791456" y="4206218"/>
            <a:ext cx="2176200" cy="310800"/>
          </a:xfrm>
          <a:prstGeom prst="roundRect">
            <a:avLst>
              <a:gd fmla="val 17647" name="adj"/>
            </a:avLst>
          </a:prstGeom>
          <a:solidFill>
            <a:srgbClr val="BFD2C4"/>
          </a:solidFill>
          <a:ln cap="flat" cmpd="sng" w="1270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pc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892040" y="4270226"/>
            <a:ext cx="1975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1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3 экономических типа</a:t>
            </a:r>
            <a:endParaRPr b="0" i="0" spc="0" sz="11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85805" y="4871850"/>
            <a:ext cx="197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60"/>
              <a:buFont typeface="Montserrat"/>
              <a:buNone/>
            </a:pPr>
            <a:r>
              <a:rPr b="1" i="0" lang="en-US" spc="0" sz="11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Финальная модель</a:t>
            </a:r>
            <a:endParaRPr b="0" i="0" spc="0" sz="11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85788" y="5146175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450"/>
              <a:buFont typeface="Montserrat"/>
              <a:buNone/>
            </a:pPr>
            <a:r>
              <a:rPr b="1" i="0" lang="en-US" spc="0" sz="16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Euclidean  +  kNN(10)  +  RBF  +  Louvain(1.25)</a:t>
            </a:r>
            <a:endParaRPr b="0" i="0" spc="0" sz="16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85788" y="5630807"/>
            <a:ext cx="3840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0"/>
              <a:buFont typeface="Montserrat"/>
              <a:buNone/>
            </a:pPr>
            <a:r>
              <a:rPr b="0" i="0" lang="en-US" spc="0" sz="118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Методологический конкурсный проект</a:t>
            </a:r>
            <a:endParaRPr b="0" i="0" spc="0" sz="11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4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658368" y="4297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pc="0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Задача и идея</a:t>
            </a:r>
            <a:endParaRPr b="0" i="0" spc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85800" y="978408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pc="0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Почему здесь нужна именно атрибутированная сеть</a:t>
            </a:r>
            <a:endParaRPr b="0" i="0" spc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85800" y="1417320"/>
            <a:ext cx="5074920" cy="4160520"/>
          </a:xfrm>
          <a:prstGeom prst="roundRect">
            <a:avLst>
              <a:gd fmla="val 1758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60120" y="171907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500"/>
              <a:buFont typeface="Montserrat"/>
              <a:buNone/>
            </a:pPr>
            <a:r>
              <a:rPr b="1" i="0" lang="en-US" spc="0" sz="18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Обычная кластеризация</a:t>
            </a:r>
            <a:endParaRPr b="0" i="0" spc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960120" y="2212848"/>
            <a:ext cx="4206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400"/>
              <a:buFont typeface="Montserrat"/>
              <a:buNone/>
            </a:pPr>
            <a:r>
              <a:rPr b="0" i="0" lang="en-US" spc="0" sz="16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смотрит на признаки муниципалитета</a:t>
            </a:r>
            <a:endParaRPr b="0" i="0" spc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400"/>
              <a:buFont typeface="Montserrat"/>
              <a:buNone/>
            </a:pPr>
            <a:r>
              <a:rPr b="0" i="0" lang="en-US" spc="0" sz="16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как на отдельный вектор.</a:t>
            </a:r>
            <a:endParaRPr b="0" i="0" spc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051560" y="3255264"/>
            <a:ext cx="256032" cy="256032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874520" y="2926080"/>
            <a:ext cx="256032" cy="256032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847088" y="3712464"/>
            <a:ext cx="256032" cy="256032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697480" y="3236976"/>
            <a:ext cx="256032" cy="256032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p5"/>
          <p:cNvCxnSpPr/>
          <p:nvPr/>
        </p:nvCxnSpPr>
        <p:spPr>
          <a:xfrm flipH="1" rot="10800000">
            <a:off x="1271016" y="3118104"/>
            <a:ext cx="475488" cy="265176"/>
          </a:xfrm>
          <a:prstGeom prst="straightConnector1">
            <a:avLst/>
          </a:prstGeom>
          <a:noFill/>
          <a:ln cap="flat" cmpd="sng" w="15225">
            <a:solidFill>
              <a:srgbClr val="C9CDD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5"/>
          <p:cNvCxnSpPr/>
          <p:nvPr/>
        </p:nvCxnSpPr>
        <p:spPr>
          <a:xfrm>
            <a:off x="1271016" y="3383280"/>
            <a:ext cx="457200" cy="457200"/>
          </a:xfrm>
          <a:prstGeom prst="straightConnector1">
            <a:avLst/>
          </a:prstGeom>
          <a:noFill/>
          <a:ln cap="flat" cmpd="sng" w="15225">
            <a:solidFill>
              <a:srgbClr val="C9CDD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5"/>
          <p:cNvCxnSpPr/>
          <p:nvPr/>
        </p:nvCxnSpPr>
        <p:spPr>
          <a:xfrm>
            <a:off x="2130552" y="3054096"/>
            <a:ext cx="438912" cy="146304"/>
          </a:xfrm>
          <a:prstGeom prst="straightConnector1">
            <a:avLst/>
          </a:prstGeom>
          <a:noFill/>
          <a:ln cap="flat" cmpd="sng" w="15225">
            <a:solidFill>
              <a:srgbClr val="C9CDD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5"/>
          <p:cNvCxnSpPr/>
          <p:nvPr/>
        </p:nvCxnSpPr>
        <p:spPr>
          <a:xfrm flipH="1" rot="10800000">
            <a:off x="2130552" y="3392424"/>
            <a:ext cx="438912" cy="429768"/>
          </a:xfrm>
          <a:prstGeom prst="straightConnector1">
            <a:avLst/>
          </a:prstGeom>
          <a:noFill/>
          <a:ln cap="flat" cmpd="sng" w="15225">
            <a:solidFill>
              <a:srgbClr val="C9CD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5"/>
          <p:cNvSpPr/>
          <p:nvPr/>
        </p:nvSpPr>
        <p:spPr>
          <a:xfrm>
            <a:off x="960120" y="42062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9FB6"/>
              </a:buClr>
              <a:buSzPts val="900"/>
              <a:buFont typeface="Montserrat"/>
              <a:buNone/>
            </a:pPr>
            <a:r>
              <a:rPr b="1" i="0" lang="en-US" spc="0" sz="1500" u="none" cap="none" strike="noStrike">
                <a:solidFill>
                  <a:srgbClr val="7F9FB6"/>
                </a:solidFill>
                <a:latin typeface="Montserrat"/>
                <a:ea typeface="Montserrat"/>
                <a:cs typeface="Montserrat"/>
                <a:sym typeface="Montserrat"/>
              </a:rPr>
              <a:t>Признаки</a:t>
            </a:r>
            <a:endParaRPr b="0" i="0" spc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960120" y="4590288"/>
            <a:ext cx="1051560" cy="310896"/>
          </a:xfrm>
          <a:prstGeom prst="roundRect">
            <a:avLst>
              <a:gd fmla="val 17647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060704" y="4654296"/>
            <a:ext cx="8503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food</a:t>
            </a:r>
            <a:endParaRPr b="0" i="0" spc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2130552" y="4590288"/>
            <a:ext cx="1051560" cy="310896"/>
          </a:xfrm>
          <a:prstGeom prst="roundRect">
            <a:avLst>
              <a:gd fmla="val 17647" name="adj"/>
            </a:avLst>
          </a:prstGeom>
          <a:solidFill>
            <a:srgbClr val="BFD2C4"/>
          </a:solidFill>
          <a:ln cap="flat" cmpd="sng" w="1270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231136" y="4654296"/>
            <a:ext cx="8503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health</a:t>
            </a:r>
            <a:endParaRPr b="0" i="0" spc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300984" y="4590288"/>
            <a:ext cx="1325880" cy="310896"/>
          </a:xfrm>
          <a:prstGeom prst="roundRect">
            <a:avLst>
              <a:gd fmla="val 17647" name="adj"/>
            </a:avLst>
          </a:prstGeom>
          <a:solidFill>
            <a:srgbClr val="E4C4B8"/>
          </a:solidFill>
          <a:ln cap="flat" cmpd="sng" w="1270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401568" y="4654296"/>
            <a:ext cx="11247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market</a:t>
            </a:r>
            <a:endParaRPr b="0" i="0" spc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989320" y="1417320"/>
            <a:ext cx="5468112" cy="4160520"/>
          </a:xfrm>
          <a:prstGeom prst="roundRect">
            <a:avLst>
              <a:gd fmla="val 1758" name="adj"/>
            </a:avLst>
          </a:prstGeom>
          <a:solidFill>
            <a:srgbClr val="F3F6F2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309360" y="171907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500"/>
              <a:buFont typeface="Montserrat"/>
              <a:buNone/>
            </a:pPr>
            <a:r>
              <a:rPr b="1" i="0" lang="en-US" spc="0" sz="18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Наша постановка</a:t>
            </a:r>
            <a:endParaRPr b="0" i="0" spc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309360" y="214884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F95"/>
              </a:buClr>
              <a:buSzPts val="1700"/>
              <a:buFont typeface="Montserrat"/>
              <a:buNone/>
            </a:pPr>
            <a:r>
              <a:rPr b="1" i="0" lang="en-US" spc="0" sz="2000" u="none" cap="none" strike="noStrike">
                <a:solidFill>
                  <a:srgbClr val="8BAF95"/>
                </a:solidFill>
                <a:latin typeface="Montserrat"/>
                <a:ea typeface="Montserrat"/>
                <a:cs typeface="Montserrat"/>
                <a:sym typeface="Montserrat"/>
              </a:rPr>
              <a:t>Муниципалитет = узел</a:t>
            </a:r>
            <a:endParaRPr b="0" i="0" spc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F95"/>
              </a:buClr>
              <a:buSzPts val="1700"/>
              <a:buFont typeface="Montserrat"/>
              <a:buNone/>
            </a:pPr>
            <a:r>
              <a:rPr b="1" i="0" lang="en-US" spc="0" sz="2000" u="none" cap="none" strike="noStrike">
                <a:solidFill>
                  <a:srgbClr val="8BAF95"/>
                </a:solidFill>
                <a:latin typeface="Montserrat"/>
                <a:ea typeface="Montserrat"/>
                <a:cs typeface="Montserrat"/>
                <a:sym typeface="Montserrat"/>
              </a:rPr>
              <a:t>экономической сети</a:t>
            </a:r>
            <a:endParaRPr b="0" i="0" spc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309349" y="2907800"/>
            <a:ext cx="485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50"/>
              <a:buFont typeface="Montserrat"/>
              <a:buNone/>
            </a:pPr>
            <a:r>
              <a:rPr b="0" i="0" lang="en-US" spc="0" sz="15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Атрибуты узла – структура потребительских расходов.</a:t>
            </a:r>
            <a:endParaRPr b="0" i="0" spc="0" sz="15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50"/>
              <a:buFont typeface="Montserrat"/>
              <a:buNone/>
            </a:pPr>
            <a:r>
              <a:rPr b="0" i="0" lang="en-US" spc="0" sz="15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Ребро – экономическая близость профилей.</a:t>
            </a:r>
            <a:endParaRPr b="0" i="0" spc="0" sz="15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6" name="Google Shape;86;p5"/>
          <p:cNvCxnSpPr/>
          <p:nvPr/>
        </p:nvCxnSpPr>
        <p:spPr>
          <a:xfrm>
            <a:off x="6327648" y="3895344"/>
            <a:ext cx="4526280" cy="0"/>
          </a:xfrm>
          <a:prstGeom prst="straightConnector1">
            <a:avLst/>
          </a:prstGeom>
          <a:noFill/>
          <a:ln cap="flat" cmpd="sng" w="15225">
            <a:solidFill>
              <a:srgbClr val="C8D2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5"/>
          <p:cNvSpPr/>
          <p:nvPr/>
        </p:nvSpPr>
        <p:spPr>
          <a:xfrm>
            <a:off x="6309347" y="4160525"/>
            <a:ext cx="389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00"/>
              <a:buFont typeface="Montserrat"/>
              <a:buNone/>
            </a:pPr>
            <a:r>
              <a:rPr b="1" i="0" lang="en-US" spc="0" sz="15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Одновременно анализируем</a:t>
            </a:r>
            <a:endParaRPr b="0" i="0" spc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309360" y="4526280"/>
            <a:ext cx="1581912" cy="310896"/>
          </a:xfrm>
          <a:prstGeom prst="roundRect">
            <a:avLst>
              <a:gd fmla="val 17647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09944" y="4590288"/>
            <a:ext cx="1380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атрибуты</a:t>
            </a:r>
            <a:endParaRPr b="0" i="0" spc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065008" y="4526280"/>
            <a:ext cx="1490472" cy="310896"/>
          </a:xfrm>
          <a:prstGeom prst="roundRect">
            <a:avLst>
              <a:gd fmla="val 17647" name="adj"/>
            </a:avLst>
          </a:prstGeom>
          <a:solidFill>
            <a:srgbClr val="E4C4B8"/>
          </a:solidFill>
          <a:ln cap="flat" cmpd="sng" w="1270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165592" y="4590288"/>
            <a:ext cx="12893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связи</a:t>
            </a:r>
            <a:endParaRPr b="0" i="0" spc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9747504" y="4526280"/>
            <a:ext cx="1417320" cy="310896"/>
          </a:xfrm>
          <a:prstGeom prst="roundRect">
            <a:avLst>
              <a:gd fmla="val 17647" name="adj"/>
            </a:avLst>
          </a:prstGeom>
          <a:solidFill>
            <a:srgbClr val="C9C5E1"/>
          </a:solidFill>
          <a:ln cap="flat" cmpd="sng" w="1270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9848088" y="4590288"/>
            <a:ext cx="1216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динамику</a:t>
            </a:r>
            <a:endParaRPr b="0" i="0" spc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309360" y="4974332"/>
            <a:ext cx="44439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80"/>
              <a:buFont typeface="Montserrat"/>
              <a:buNone/>
            </a:pPr>
            <a:r>
              <a:rPr b="0" i="0" lang="en-US" spc="0" sz="128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 – не только группы, но и наблюдаемая во времени типология локальных экономик.</a:t>
            </a:r>
            <a:endParaRPr b="0" i="0" spc="0" sz="12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5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8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/>
        </p:nvSpPr>
        <p:spPr>
          <a:xfrm>
            <a:off x="658306" y="428820"/>
            <a:ext cx="10698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410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Что именно является сетью?</a:t>
            </a:r>
            <a:endParaRPr sz="4100"/>
          </a:p>
        </p:txBody>
      </p:sp>
      <p:sp>
        <p:nvSpPr>
          <p:cNvPr id="101" name="Google Shape;101;p6"/>
          <p:cNvSpPr txBox="1"/>
          <p:nvPr/>
        </p:nvSpPr>
        <p:spPr>
          <a:xfrm>
            <a:off x="658356" y="1086777"/>
            <a:ext cx="10698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850" u="none" cap="none" strike="noStrike">
                <a:solidFill>
                  <a:srgbClr val="6B747C"/>
                </a:solidFill>
                <a:latin typeface="Montserrat"/>
                <a:ea typeface="Montserrat"/>
                <a:cs typeface="Montserrat"/>
                <a:sym typeface="Montserrat"/>
              </a:rPr>
              <a:t>Четыре элемента модели </a:t>
            </a:r>
            <a:r>
              <a:rPr lang="en-US" sz="1850">
                <a:solidFill>
                  <a:srgbClr val="6B747C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r>
              <a:rPr b="0" i="0" lang="en-US" spc="0" sz="1850" u="none" cap="none" strike="noStrike">
                <a:solidFill>
                  <a:srgbClr val="6B747C"/>
                </a:solidFill>
                <a:latin typeface="Montserrat"/>
                <a:ea typeface="Montserrat"/>
                <a:cs typeface="Montserrat"/>
                <a:sym typeface="Montserrat"/>
              </a:rPr>
              <a:t> и зачем нужна динамическая постановка</a:t>
            </a:r>
            <a:endParaRPr sz="2000"/>
          </a:p>
        </p:txBody>
      </p:sp>
      <p:sp>
        <p:nvSpPr>
          <p:cNvPr id="102" name="Google Shape;102;p6"/>
          <p:cNvSpPr/>
          <p:nvPr/>
        </p:nvSpPr>
        <p:spPr>
          <a:xfrm>
            <a:off x="658368" y="1600200"/>
            <a:ext cx="2514600" cy="2148840"/>
          </a:xfrm>
          <a:prstGeom prst="roundRect">
            <a:avLst>
              <a:gd fmla="val 16667" name="adj"/>
            </a:avLst>
          </a:prstGeom>
          <a:solidFill>
            <a:srgbClr val="AFC7D8"/>
          </a:solidFill>
          <a:ln cap="flat" cmpd="sng" w="10150">
            <a:solidFill>
              <a:srgbClr val="E5E1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22959" y="176479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800"/>
          </a:p>
        </p:txBody>
      </p:sp>
      <p:sp>
        <p:nvSpPr>
          <p:cNvPr id="104" name="Google Shape;104;p6"/>
          <p:cNvSpPr txBox="1"/>
          <p:nvPr/>
        </p:nvSpPr>
        <p:spPr>
          <a:xfrm>
            <a:off x="1202378" y="1751623"/>
            <a:ext cx="176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10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Узел</a:t>
            </a:r>
            <a:endParaRPr sz="2000"/>
          </a:p>
        </p:txBody>
      </p:sp>
      <p:sp>
        <p:nvSpPr>
          <p:cNvPr id="105" name="Google Shape;105;p6"/>
          <p:cNvSpPr txBox="1"/>
          <p:nvPr/>
        </p:nvSpPr>
        <p:spPr>
          <a:xfrm>
            <a:off x="877824" y="2203704"/>
            <a:ext cx="20757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3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Один муниципалитет</a:t>
            </a:r>
            <a:br>
              <a:rPr b="0" i="0" lang="en-US" spc="0" sz="13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-US" spc="0" sz="13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в одном месяце </a:t>
            </a:r>
            <a:r>
              <a:rPr lang="en-US" sz="1350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r>
              <a:rPr b="0" i="0" lang="en-US" spc="0" sz="13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 отдельный узел сети.</a:t>
            </a:r>
            <a:endParaRPr sz="1600"/>
          </a:p>
        </p:txBody>
      </p:sp>
      <p:sp>
        <p:nvSpPr>
          <p:cNvPr id="106" name="Google Shape;106;p6"/>
          <p:cNvSpPr/>
          <p:nvPr/>
        </p:nvSpPr>
        <p:spPr>
          <a:xfrm>
            <a:off x="3328416" y="1600200"/>
            <a:ext cx="2514600" cy="2148840"/>
          </a:xfrm>
          <a:prstGeom prst="roundRect">
            <a:avLst>
              <a:gd fmla="val 16667" name="adj"/>
            </a:avLst>
          </a:prstGeom>
          <a:solidFill>
            <a:srgbClr val="BFD2C4"/>
          </a:solidFill>
          <a:ln cap="flat" cmpd="sng" w="10150">
            <a:solidFill>
              <a:srgbClr val="E5E1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493008" y="176479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800"/>
          </a:p>
        </p:txBody>
      </p:sp>
      <p:sp>
        <p:nvSpPr>
          <p:cNvPr id="108" name="Google Shape;108;p6"/>
          <p:cNvSpPr txBox="1"/>
          <p:nvPr/>
        </p:nvSpPr>
        <p:spPr>
          <a:xfrm>
            <a:off x="3897601" y="1755648"/>
            <a:ext cx="176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10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Атрибуты</a:t>
            </a:r>
            <a:endParaRPr sz="2000"/>
          </a:p>
        </p:txBody>
      </p:sp>
      <p:sp>
        <p:nvSpPr>
          <p:cNvPr id="109" name="Google Shape;109;p6"/>
          <p:cNvSpPr txBox="1"/>
          <p:nvPr/>
        </p:nvSpPr>
        <p:spPr>
          <a:xfrm>
            <a:off x="3524925" y="2193813"/>
            <a:ext cx="2121600" cy="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3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Пять долей потребления:</a:t>
            </a:r>
            <a:br>
              <a:rPr b="0" i="0" lang="en-US" spc="0" sz="13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-US" spc="0" sz="13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продовольствие, здоровье, маркетплейсы, общепит и транспорт.</a:t>
            </a:r>
            <a:endParaRPr sz="1600"/>
          </a:p>
        </p:txBody>
      </p:sp>
      <p:sp>
        <p:nvSpPr>
          <p:cNvPr id="110" name="Google Shape;110;p6"/>
          <p:cNvSpPr/>
          <p:nvPr/>
        </p:nvSpPr>
        <p:spPr>
          <a:xfrm>
            <a:off x="5998464" y="1600200"/>
            <a:ext cx="2514600" cy="2148840"/>
          </a:xfrm>
          <a:prstGeom prst="roundRect">
            <a:avLst>
              <a:gd fmla="val 16667" name="adj"/>
            </a:avLst>
          </a:prstGeom>
          <a:solidFill>
            <a:srgbClr val="E4C4B8"/>
          </a:solidFill>
          <a:ln cap="flat" cmpd="sng" w="10150">
            <a:solidFill>
              <a:srgbClr val="E5E1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163055" y="176479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800"/>
          </a:p>
        </p:txBody>
      </p:sp>
      <p:sp>
        <p:nvSpPr>
          <p:cNvPr id="112" name="Google Shape;112;p6"/>
          <p:cNvSpPr txBox="1"/>
          <p:nvPr/>
        </p:nvSpPr>
        <p:spPr>
          <a:xfrm>
            <a:off x="6580237" y="1751623"/>
            <a:ext cx="176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10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Ребро</a:t>
            </a:r>
            <a:endParaRPr sz="2000"/>
          </a:p>
        </p:txBody>
      </p:sp>
      <p:sp>
        <p:nvSpPr>
          <p:cNvPr id="113" name="Google Shape;113;p6"/>
          <p:cNvSpPr txBox="1"/>
          <p:nvPr/>
        </p:nvSpPr>
        <p:spPr>
          <a:xfrm>
            <a:off x="6217920" y="2203704"/>
            <a:ext cx="2075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3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Связываем муниципалитеты,</a:t>
            </a:r>
            <a:br>
              <a:rPr b="0" i="0" lang="en-US" spc="0" sz="13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-US" spc="0" sz="13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если их экономические профили близки: kNN, k = 10.</a:t>
            </a:r>
            <a:endParaRPr sz="1600"/>
          </a:p>
        </p:txBody>
      </p:sp>
      <p:sp>
        <p:nvSpPr>
          <p:cNvPr id="114" name="Google Shape;114;p6"/>
          <p:cNvSpPr/>
          <p:nvPr/>
        </p:nvSpPr>
        <p:spPr>
          <a:xfrm>
            <a:off x="8668512" y="1600200"/>
            <a:ext cx="2514600" cy="2148840"/>
          </a:xfrm>
          <a:prstGeom prst="roundRect">
            <a:avLst>
              <a:gd fmla="val 16667" name="adj"/>
            </a:avLst>
          </a:prstGeom>
          <a:solidFill>
            <a:srgbClr val="C9C5E1"/>
          </a:solidFill>
          <a:ln cap="flat" cmpd="sng" w="10150">
            <a:solidFill>
              <a:srgbClr val="E5E1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8833104" y="176479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800"/>
          </a:p>
        </p:txBody>
      </p:sp>
      <p:sp>
        <p:nvSpPr>
          <p:cNvPr id="116" name="Google Shape;116;p6"/>
          <p:cNvSpPr txBox="1"/>
          <p:nvPr/>
        </p:nvSpPr>
        <p:spPr>
          <a:xfrm>
            <a:off x="9262872" y="1755648"/>
            <a:ext cx="176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210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Вес</a:t>
            </a:r>
            <a:endParaRPr sz="2000"/>
          </a:p>
        </p:txBody>
      </p:sp>
      <p:sp>
        <p:nvSpPr>
          <p:cNvPr id="117" name="Google Shape;117;p6"/>
          <p:cNvSpPr txBox="1"/>
          <p:nvPr/>
        </p:nvSpPr>
        <p:spPr>
          <a:xfrm>
            <a:off x="8887968" y="2203704"/>
            <a:ext cx="2075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3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Чем ближе профили, тем сильнее связь:</a:t>
            </a:r>
            <a:br>
              <a:rPr b="0" i="0" lang="en-US" spc="0" sz="13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-US" spc="0" sz="13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 wᵢⱼ = exp(−dᵢⱼ / σ).</a:t>
            </a:r>
            <a:endParaRPr sz="1600"/>
          </a:p>
        </p:txBody>
      </p:sp>
      <p:sp>
        <p:nvSpPr>
          <p:cNvPr id="118" name="Google Shape;118;p6"/>
          <p:cNvSpPr txBox="1"/>
          <p:nvPr/>
        </p:nvSpPr>
        <p:spPr>
          <a:xfrm>
            <a:off x="822950" y="4041675"/>
            <a:ext cx="30321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7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Как это превращается в граф</a:t>
            </a:r>
            <a:endParaRPr sz="1600"/>
          </a:p>
        </p:txBody>
      </p:sp>
      <p:cxnSp>
        <p:nvCxnSpPr>
          <p:cNvPr id="119" name="Google Shape;119;p6"/>
          <p:cNvCxnSpPr/>
          <p:nvPr/>
        </p:nvCxnSpPr>
        <p:spPr>
          <a:xfrm flipH="1" rot="10800000">
            <a:off x="1078992" y="4782312"/>
            <a:ext cx="1417320" cy="182880"/>
          </a:xfrm>
          <a:prstGeom prst="straightConnector1">
            <a:avLst/>
          </a:prstGeom>
          <a:noFill/>
          <a:ln cap="flat" cmpd="sng" w="16500">
            <a:solidFill>
              <a:srgbClr val="C8CB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0" name="Google Shape;120;p6"/>
          <p:cNvCxnSpPr/>
          <p:nvPr/>
        </p:nvCxnSpPr>
        <p:spPr>
          <a:xfrm>
            <a:off x="1078992" y="4965192"/>
            <a:ext cx="914400" cy="731520"/>
          </a:xfrm>
          <a:prstGeom prst="straightConnector1">
            <a:avLst/>
          </a:prstGeom>
          <a:noFill/>
          <a:ln cap="flat" cmpd="sng" w="16500">
            <a:solidFill>
              <a:srgbClr val="C8CB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1" name="Google Shape;121;p6"/>
          <p:cNvCxnSpPr/>
          <p:nvPr/>
        </p:nvCxnSpPr>
        <p:spPr>
          <a:xfrm flipH="1">
            <a:off x="1993392" y="4782312"/>
            <a:ext cx="502920" cy="914400"/>
          </a:xfrm>
          <a:prstGeom prst="straightConnector1">
            <a:avLst/>
          </a:prstGeom>
          <a:noFill/>
          <a:ln cap="flat" cmpd="sng" w="16500">
            <a:solidFill>
              <a:srgbClr val="C8CB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2" name="Google Shape;122;p6"/>
          <p:cNvCxnSpPr/>
          <p:nvPr/>
        </p:nvCxnSpPr>
        <p:spPr>
          <a:xfrm>
            <a:off x="2496312" y="4782312"/>
            <a:ext cx="1005840" cy="822960"/>
          </a:xfrm>
          <a:prstGeom prst="straightConnector1">
            <a:avLst/>
          </a:prstGeom>
          <a:noFill/>
          <a:ln cap="flat" cmpd="sng" w="16500">
            <a:solidFill>
              <a:srgbClr val="C8CB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3" name="Google Shape;123;p6"/>
          <p:cNvCxnSpPr/>
          <p:nvPr/>
        </p:nvCxnSpPr>
        <p:spPr>
          <a:xfrm flipH="1" rot="10800000">
            <a:off x="1993392" y="5605272"/>
            <a:ext cx="1508760" cy="91440"/>
          </a:xfrm>
          <a:prstGeom prst="straightConnector1">
            <a:avLst/>
          </a:prstGeom>
          <a:noFill/>
          <a:ln cap="flat" cmpd="sng" w="16500">
            <a:solidFill>
              <a:srgbClr val="C8CB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4" name="Google Shape;124;p6"/>
          <p:cNvCxnSpPr/>
          <p:nvPr/>
        </p:nvCxnSpPr>
        <p:spPr>
          <a:xfrm flipH="1" rot="10800000">
            <a:off x="3502152" y="4828031"/>
            <a:ext cx="640079" cy="777241"/>
          </a:xfrm>
          <a:prstGeom prst="straightConnector1">
            <a:avLst/>
          </a:prstGeom>
          <a:noFill/>
          <a:ln cap="flat" cmpd="sng" w="16500">
            <a:solidFill>
              <a:srgbClr val="C8CB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5" name="Google Shape;125;p6"/>
          <p:cNvCxnSpPr/>
          <p:nvPr/>
        </p:nvCxnSpPr>
        <p:spPr>
          <a:xfrm>
            <a:off x="2496312" y="4782312"/>
            <a:ext cx="1645919" cy="45719"/>
          </a:xfrm>
          <a:prstGeom prst="straightConnector1">
            <a:avLst/>
          </a:prstGeom>
          <a:noFill/>
          <a:ln cap="flat" cmpd="sng" w="16500">
            <a:solidFill>
              <a:srgbClr val="C8CB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6" name="Google Shape;126;p6"/>
          <p:cNvSpPr/>
          <p:nvPr/>
        </p:nvSpPr>
        <p:spPr>
          <a:xfrm>
            <a:off x="914400" y="4800600"/>
            <a:ext cx="347472" cy="347472"/>
          </a:xfrm>
          <a:prstGeom prst="ellipse">
            <a:avLst/>
          </a:prstGeom>
          <a:solidFill>
            <a:srgbClr val="AFC7D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0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2331720" y="4617720"/>
            <a:ext cx="347472" cy="347472"/>
          </a:xfrm>
          <a:prstGeom prst="ellipse">
            <a:avLst/>
          </a:prstGeom>
          <a:solidFill>
            <a:srgbClr val="BFD2C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0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1828800" y="5532120"/>
            <a:ext cx="347472" cy="347472"/>
          </a:xfrm>
          <a:prstGeom prst="ellipse">
            <a:avLst/>
          </a:prstGeom>
          <a:solidFill>
            <a:srgbClr val="E4C4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0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3337560" y="5440680"/>
            <a:ext cx="347472" cy="347472"/>
          </a:xfrm>
          <a:prstGeom prst="ellipse">
            <a:avLst/>
          </a:prstGeom>
          <a:solidFill>
            <a:srgbClr val="C9C5E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0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3977639" y="4663440"/>
            <a:ext cx="347472" cy="347472"/>
          </a:xfrm>
          <a:prstGeom prst="ellipse">
            <a:avLst/>
          </a:prstGeom>
          <a:solidFill>
            <a:srgbClr val="E8D9B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90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4617720" y="4270582"/>
            <a:ext cx="5760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9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В каждом месяце сеть строится заново</a:t>
            </a:r>
            <a:endParaRPr sz="1700"/>
          </a:p>
        </p:txBody>
      </p:sp>
      <p:sp>
        <p:nvSpPr>
          <p:cNvPr id="132" name="Google Shape;132;p6"/>
          <p:cNvSpPr txBox="1"/>
          <p:nvPr/>
        </p:nvSpPr>
        <p:spPr>
          <a:xfrm>
            <a:off x="4617726" y="4724050"/>
            <a:ext cx="65655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14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Поэтому номера Louvain-кластеров не считаются постоянными типами.</a:t>
            </a:r>
            <a:br>
              <a:rPr b="0" i="0" lang="en-US" spc="0" sz="14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-US" spc="0" sz="14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Сначала получаем месячные сообщества, затем объединяем их профили в K = 3 устойчивых экономических типа.</a:t>
            </a:r>
            <a:endParaRPr sz="1600"/>
          </a:p>
        </p:txBody>
      </p:sp>
      <p:sp>
        <p:nvSpPr>
          <p:cNvPr id="133" name="Google Shape;133;p6"/>
          <p:cNvSpPr/>
          <p:nvPr/>
        </p:nvSpPr>
        <p:spPr>
          <a:xfrm>
            <a:off x="4617726" y="5806450"/>
            <a:ext cx="6565500" cy="530400"/>
          </a:xfrm>
          <a:prstGeom prst="roundRect">
            <a:avLst>
              <a:gd fmla="val 16667" name="adj"/>
            </a:avLst>
          </a:prstGeom>
          <a:solidFill>
            <a:srgbClr val="F3F6F2"/>
          </a:solidFill>
          <a:ln cap="flat" cmpd="sng" w="9525">
            <a:solidFill>
              <a:srgbClr val="E5E1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150" u="none" cap="none" strike="noStrike">
                <a:solidFill>
                  <a:srgbClr val="252F3A"/>
                </a:solidFill>
                <a:latin typeface="Montserrat"/>
                <a:ea typeface="Montserrat"/>
                <a:cs typeface="Montserrat"/>
                <a:sym typeface="Montserrat"/>
              </a:rPr>
              <a:t>Временная динамика анализируется через последовательность месячных типологий, а не через выравнивание индивидуальных траекторий.</a:t>
            </a:r>
            <a:endParaRPr sz="1500"/>
          </a:p>
        </p:txBody>
      </p:sp>
      <p:sp>
        <p:nvSpPr>
          <p:cNvPr id="134" name="Google Shape;134;p6"/>
          <p:cNvSpPr txBox="1"/>
          <p:nvPr/>
        </p:nvSpPr>
        <p:spPr>
          <a:xfrm>
            <a:off x="658368" y="6345936"/>
            <a:ext cx="68580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850" u="none" cap="none" strike="noStrike">
                <a:solidFill>
                  <a:srgbClr val="6B747C"/>
                </a:solidFill>
                <a:latin typeface="Montserrat"/>
                <a:ea typeface="Montserrat"/>
                <a:cs typeface="Montserrat"/>
                <a:sym typeface="Montserrat"/>
              </a:rPr>
              <a:t>SberIndex • динамическая атрибутированная сеть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8732520" y="6345936"/>
            <a:ext cx="2606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pc="0" sz="850" u="none" cap="none" strike="noStrike">
                <a:solidFill>
                  <a:srgbClr val="6B747C"/>
                </a:solidFill>
                <a:latin typeface="Montserrat"/>
                <a:ea typeface="Montserrat"/>
                <a:cs typeface="Montserrat"/>
                <a:sym typeface="Montserrat"/>
              </a:rPr>
              <a:t>01–15 • 2023–2024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658368" y="4297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pc="0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Данные и признаки</a:t>
            </a:r>
            <a:endParaRPr b="0" i="0" spc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85800" y="978408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pc="0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Панель municipality-month за 24 месяца</a:t>
            </a:r>
            <a:endParaRPr b="0" i="0" spc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85800" y="1399025"/>
            <a:ext cx="3101400" cy="1234500"/>
          </a:xfrm>
          <a:prstGeom prst="roundRect">
            <a:avLst>
              <a:gd fmla="val 5926" name="adj"/>
            </a:avLst>
          </a:prstGeom>
          <a:solidFill>
            <a:srgbClr val="AFC7D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50392" y="1554480"/>
            <a:ext cx="17282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pc="0" sz="18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Наблюдений</a:t>
            </a:r>
            <a:endParaRPr b="0" i="0" spc="0" sz="18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850392" y="1856232"/>
            <a:ext cx="17282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pc="0" sz="29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50 521</a:t>
            </a:r>
            <a:endParaRPr b="0" i="0" spc="0" sz="2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850392" y="2304288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municipality-month</a:t>
            </a:r>
            <a:endParaRPr b="0" i="0" spc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424912" y="1403563"/>
            <a:ext cx="3101400" cy="1234500"/>
          </a:xfrm>
          <a:prstGeom prst="roundRect">
            <a:avLst>
              <a:gd fmla="val 5926" name="adj"/>
            </a:avLst>
          </a:prstGeom>
          <a:solidFill>
            <a:srgbClr val="BFD2C4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589459" y="1554480"/>
            <a:ext cx="172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pc="0" sz="18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Период</a:t>
            </a:r>
            <a:endParaRPr b="0" i="0" spc="0" sz="18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589447" y="1856245"/>
            <a:ext cx="1728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pc="0" sz="29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24 мес.</a:t>
            </a:r>
            <a:endParaRPr b="0" i="0" spc="0" sz="2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589459" y="2304226"/>
            <a:ext cx="1728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янв. 2023 - дек. 2024</a:t>
            </a:r>
            <a:endParaRPr b="0" i="0" spc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8164000" y="1403575"/>
            <a:ext cx="3101400" cy="1234500"/>
          </a:xfrm>
          <a:prstGeom prst="roundRect">
            <a:avLst>
              <a:gd fmla="val 5926" name="adj"/>
            </a:avLst>
          </a:prstGeom>
          <a:solidFill>
            <a:srgbClr val="E4C4B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8328600" y="1554475"/>
            <a:ext cx="3101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pc="0" sz="18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Основных признаков</a:t>
            </a:r>
            <a:endParaRPr b="0" i="0" spc="0" sz="18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8328601" y="1856245"/>
            <a:ext cx="1728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pc="0" sz="29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pc="0" sz="2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328589" y="2304238"/>
            <a:ext cx="1728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доли категорий</a:t>
            </a:r>
            <a:endParaRPr b="0" i="0" spc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85800" y="2852928"/>
            <a:ext cx="3977640" cy="2724912"/>
          </a:xfrm>
          <a:prstGeom prst="roundRect">
            <a:avLst>
              <a:gd fmla="val 2685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</a:pPr>
            <a:r>
              <a:rPr b="0" i="0" lang="en-US" spc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Основной вектор</a:t>
            </a:r>
            <a:endParaRPr b="0" i="0" spc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960120" y="3163817"/>
            <a:ext cx="137100" cy="137100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207046" y="3099841"/>
            <a:ext cx="265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50"/>
              <a:buFont typeface="Montserrat"/>
              <a:buNone/>
            </a:pPr>
            <a:r>
              <a:rPr b="0" i="0" lang="en-US" spc="0" sz="14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Продовольствие</a:t>
            </a:r>
            <a:endParaRPr b="0" i="0" spc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960145" y="3512828"/>
            <a:ext cx="137100" cy="137100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231221" y="3470152"/>
            <a:ext cx="265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50"/>
              <a:buFont typeface="Montserrat"/>
              <a:buNone/>
            </a:pPr>
            <a:r>
              <a:rPr b="0" i="0" lang="en-US" spc="0" sz="14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Здоровье</a:t>
            </a:r>
            <a:endParaRPr b="0" i="0" spc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960120" y="3861826"/>
            <a:ext cx="137100" cy="137100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207046" y="3820662"/>
            <a:ext cx="265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50"/>
              <a:buFont typeface="Montserrat"/>
              <a:buNone/>
            </a:pPr>
            <a:r>
              <a:rPr b="0" i="0" lang="en-US" spc="0" sz="14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Маркетплейсы</a:t>
            </a:r>
            <a:endParaRPr b="0" i="0" spc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960145" y="4210824"/>
            <a:ext cx="137100" cy="137100"/>
          </a:xfrm>
          <a:prstGeom prst="ellipse">
            <a:avLst/>
          </a:prstGeom>
          <a:solidFill>
            <a:srgbClr val="C9C5E1"/>
          </a:solidFill>
          <a:ln cap="flat" cmpd="sng" w="1015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207033" y="4171148"/>
            <a:ext cx="265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50"/>
              <a:buFont typeface="Montserrat"/>
              <a:buNone/>
            </a:pPr>
            <a:r>
              <a:rPr b="0" i="0" lang="en-US" spc="0" sz="14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Общественное питание</a:t>
            </a:r>
            <a:endParaRPr b="0" i="0" spc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960095" y="4559822"/>
            <a:ext cx="137100" cy="137100"/>
          </a:xfrm>
          <a:prstGeom prst="ellipse">
            <a:avLst/>
          </a:prstGeom>
          <a:solidFill>
            <a:srgbClr val="E8D9B5"/>
          </a:solidFill>
          <a:ln cap="flat" cmpd="sng" w="1015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231221" y="4521658"/>
            <a:ext cx="265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50"/>
              <a:buFont typeface="Montserrat"/>
              <a:buNone/>
            </a:pPr>
            <a:r>
              <a:rPr b="0" i="0" lang="en-US" spc="0" sz="14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Транспорт</a:t>
            </a:r>
            <a:endParaRPr b="0" i="0" spc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982925" y="4959408"/>
            <a:ext cx="3383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60"/>
              <a:buFont typeface="Montserrat"/>
              <a:buNone/>
            </a:pPr>
            <a:r>
              <a:rPr b="0" i="0" lang="en-US" spc="0" sz="10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Доли пяти выбранных категорий</a:t>
            </a:r>
            <a:endParaRPr b="0" i="0" spc="0" sz="1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60"/>
              <a:buFont typeface="Montserrat"/>
              <a:buNone/>
            </a:pPr>
            <a:r>
              <a:rPr b="0" i="0" lang="en-US" spc="0" sz="10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суммируются до 1 с учетом округления.</a:t>
            </a:r>
            <a:endParaRPr b="0" i="0" spc="0" sz="1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8" name="Google Shape;1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2807208"/>
            <a:ext cx="644652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7"/>
          <p:cNvSpPr/>
          <p:nvPr/>
        </p:nvSpPr>
        <p:spPr>
          <a:xfrm>
            <a:off x="5047488" y="5614416"/>
            <a:ext cx="6217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39"/>
              <a:buFont typeface="Montserrat"/>
              <a:buNone/>
            </a:pPr>
            <a:r>
              <a:rPr b="0" i="0" lang="en-US" spc="0" sz="10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market_access и транспортные связи используются как контекст,</a:t>
            </a:r>
            <a:endParaRPr b="0" i="0" spc="0" sz="10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39"/>
              <a:buFont typeface="Montserrat"/>
              <a:buNone/>
            </a:pPr>
            <a:r>
              <a:rPr b="0" i="0" lang="en-US" spc="0" sz="10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но не входят в основной пятимерный вектор признаков.</a:t>
            </a:r>
            <a:endParaRPr b="0" i="0" spc="0" sz="10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85800" y="6144768"/>
            <a:ext cx="10607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093"/>
              </a:buClr>
              <a:buSzPts val="730"/>
              <a:buFont typeface="Montserrat"/>
              <a:buNone/>
            </a:pPr>
            <a:r>
              <a:rPr b="0" i="0" lang="en-US" spc="0" sz="930" u="none" cap="none" strike="noStrike">
                <a:solidFill>
                  <a:srgbClr val="8B9093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 данных: СберИндекс. Лицензия набора данных – CC BY-SA 4.0.</a:t>
            </a:r>
            <a:endParaRPr b="0" i="0" spc="0" sz="9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7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/>
          <p:nvPr/>
        </p:nvSpPr>
        <p:spPr>
          <a:xfrm>
            <a:off x="658378" y="429775"/>
            <a:ext cx="1102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pc="0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Как строится экономическая сеть</a:t>
            </a:r>
            <a:endParaRPr b="0" i="0" spc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85800" y="978408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pc="0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Один и тот же принцип применяется для каждого месяца</a:t>
            </a:r>
            <a:endParaRPr b="0" i="0" spc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85800" y="1508760"/>
            <a:ext cx="1874520" cy="2761488"/>
          </a:xfrm>
          <a:prstGeom prst="roundRect">
            <a:avLst>
              <a:gd fmla="val 3902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380744" y="1773936"/>
            <a:ext cx="512064" cy="512064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380769" y="1938521"/>
            <a:ext cx="512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00"/>
              <a:buFont typeface="Montserrat"/>
              <a:buNone/>
            </a:pPr>
            <a:r>
              <a:rPr b="1" i="0" lang="en-US" spc="0" sz="16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pc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868680" y="248716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50"/>
              <a:buFont typeface="Montserrat"/>
              <a:buNone/>
            </a:pPr>
            <a:r>
              <a:rPr b="1" i="0" lang="en-US" spc="0" sz="17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Вектор</a:t>
            </a:r>
            <a:endParaRPr b="0" i="0" spc="0" sz="17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850392" y="2990088"/>
            <a:ext cx="1536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pc="0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5 долей</a:t>
            </a:r>
            <a:endParaRPr b="0" i="0" spc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pc="0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потребления</a:t>
            </a:r>
            <a:endParaRPr b="0" i="0" spc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2660904" y="2743200"/>
            <a:ext cx="237744" cy="384048"/>
          </a:xfrm>
          <a:prstGeom prst="chevron">
            <a:avLst>
              <a:gd fmla="val 50000" name="adj"/>
            </a:avLst>
          </a:prstGeom>
          <a:solidFill>
            <a:srgbClr val="D2CEC5"/>
          </a:solidFill>
          <a:ln cap="flat" cmpd="sng" w="12700">
            <a:solidFill>
              <a:srgbClr val="D2C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2999232" y="1508760"/>
            <a:ext cx="1874520" cy="2761488"/>
          </a:xfrm>
          <a:prstGeom prst="roundRect">
            <a:avLst>
              <a:gd fmla="val 3902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694176" y="1773936"/>
            <a:ext cx="512064" cy="512064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3694189" y="1938458"/>
            <a:ext cx="512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00"/>
              <a:buFont typeface="Montserrat"/>
              <a:buNone/>
            </a:pPr>
            <a:r>
              <a:rPr b="1" i="0" lang="en-US" spc="0" sz="16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pc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3182112" y="248716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50"/>
              <a:buFont typeface="Montserrat"/>
              <a:buNone/>
            </a:pPr>
            <a:r>
              <a:rPr b="1" i="0" lang="en-US" spc="0" sz="17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Расстояние</a:t>
            </a:r>
            <a:endParaRPr b="0" i="0" spc="0" sz="17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3163824" y="2990088"/>
            <a:ext cx="1536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pc="0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Euclidean</a:t>
            </a:r>
            <a:endParaRPr b="0" i="0" spc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pc="0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между профилями</a:t>
            </a:r>
            <a:endParaRPr b="0" i="0" spc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974336" y="2743200"/>
            <a:ext cx="237744" cy="384048"/>
          </a:xfrm>
          <a:prstGeom prst="chevron">
            <a:avLst>
              <a:gd fmla="val 50000" name="adj"/>
            </a:avLst>
          </a:prstGeom>
          <a:solidFill>
            <a:srgbClr val="D2CEC5"/>
          </a:solidFill>
          <a:ln cap="flat" cmpd="sng" w="12700">
            <a:solidFill>
              <a:srgbClr val="D2C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312664" y="1508760"/>
            <a:ext cx="1874520" cy="2761488"/>
          </a:xfrm>
          <a:prstGeom prst="roundRect">
            <a:avLst>
              <a:gd fmla="val 3902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6007608" y="1773936"/>
            <a:ext cx="512064" cy="512064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6007633" y="1938533"/>
            <a:ext cx="512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00"/>
              <a:buFont typeface="Montserrat"/>
              <a:buNone/>
            </a:pPr>
            <a:r>
              <a:rPr b="1" i="0" lang="en-US" spc="0" sz="16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pc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495544" y="248716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50"/>
              <a:buFont typeface="Montserrat"/>
              <a:buNone/>
            </a:pPr>
            <a:r>
              <a:rPr b="1" i="0" lang="en-US" spc="0" sz="17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 b="0" i="0" spc="0" sz="17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477256" y="2990088"/>
            <a:ext cx="1536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pc="0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10 ближайших</a:t>
            </a:r>
            <a:endParaRPr b="0" i="0" spc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pc="0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соседей</a:t>
            </a:r>
            <a:endParaRPr b="0" i="0" spc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7287768" y="2743200"/>
            <a:ext cx="237744" cy="384048"/>
          </a:xfrm>
          <a:prstGeom prst="chevron">
            <a:avLst>
              <a:gd fmla="val 50000" name="adj"/>
            </a:avLst>
          </a:prstGeom>
          <a:solidFill>
            <a:srgbClr val="D2CEC5"/>
          </a:solidFill>
          <a:ln cap="flat" cmpd="sng" w="12700">
            <a:solidFill>
              <a:srgbClr val="D2C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7626096" y="1508760"/>
            <a:ext cx="1874520" cy="2761488"/>
          </a:xfrm>
          <a:prstGeom prst="roundRect">
            <a:avLst>
              <a:gd fmla="val 3902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8321040" y="1773936"/>
            <a:ext cx="512064" cy="512064"/>
          </a:xfrm>
          <a:prstGeom prst="ellipse">
            <a:avLst/>
          </a:prstGeom>
          <a:solidFill>
            <a:srgbClr val="C9C5E1"/>
          </a:solidFill>
          <a:ln cap="flat" cmpd="sng" w="1015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8321040" y="1938583"/>
            <a:ext cx="512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00"/>
              <a:buFont typeface="Montserrat"/>
              <a:buNone/>
            </a:pPr>
            <a:r>
              <a:rPr b="1" i="0" lang="en-US" spc="0" sz="16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pc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7808976" y="248716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50"/>
              <a:buFont typeface="Montserrat"/>
              <a:buNone/>
            </a:pPr>
            <a:r>
              <a:rPr b="1" i="0" lang="en-US" spc="0" sz="17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RBF-вес</a:t>
            </a:r>
            <a:endParaRPr b="0" i="0" spc="0" sz="17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7790688" y="2990088"/>
            <a:ext cx="1536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pc="0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w = exp(-d/σ)</a:t>
            </a:r>
            <a:endParaRPr b="0" i="0" spc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7758756" y="3772067"/>
            <a:ext cx="1609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9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σ — медиана соседских</a:t>
            </a:r>
            <a:endParaRPr b="0" i="0" spc="0" sz="9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9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расстояний за месяц</a:t>
            </a:r>
            <a:endParaRPr b="0" i="0" spc="0" sz="9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9601200" y="2743200"/>
            <a:ext cx="237744" cy="384048"/>
          </a:xfrm>
          <a:prstGeom prst="chevron">
            <a:avLst>
              <a:gd fmla="val 50000" name="adj"/>
            </a:avLst>
          </a:prstGeom>
          <a:solidFill>
            <a:srgbClr val="D2CEC5"/>
          </a:solidFill>
          <a:ln cap="flat" cmpd="sng" w="12700">
            <a:solidFill>
              <a:srgbClr val="D2C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9939528" y="1508760"/>
            <a:ext cx="1874520" cy="2761488"/>
          </a:xfrm>
          <a:prstGeom prst="roundRect">
            <a:avLst>
              <a:gd fmla="val 3902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0634472" y="1773936"/>
            <a:ext cx="512064" cy="512064"/>
          </a:xfrm>
          <a:prstGeom prst="ellipse">
            <a:avLst/>
          </a:prstGeom>
          <a:solidFill>
            <a:srgbClr val="E8D9B5"/>
          </a:solidFill>
          <a:ln cap="flat" cmpd="sng" w="1015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0757911" y="1938450"/>
            <a:ext cx="265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00"/>
              <a:buFont typeface="Montserrat"/>
              <a:buNone/>
            </a:pPr>
            <a:r>
              <a:rPr b="1" i="0" lang="en-US" spc="0" sz="16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pc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0122408" y="248716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50"/>
              <a:buFont typeface="Montserrat"/>
              <a:buNone/>
            </a:pPr>
            <a:r>
              <a:rPr b="1" i="0" lang="en-US" spc="0" sz="17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Louvain</a:t>
            </a:r>
            <a:endParaRPr b="0" i="0" spc="0" sz="17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0104120" y="2990088"/>
            <a:ext cx="1536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pc="0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сообщества</a:t>
            </a:r>
            <a:endParaRPr b="0" i="0" spc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pc="0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в графе</a:t>
            </a:r>
            <a:endParaRPr b="0" i="0" spc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85797" y="5087750"/>
            <a:ext cx="194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00"/>
              <a:buFont typeface="Montserrat"/>
              <a:buNone/>
            </a:pPr>
            <a:r>
              <a:rPr b="1" i="0" lang="en-US" spc="0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Почему kNN?</a:t>
            </a:r>
            <a:endParaRPr b="0" i="0" spc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2532900" y="5087750"/>
            <a:ext cx="8339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20"/>
              <a:buFont typeface="Montserrat"/>
              <a:buNone/>
            </a:pPr>
            <a:r>
              <a:rPr b="0" i="0" lang="en-US" spc="0" sz="19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Сеть остается разреженной и интерпретируемой: каждый муниципалитет соединен только с ближайшими экономическими профилями.</a:t>
            </a:r>
            <a:endParaRPr b="0" i="0" spc="0" sz="19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8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658368" y="4297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pc="0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Динамическая часть</a:t>
            </a:r>
            <a:endParaRPr b="0" i="0" spc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85800" y="978408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pc="0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Почему месячные кластеры нельзя просто «склеить» по номеру</a:t>
            </a:r>
            <a:endParaRPr b="0" i="0" spc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9" name="Google Shape;219;p9"/>
          <p:cNvCxnSpPr/>
          <p:nvPr/>
        </p:nvCxnSpPr>
        <p:spPr>
          <a:xfrm>
            <a:off x="914400" y="1920240"/>
            <a:ext cx="10378440" cy="0"/>
          </a:xfrm>
          <a:prstGeom prst="straightConnector1">
            <a:avLst/>
          </a:prstGeom>
          <a:noFill/>
          <a:ln cap="flat" cmpd="sng" w="19050">
            <a:solidFill>
              <a:srgbClr val="C9C5B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9"/>
          <p:cNvSpPr/>
          <p:nvPr/>
        </p:nvSpPr>
        <p:spPr>
          <a:xfrm>
            <a:off x="841248" y="1847088"/>
            <a:ext cx="146304" cy="146304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594360" y="2057400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50"/>
              <a:buFont typeface="Montserrat"/>
              <a:buNone/>
            </a:pPr>
            <a:r>
              <a:rPr b="0" i="0" lang="en-US" spc="0" sz="13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01.2023</a:t>
            </a:r>
            <a:endParaRPr b="0" i="0" spc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2605583" y="1847088"/>
            <a:ext cx="146304" cy="146304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2358695" y="2057400"/>
            <a:ext cx="658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50"/>
              <a:buFont typeface="Montserrat"/>
              <a:buNone/>
            </a:pPr>
            <a:r>
              <a:rPr b="0" i="0" lang="en-US" spc="0" sz="13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04.2023</a:t>
            </a:r>
            <a:endParaRPr b="0" i="0" spc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369918" y="1847088"/>
            <a:ext cx="146304" cy="146304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123030" y="2057400"/>
            <a:ext cx="658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50"/>
              <a:buFont typeface="Montserrat"/>
              <a:buNone/>
            </a:pPr>
            <a:r>
              <a:rPr b="0" i="0" lang="en-US" spc="0" sz="13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08.2023</a:t>
            </a:r>
            <a:endParaRPr b="0" i="0" spc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134252" y="1847088"/>
            <a:ext cx="146304" cy="146304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887364" y="2057400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50"/>
              <a:buFont typeface="Montserrat"/>
              <a:buNone/>
            </a:pPr>
            <a:r>
              <a:rPr b="0" i="0" lang="en-US" spc="0" sz="13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12.2023</a:t>
            </a:r>
            <a:endParaRPr b="0" i="0" spc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7898587" y="1847088"/>
            <a:ext cx="146304" cy="146304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7628388" y="2057350"/>
            <a:ext cx="686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50"/>
              <a:buFont typeface="Montserrat"/>
              <a:buNone/>
            </a:pPr>
            <a:r>
              <a:rPr b="0" i="0" lang="en-US" spc="0" sz="13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04.2024</a:t>
            </a:r>
            <a:endParaRPr b="0" i="0" spc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9662922" y="1847088"/>
            <a:ext cx="146304" cy="146304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9416034" y="2057400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50"/>
              <a:buFont typeface="Montserrat"/>
              <a:buNone/>
            </a:pPr>
            <a:r>
              <a:rPr b="0" i="0" lang="en-US" spc="0" sz="13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08.2024</a:t>
            </a:r>
            <a:endParaRPr b="0" i="0" spc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1219688" y="1847088"/>
            <a:ext cx="146304" cy="146304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972800" y="2057400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50"/>
              <a:buFont typeface="Montserrat"/>
              <a:buNone/>
            </a:pPr>
            <a:r>
              <a:rPr b="0" i="0" lang="en-US" spc="0" sz="13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12.2024</a:t>
            </a:r>
            <a:endParaRPr b="0" i="0" spc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713232" y="2606040"/>
            <a:ext cx="3218688" cy="2057400"/>
          </a:xfrm>
          <a:prstGeom prst="roundRect">
            <a:avLst>
              <a:gd fmla="val 3556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960125" y="2907796"/>
            <a:ext cx="246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400"/>
              <a:buFont typeface="Montserrat"/>
              <a:buNone/>
            </a:pPr>
            <a:r>
              <a:rPr b="1" i="0" lang="en-US" spc="0" sz="2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1 / Ежемесячная сеть</a:t>
            </a:r>
            <a:endParaRPr b="0" i="0" spc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960125" y="3596000"/>
            <a:ext cx="27432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50"/>
              <a:buFont typeface="Montserrat"/>
              <a:buNone/>
            </a:pPr>
            <a:r>
              <a:rPr b="0" i="0" lang="en-US" spc="0" sz="14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24 графа строятся независимо</a:t>
            </a:r>
            <a:endParaRPr b="0" i="0" spc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50"/>
              <a:buFont typeface="Montserrat"/>
              <a:buNone/>
            </a:pPr>
            <a:r>
              <a:rPr b="0" i="0" lang="en-US" spc="0" sz="14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для месяцев 2023-2024.</a:t>
            </a:r>
            <a:endParaRPr b="0" i="0" spc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133088" y="2606040"/>
            <a:ext cx="3218688" cy="2057400"/>
          </a:xfrm>
          <a:prstGeom prst="roundRect">
            <a:avLst>
              <a:gd fmla="val 3556" name="adj"/>
            </a:avLst>
          </a:prstGeom>
          <a:solidFill>
            <a:srgbClr val="F3F6F2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389175" y="2903286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400"/>
              <a:buFont typeface="Montserrat"/>
              <a:buNone/>
            </a:pPr>
            <a:r>
              <a:rPr b="1" i="0" lang="en-US" spc="0" sz="2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2 / Локальные сообщества</a:t>
            </a:r>
            <a:endParaRPr b="0" i="0" spc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366226" y="3639419"/>
            <a:ext cx="2606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50"/>
              <a:buFont typeface="Montserrat"/>
              <a:buNone/>
            </a:pPr>
            <a:r>
              <a:rPr b="0" i="0" lang="en-US" spc="0" sz="14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Номера Louvain-кластеров</a:t>
            </a:r>
            <a:endParaRPr b="0" i="0" spc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50"/>
              <a:buFont typeface="Montserrat"/>
              <a:buNone/>
            </a:pPr>
            <a:r>
              <a:rPr b="0" i="0" lang="en-US" spc="0" sz="14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не являются постоянными типами.</a:t>
            </a:r>
            <a:endParaRPr b="0" i="0" spc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7552944" y="2606040"/>
            <a:ext cx="3913632" cy="2057400"/>
          </a:xfrm>
          <a:prstGeom prst="roundRect">
            <a:avLst>
              <a:gd fmla="val 3556" name="adj"/>
            </a:avLst>
          </a:prstGeom>
          <a:solidFill>
            <a:srgbClr val="F7F1F2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781550" y="2857849"/>
            <a:ext cx="2331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400"/>
              <a:buFont typeface="Montserrat"/>
              <a:buNone/>
            </a:pPr>
            <a:r>
              <a:rPr b="1" i="0" lang="en-US" spc="0" sz="2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3 / Устойчивые типы</a:t>
            </a:r>
            <a:endParaRPr b="0" i="0" spc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7781551" y="3595994"/>
            <a:ext cx="3154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50"/>
              <a:buFont typeface="Montserrat"/>
              <a:buNone/>
            </a:pPr>
            <a:r>
              <a:rPr b="0" i="0" lang="en-US" spc="0" sz="14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Профили месячных кластеров</a:t>
            </a:r>
            <a:endParaRPr b="0" i="0" spc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50"/>
              <a:buFont typeface="Montserrat"/>
              <a:buNone/>
            </a:pPr>
            <a:r>
              <a:rPr b="0" i="0" lang="en-US" spc="0" sz="14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объединяются в K = 3 экономических типа.</a:t>
            </a:r>
            <a:endParaRPr b="0" i="0" spc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188825" y="5083950"/>
            <a:ext cx="3856200" cy="310800"/>
          </a:xfrm>
          <a:prstGeom prst="roundRect">
            <a:avLst>
              <a:gd fmla="val 17647" name="adj"/>
            </a:avLst>
          </a:prstGeom>
          <a:solidFill>
            <a:srgbClr val="E8D9B5"/>
          </a:solidFill>
          <a:ln cap="flat" cmpd="sng" w="1270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911996" y="5157050"/>
            <a:ext cx="4368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7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«номер 0» ≠ постоянный тип</a:t>
            </a:r>
            <a:endParaRPr b="0" i="0" spc="0" sz="17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914400" y="5649402"/>
            <a:ext cx="1024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39"/>
              <a:buFont typeface="Montserrat"/>
              <a:buNone/>
            </a:pPr>
            <a:r>
              <a:rPr b="0" i="0" lang="en-US" spc="0" sz="15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Так сохраняется содержательный смысл динамики: </a:t>
            </a:r>
            <a:endParaRPr b="0" i="0" spc="0" sz="1540" u="none" cap="none" strike="noStrike">
              <a:solidFill>
                <a:srgbClr val="70777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39"/>
              <a:buFont typeface="Montserrat"/>
              <a:buNone/>
            </a:pPr>
            <a:r>
              <a:rPr b="0" i="0" lang="en-US" spc="0" sz="15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мы отслеживаем изменение экономической структуры, а не идентификаторов кластеров.</a:t>
            </a:r>
            <a:endParaRPr b="0" i="0" spc="0" sz="15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9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"/>
          <p:cNvSpPr/>
          <p:nvPr/>
        </p:nvSpPr>
        <p:spPr>
          <a:xfrm>
            <a:off x="658377" y="429775"/>
            <a:ext cx="10780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pc="0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Как выбрали resolution = 1.25</a:t>
            </a:r>
            <a:endParaRPr b="0" i="0" spc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85800" y="978400"/>
            <a:ext cx="110001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pc="0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Решение принято по совокупности сетевых, атрибутивных и устойчивостных проверок</a:t>
            </a:r>
            <a:endParaRPr b="0" i="0" spc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685800" y="1773907"/>
            <a:ext cx="2834700" cy="3310200"/>
          </a:xfrm>
          <a:prstGeom prst="roundRect">
            <a:avLst>
              <a:gd fmla="val 2581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868655" y="1848475"/>
            <a:ext cx="246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50"/>
              <a:buFont typeface="Montserrat"/>
              <a:buNone/>
            </a:pPr>
            <a:r>
              <a:rPr b="1" i="0" lang="en-US" spc="0" sz="14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Modularity</a:t>
            </a:r>
            <a:endParaRPr b="0" i="0" spc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6" name="Google Shape;256;p10"/>
          <p:cNvCxnSpPr/>
          <p:nvPr/>
        </p:nvCxnSpPr>
        <p:spPr>
          <a:xfrm>
            <a:off x="1051560" y="4654268"/>
            <a:ext cx="2267700" cy="0"/>
          </a:xfrm>
          <a:prstGeom prst="straightConnector1">
            <a:avLst/>
          </a:prstGeom>
          <a:noFill/>
          <a:ln cap="flat" cmpd="sng" w="12700">
            <a:solidFill>
              <a:srgbClr val="BFC1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10"/>
          <p:cNvCxnSpPr/>
          <p:nvPr/>
        </p:nvCxnSpPr>
        <p:spPr>
          <a:xfrm rot="10800000">
            <a:off x="1051560" y="2148668"/>
            <a:ext cx="0" cy="2505600"/>
          </a:xfrm>
          <a:prstGeom prst="straightConnector1">
            <a:avLst/>
          </a:prstGeom>
          <a:noFill/>
          <a:ln cap="flat" cmpd="sng" w="12700">
            <a:solidFill>
              <a:srgbClr val="BFC1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10"/>
          <p:cNvCxnSpPr/>
          <p:nvPr/>
        </p:nvCxnSpPr>
        <p:spPr>
          <a:xfrm>
            <a:off x="1051560" y="4654268"/>
            <a:ext cx="2267700" cy="0"/>
          </a:xfrm>
          <a:prstGeom prst="straightConnector1">
            <a:avLst/>
          </a:prstGeom>
          <a:noFill/>
          <a:ln cap="flat" cmpd="sng" w="9525">
            <a:solidFill>
              <a:srgbClr val="E8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10"/>
          <p:cNvSpPr/>
          <p:nvPr/>
        </p:nvSpPr>
        <p:spPr>
          <a:xfrm>
            <a:off x="722376" y="4590260"/>
            <a:ext cx="283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0.795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0" name="Google Shape;260;p10"/>
          <p:cNvCxnSpPr/>
          <p:nvPr/>
        </p:nvCxnSpPr>
        <p:spPr>
          <a:xfrm>
            <a:off x="1051560" y="3819116"/>
            <a:ext cx="2267700" cy="0"/>
          </a:xfrm>
          <a:prstGeom prst="straightConnector1">
            <a:avLst/>
          </a:prstGeom>
          <a:noFill/>
          <a:ln cap="flat" cmpd="sng" w="9525">
            <a:solidFill>
              <a:srgbClr val="E8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10"/>
          <p:cNvSpPr/>
          <p:nvPr/>
        </p:nvSpPr>
        <p:spPr>
          <a:xfrm>
            <a:off x="722376" y="3755107"/>
            <a:ext cx="283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0.802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2" name="Google Shape;262;p10"/>
          <p:cNvCxnSpPr/>
          <p:nvPr/>
        </p:nvCxnSpPr>
        <p:spPr>
          <a:xfrm>
            <a:off x="1051560" y="2983964"/>
            <a:ext cx="2267700" cy="0"/>
          </a:xfrm>
          <a:prstGeom prst="straightConnector1">
            <a:avLst/>
          </a:prstGeom>
          <a:noFill/>
          <a:ln cap="flat" cmpd="sng" w="9525">
            <a:solidFill>
              <a:srgbClr val="E8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10"/>
          <p:cNvSpPr/>
          <p:nvPr/>
        </p:nvSpPr>
        <p:spPr>
          <a:xfrm>
            <a:off x="722376" y="2919956"/>
            <a:ext cx="283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0.809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4" name="Google Shape;264;p10"/>
          <p:cNvCxnSpPr/>
          <p:nvPr/>
        </p:nvCxnSpPr>
        <p:spPr>
          <a:xfrm>
            <a:off x="1051560" y="2148812"/>
            <a:ext cx="2267700" cy="0"/>
          </a:xfrm>
          <a:prstGeom prst="straightConnector1">
            <a:avLst/>
          </a:prstGeom>
          <a:noFill/>
          <a:ln cap="flat" cmpd="sng" w="9525">
            <a:solidFill>
              <a:srgbClr val="E8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10"/>
          <p:cNvSpPr/>
          <p:nvPr/>
        </p:nvSpPr>
        <p:spPr>
          <a:xfrm>
            <a:off x="722376" y="2084804"/>
            <a:ext cx="283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0.816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6" name="Google Shape;266;p10"/>
          <p:cNvCxnSpPr/>
          <p:nvPr/>
        </p:nvCxnSpPr>
        <p:spPr>
          <a:xfrm flipH="1" rot="10800000">
            <a:off x="1124712" y="2638107"/>
            <a:ext cx="424200" cy="1527000"/>
          </a:xfrm>
          <a:prstGeom prst="straightConnector1">
            <a:avLst/>
          </a:prstGeom>
          <a:noFill/>
          <a:ln cap="flat" cmpd="sng" w="27925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10"/>
          <p:cNvCxnSpPr/>
          <p:nvPr/>
        </p:nvCxnSpPr>
        <p:spPr>
          <a:xfrm flipH="1" rot="10800000">
            <a:off x="1548994" y="2387472"/>
            <a:ext cx="424200" cy="250500"/>
          </a:xfrm>
          <a:prstGeom prst="straightConnector1">
            <a:avLst/>
          </a:prstGeom>
          <a:noFill/>
          <a:ln cap="flat" cmpd="sng" w="27925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10"/>
          <p:cNvCxnSpPr/>
          <p:nvPr/>
        </p:nvCxnSpPr>
        <p:spPr>
          <a:xfrm flipH="1" rot="10800000">
            <a:off x="1973275" y="2327727"/>
            <a:ext cx="424200" cy="59700"/>
          </a:xfrm>
          <a:prstGeom prst="straightConnector1">
            <a:avLst/>
          </a:prstGeom>
          <a:noFill/>
          <a:ln cap="flat" cmpd="sng" w="27925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10"/>
          <p:cNvCxnSpPr/>
          <p:nvPr/>
        </p:nvCxnSpPr>
        <p:spPr>
          <a:xfrm>
            <a:off x="2397557" y="2327773"/>
            <a:ext cx="424200" cy="59700"/>
          </a:xfrm>
          <a:prstGeom prst="straightConnector1">
            <a:avLst/>
          </a:prstGeom>
          <a:noFill/>
          <a:ln cap="flat" cmpd="sng" w="27925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10"/>
          <p:cNvCxnSpPr/>
          <p:nvPr/>
        </p:nvCxnSpPr>
        <p:spPr>
          <a:xfrm>
            <a:off x="2821838" y="2387427"/>
            <a:ext cx="424200" cy="1741800"/>
          </a:xfrm>
          <a:prstGeom prst="straightConnector1">
            <a:avLst/>
          </a:prstGeom>
          <a:noFill/>
          <a:ln cap="flat" cmpd="sng" w="27925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0"/>
          <p:cNvSpPr/>
          <p:nvPr/>
        </p:nvSpPr>
        <p:spPr>
          <a:xfrm>
            <a:off x="1083564" y="4123960"/>
            <a:ext cx="82200" cy="82200"/>
          </a:xfrm>
          <a:prstGeom prst="ellipse">
            <a:avLst/>
          </a:prstGeom>
          <a:solidFill>
            <a:srgbClr val="7F9FB6"/>
          </a:solidFill>
          <a:ln cap="flat" cmpd="sng" w="10150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932688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0.50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1507846" y="2596824"/>
            <a:ext cx="82200" cy="82200"/>
          </a:xfrm>
          <a:prstGeom prst="ellipse">
            <a:avLst/>
          </a:prstGeom>
          <a:solidFill>
            <a:srgbClr val="7F9FB6"/>
          </a:solidFill>
          <a:ln cap="flat" cmpd="sng" w="10150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356970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0.75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1932127" y="2346279"/>
            <a:ext cx="82200" cy="82200"/>
          </a:xfrm>
          <a:prstGeom prst="ellipse">
            <a:avLst/>
          </a:prstGeom>
          <a:solidFill>
            <a:srgbClr val="7F9FB6"/>
          </a:solidFill>
          <a:ln cap="flat" cmpd="sng" w="10150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1781251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1.00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2356409" y="2286625"/>
            <a:ext cx="82200" cy="82200"/>
          </a:xfrm>
          <a:prstGeom prst="ellipse">
            <a:avLst/>
          </a:prstGeom>
          <a:solidFill>
            <a:srgbClr val="7F9FB6"/>
          </a:solidFill>
          <a:ln cap="flat" cmpd="sng" w="10150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2319833" y="2250049"/>
            <a:ext cx="155400" cy="15540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17775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2205533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1.25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2780690" y="2346279"/>
            <a:ext cx="82200" cy="82200"/>
          </a:xfrm>
          <a:prstGeom prst="ellipse">
            <a:avLst/>
          </a:prstGeom>
          <a:solidFill>
            <a:srgbClr val="7F9FB6"/>
          </a:solidFill>
          <a:ln cap="flat" cmpd="sng" w="10150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2629814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1.50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3204972" y="4088167"/>
            <a:ext cx="82200" cy="82200"/>
          </a:xfrm>
          <a:prstGeom prst="ellipse">
            <a:avLst/>
          </a:prstGeom>
          <a:solidFill>
            <a:srgbClr val="7F9FB6"/>
          </a:solidFill>
          <a:ln cap="flat" cmpd="sng" w="10150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3054096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2.00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3685032" y="1773907"/>
            <a:ext cx="2834700" cy="3310200"/>
          </a:xfrm>
          <a:prstGeom prst="roundRect">
            <a:avLst>
              <a:gd fmla="val 2581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3867887" y="1848487"/>
            <a:ext cx="246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50"/>
              <a:buFont typeface="Montserrat"/>
              <a:buNone/>
            </a:pPr>
            <a:r>
              <a:rPr b="1" i="0" lang="en-US" spc="0" sz="14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Средний попарный ARI</a:t>
            </a:r>
            <a:endParaRPr b="0" i="0" spc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6" name="Google Shape;286;p10"/>
          <p:cNvCxnSpPr/>
          <p:nvPr/>
        </p:nvCxnSpPr>
        <p:spPr>
          <a:xfrm>
            <a:off x="4050792" y="4654268"/>
            <a:ext cx="2267700" cy="0"/>
          </a:xfrm>
          <a:prstGeom prst="straightConnector1">
            <a:avLst/>
          </a:prstGeom>
          <a:noFill/>
          <a:ln cap="flat" cmpd="sng" w="12700">
            <a:solidFill>
              <a:srgbClr val="BFC1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7" name="Google Shape;287;p10"/>
          <p:cNvCxnSpPr/>
          <p:nvPr/>
        </p:nvCxnSpPr>
        <p:spPr>
          <a:xfrm rot="10800000">
            <a:off x="4050792" y="2148668"/>
            <a:ext cx="0" cy="2505600"/>
          </a:xfrm>
          <a:prstGeom prst="straightConnector1">
            <a:avLst/>
          </a:prstGeom>
          <a:noFill/>
          <a:ln cap="flat" cmpd="sng" w="12700">
            <a:solidFill>
              <a:srgbClr val="BFC1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10"/>
          <p:cNvCxnSpPr/>
          <p:nvPr/>
        </p:nvCxnSpPr>
        <p:spPr>
          <a:xfrm>
            <a:off x="4050792" y="4654268"/>
            <a:ext cx="2267700" cy="0"/>
          </a:xfrm>
          <a:prstGeom prst="straightConnector1">
            <a:avLst/>
          </a:prstGeom>
          <a:noFill/>
          <a:ln cap="flat" cmpd="sng" w="9525">
            <a:solidFill>
              <a:srgbClr val="E8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0"/>
          <p:cNvSpPr/>
          <p:nvPr/>
        </p:nvSpPr>
        <p:spPr>
          <a:xfrm>
            <a:off x="3721608" y="4590260"/>
            <a:ext cx="283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0.61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0" name="Google Shape;290;p10"/>
          <p:cNvCxnSpPr/>
          <p:nvPr/>
        </p:nvCxnSpPr>
        <p:spPr>
          <a:xfrm>
            <a:off x="4050792" y="3819116"/>
            <a:ext cx="2267700" cy="0"/>
          </a:xfrm>
          <a:prstGeom prst="straightConnector1">
            <a:avLst/>
          </a:prstGeom>
          <a:noFill/>
          <a:ln cap="flat" cmpd="sng" w="9525">
            <a:solidFill>
              <a:srgbClr val="E8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10"/>
          <p:cNvSpPr/>
          <p:nvPr/>
        </p:nvSpPr>
        <p:spPr>
          <a:xfrm>
            <a:off x="3721608" y="3755107"/>
            <a:ext cx="283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0.64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2" name="Google Shape;292;p10"/>
          <p:cNvCxnSpPr/>
          <p:nvPr/>
        </p:nvCxnSpPr>
        <p:spPr>
          <a:xfrm>
            <a:off x="4050792" y="2983964"/>
            <a:ext cx="2267700" cy="0"/>
          </a:xfrm>
          <a:prstGeom prst="straightConnector1">
            <a:avLst/>
          </a:prstGeom>
          <a:noFill/>
          <a:ln cap="flat" cmpd="sng" w="9525">
            <a:solidFill>
              <a:srgbClr val="E8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10"/>
          <p:cNvSpPr/>
          <p:nvPr/>
        </p:nvSpPr>
        <p:spPr>
          <a:xfrm>
            <a:off x="3721608" y="2919956"/>
            <a:ext cx="283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0.67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4" name="Google Shape;294;p10"/>
          <p:cNvCxnSpPr/>
          <p:nvPr/>
        </p:nvCxnSpPr>
        <p:spPr>
          <a:xfrm>
            <a:off x="4050792" y="2148812"/>
            <a:ext cx="2267700" cy="0"/>
          </a:xfrm>
          <a:prstGeom prst="straightConnector1">
            <a:avLst/>
          </a:prstGeom>
          <a:noFill/>
          <a:ln cap="flat" cmpd="sng" w="9525">
            <a:solidFill>
              <a:srgbClr val="E8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0"/>
          <p:cNvSpPr/>
          <p:nvPr/>
        </p:nvSpPr>
        <p:spPr>
          <a:xfrm>
            <a:off x="3721608" y="2084804"/>
            <a:ext cx="283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0.70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6" name="Google Shape;296;p10"/>
          <p:cNvCxnSpPr/>
          <p:nvPr/>
        </p:nvCxnSpPr>
        <p:spPr>
          <a:xfrm>
            <a:off x="4123944" y="3537948"/>
            <a:ext cx="424200" cy="303300"/>
          </a:xfrm>
          <a:prstGeom prst="straightConnector1">
            <a:avLst/>
          </a:prstGeom>
          <a:noFill/>
          <a:ln cap="flat" cmpd="sng" w="27925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10"/>
          <p:cNvCxnSpPr/>
          <p:nvPr/>
        </p:nvCxnSpPr>
        <p:spPr>
          <a:xfrm flipH="1" rot="10800000">
            <a:off x="4548226" y="3460087"/>
            <a:ext cx="424200" cy="381300"/>
          </a:xfrm>
          <a:prstGeom prst="straightConnector1">
            <a:avLst/>
          </a:prstGeom>
          <a:noFill/>
          <a:ln cap="flat" cmpd="sng" w="27925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10"/>
          <p:cNvCxnSpPr/>
          <p:nvPr/>
        </p:nvCxnSpPr>
        <p:spPr>
          <a:xfrm flipH="1" rot="10800000">
            <a:off x="4972507" y="2549800"/>
            <a:ext cx="424200" cy="910200"/>
          </a:xfrm>
          <a:prstGeom prst="straightConnector1">
            <a:avLst/>
          </a:prstGeom>
          <a:noFill/>
          <a:ln cap="flat" cmpd="sng" w="27925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10"/>
          <p:cNvCxnSpPr/>
          <p:nvPr/>
        </p:nvCxnSpPr>
        <p:spPr>
          <a:xfrm>
            <a:off x="5396789" y="2549685"/>
            <a:ext cx="424200" cy="1862400"/>
          </a:xfrm>
          <a:prstGeom prst="straightConnector1">
            <a:avLst/>
          </a:prstGeom>
          <a:noFill/>
          <a:ln cap="flat" cmpd="sng" w="27925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10"/>
          <p:cNvCxnSpPr/>
          <p:nvPr/>
        </p:nvCxnSpPr>
        <p:spPr>
          <a:xfrm flipH="1" rot="10800000">
            <a:off x="5821070" y="2836474"/>
            <a:ext cx="424200" cy="1575600"/>
          </a:xfrm>
          <a:prstGeom prst="straightConnector1">
            <a:avLst/>
          </a:prstGeom>
          <a:noFill/>
          <a:ln cap="flat" cmpd="sng" w="27925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10"/>
          <p:cNvSpPr/>
          <p:nvPr/>
        </p:nvSpPr>
        <p:spPr>
          <a:xfrm>
            <a:off x="4082796" y="3496800"/>
            <a:ext cx="82200" cy="82200"/>
          </a:xfrm>
          <a:prstGeom prst="ellipse">
            <a:avLst/>
          </a:prstGeom>
          <a:solidFill>
            <a:srgbClr val="C89682"/>
          </a:solidFill>
          <a:ln cap="flat" cmpd="sng" w="10150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3931920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0.50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4507078" y="3800239"/>
            <a:ext cx="82200" cy="82200"/>
          </a:xfrm>
          <a:prstGeom prst="ellipse">
            <a:avLst/>
          </a:prstGeom>
          <a:solidFill>
            <a:srgbClr val="C89682"/>
          </a:solidFill>
          <a:ln cap="flat" cmpd="sng" w="10150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4356202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0.75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4931359" y="3418853"/>
            <a:ext cx="82200" cy="82200"/>
          </a:xfrm>
          <a:prstGeom prst="ellipse">
            <a:avLst/>
          </a:prstGeom>
          <a:solidFill>
            <a:srgbClr val="C89682"/>
          </a:solidFill>
          <a:ln cap="flat" cmpd="sng" w="10150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4780483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1.00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5355641" y="2508537"/>
            <a:ext cx="82200" cy="82200"/>
          </a:xfrm>
          <a:prstGeom prst="ellipse">
            <a:avLst/>
          </a:prstGeom>
          <a:solidFill>
            <a:srgbClr val="C89682"/>
          </a:solidFill>
          <a:ln cap="flat" cmpd="sng" w="10150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5319065" y="2471961"/>
            <a:ext cx="155400" cy="15540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17775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5204765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1.25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5779922" y="4370926"/>
            <a:ext cx="82200" cy="82200"/>
          </a:xfrm>
          <a:prstGeom prst="ellipse">
            <a:avLst/>
          </a:prstGeom>
          <a:solidFill>
            <a:srgbClr val="C89682"/>
          </a:solidFill>
          <a:ln cap="flat" cmpd="sng" w="10150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5629046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1.50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6204204" y="2795272"/>
            <a:ext cx="82200" cy="82200"/>
          </a:xfrm>
          <a:prstGeom prst="ellipse">
            <a:avLst/>
          </a:prstGeom>
          <a:solidFill>
            <a:srgbClr val="C89682"/>
          </a:solidFill>
          <a:ln cap="flat" cmpd="sng" w="10150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6053328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pc="0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2.00</a:t>
            </a:r>
            <a:endParaRPr b="0" i="0" spc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6684264" y="1417320"/>
            <a:ext cx="4754880" cy="3310128"/>
          </a:xfrm>
          <a:prstGeom prst="roundRect">
            <a:avLst>
              <a:gd fmla="val 2210" name="adj"/>
            </a:avLst>
          </a:prstGeom>
          <a:solidFill>
            <a:srgbClr val="F3F6F2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6976876" y="1719075"/>
            <a:ext cx="418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450"/>
              <a:buFont typeface="Montserrat"/>
              <a:buNone/>
            </a:pPr>
            <a:r>
              <a:rPr b="1" i="0" lang="en-US" spc="0" sz="20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Что показали проверки?</a:t>
            </a:r>
            <a:endParaRPr b="0" i="0" spc="0" sz="20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6995148" y="2314175"/>
            <a:ext cx="146400" cy="146400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7273055" y="2295867"/>
            <a:ext cx="98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50"/>
              <a:buFont typeface="Montserrat"/>
              <a:buNone/>
            </a:pPr>
            <a:r>
              <a:rPr b="1" i="0" lang="en-US" spc="0" sz="12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ICVI</a:t>
            </a:r>
            <a:endParaRPr b="0" i="0" spc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8655850" y="2409063"/>
            <a:ext cx="250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0"/>
              <a:buFont typeface="Montserrat"/>
              <a:buNone/>
            </a:pPr>
            <a:r>
              <a:rPr b="0" i="0" lang="en-US" spc="0" sz="128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1.25 дает сбалансированный профиль показателей, без опоры на один индекс.</a:t>
            </a:r>
            <a:endParaRPr b="0" i="0" spc="0" sz="12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6995160" y="3182220"/>
            <a:ext cx="146400" cy="146400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7273640" y="3163913"/>
            <a:ext cx="125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50"/>
              <a:buFont typeface="Montserrat"/>
              <a:buNone/>
            </a:pPr>
            <a:r>
              <a:rPr b="1" i="0" lang="en-US" spc="0" sz="12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Стабильность</a:t>
            </a:r>
            <a:endParaRPr b="0" i="0" spc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8655850" y="3190538"/>
            <a:ext cx="250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0"/>
              <a:buFont typeface="Montserrat"/>
              <a:buNone/>
            </a:pPr>
            <a:r>
              <a:rPr b="0" i="0" lang="en-US" spc="0" sz="128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Средний попарный ARI для 5 seed при 1.25 = 0.6856.</a:t>
            </a:r>
            <a:endParaRPr b="0" i="0" spc="0" sz="12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6995148" y="3975428"/>
            <a:ext cx="146400" cy="146400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7273651" y="3957113"/>
            <a:ext cx="114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50"/>
              <a:buFont typeface="Montserrat"/>
              <a:buNone/>
            </a:pPr>
            <a:r>
              <a:rPr b="1" i="0" lang="en-US" spc="0" sz="12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Расстояние</a:t>
            </a:r>
            <a:endParaRPr b="0" i="0" spc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8655850" y="3950675"/>
            <a:ext cx="2573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0"/>
              <a:buFont typeface="Montserrat"/>
              <a:buNone/>
            </a:pPr>
            <a:r>
              <a:rPr b="0" i="0" lang="en-US" spc="0" sz="128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Euclidean при 1.25 выше Cosine по Modularity, SW и CH.</a:t>
            </a:r>
            <a:endParaRPr b="0" i="0" spc="0" sz="12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7366585" y="5212205"/>
            <a:ext cx="3401700" cy="310800"/>
          </a:xfrm>
          <a:prstGeom prst="roundRect">
            <a:avLst>
              <a:gd fmla="val 17647" name="adj"/>
            </a:avLst>
          </a:prstGeom>
          <a:solidFill>
            <a:srgbClr val="E8D9B5"/>
          </a:solidFill>
          <a:ln cap="flat" cmpd="sng" w="1270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7467169" y="5276213"/>
            <a:ext cx="32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6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Финальная resolution = 1.25</a:t>
            </a:r>
            <a:endParaRPr b="0" i="0" spc="0" sz="16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7104960" y="5666043"/>
            <a:ext cx="3913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0"/>
              <a:buFont typeface="Montserrat"/>
              <a:buNone/>
            </a:pPr>
            <a:r>
              <a:rPr b="0" i="0" lang="en-US" spc="0" sz="118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Не максимум одной метрики, а выбранный компромисс между качеством и устойчивостью.</a:t>
            </a:r>
            <a:endParaRPr b="0" i="0" spc="0" sz="11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685807" y="5346117"/>
            <a:ext cx="534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80"/>
              <a:buFont typeface="Montserrat"/>
              <a:buNone/>
            </a:pPr>
            <a:r>
              <a:rPr b="0" i="0" lang="en-US" spc="0" sz="128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Подсветка на графиках = выбранная точка 1.25.</a:t>
            </a:r>
            <a:endParaRPr b="0" i="0" spc="0" sz="12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10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"/>
          <p:cNvSpPr/>
          <p:nvPr/>
        </p:nvSpPr>
        <p:spPr>
          <a:xfrm>
            <a:off x="685802" y="668075"/>
            <a:ext cx="1102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pc="0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ICVI и устойчивость финальной конфигурации</a:t>
            </a:r>
            <a:endParaRPr b="0" i="0" spc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705625" y="1600921"/>
            <a:ext cx="97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pc="0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Декабрь 2024, resolution = 1.25</a:t>
            </a:r>
            <a:endParaRPr b="0" i="0" spc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705613" y="2131391"/>
            <a:ext cx="2578500" cy="1298400"/>
          </a:xfrm>
          <a:prstGeom prst="roundRect">
            <a:avLst>
              <a:gd fmla="val 5634" name="adj"/>
            </a:avLst>
          </a:prstGeom>
          <a:solidFill>
            <a:srgbClr val="AFC7D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870204" y="2286839"/>
            <a:ext cx="224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pc="0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Silhouette (SW)</a:t>
            </a:r>
            <a:endParaRPr b="0" i="0" spc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870204" y="2588591"/>
            <a:ext cx="2249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pc="0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0.1636</a:t>
            </a:r>
            <a:endParaRPr b="0" i="0" spc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870204" y="3100655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выше – лучше</a:t>
            </a:r>
            <a:endParaRPr b="0" i="0" spc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3439668" y="2131391"/>
            <a:ext cx="2578500" cy="1298400"/>
          </a:xfrm>
          <a:prstGeom prst="roundRect">
            <a:avLst>
              <a:gd fmla="val 5634" name="adj"/>
            </a:avLst>
          </a:prstGeom>
          <a:solidFill>
            <a:srgbClr val="BFD2C4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3604261" y="2286839"/>
            <a:ext cx="224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pc="0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Calinski–Harabasz (CH)</a:t>
            </a:r>
            <a:endParaRPr b="0" i="0" spc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3604261" y="2588591"/>
            <a:ext cx="2249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pc="0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879.10</a:t>
            </a:r>
            <a:endParaRPr b="0" i="0" spc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3604261" y="3100655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выше – лучше</a:t>
            </a:r>
            <a:endParaRPr b="0" i="0" spc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6173724" y="2131391"/>
            <a:ext cx="2578500" cy="1298400"/>
          </a:xfrm>
          <a:prstGeom prst="roundRect">
            <a:avLst>
              <a:gd fmla="val 5634" name="adj"/>
            </a:avLst>
          </a:prstGeom>
          <a:solidFill>
            <a:srgbClr val="E4C4B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6338317" y="2286839"/>
            <a:ext cx="224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pc="0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S_Dbw</a:t>
            </a:r>
            <a:endParaRPr b="0" i="0" spc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6338317" y="2588591"/>
            <a:ext cx="2249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pc="0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0.3210</a:t>
            </a:r>
            <a:endParaRPr b="0" i="0" spc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6338317" y="3100655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ниже – лучше</a:t>
            </a:r>
            <a:endParaRPr b="0" i="0" spc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8907781" y="2131391"/>
            <a:ext cx="2578500" cy="1298400"/>
          </a:xfrm>
          <a:prstGeom prst="roundRect">
            <a:avLst>
              <a:gd fmla="val 5634" name="adj"/>
            </a:avLst>
          </a:prstGeom>
          <a:solidFill>
            <a:srgbClr val="C9C5E1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9072373" y="2286839"/>
            <a:ext cx="224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pc="0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AVI</a:t>
            </a:r>
            <a:endParaRPr b="0" i="0" spc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9072373" y="2588591"/>
            <a:ext cx="2249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pc="0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0.8794</a:t>
            </a:r>
            <a:endParaRPr b="0" i="0" spc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9072373" y="3100655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выше – лучше</a:t>
            </a:r>
            <a:endParaRPr b="0" i="0" spc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705613" y="3667582"/>
            <a:ext cx="2578500" cy="1298400"/>
          </a:xfrm>
          <a:prstGeom prst="roundRect">
            <a:avLst>
              <a:gd fmla="val 5634" name="adj"/>
            </a:avLst>
          </a:prstGeom>
          <a:solidFill>
            <a:srgbClr val="E8D9B5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870204" y="3823031"/>
            <a:ext cx="224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pc="0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AVU</a:t>
            </a:r>
            <a:endParaRPr b="0" i="0" spc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870204" y="4124783"/>
            <a:ext cx="2249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pc="0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0.4813</a:t>
            </a:r>
            <a:endParaRPr b="0" i="0" spc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870204" y="4636847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ниже – лучше</a:t>
            </a:r>
            <a:endParaRPr b="0" i="0" spc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3439668" y="3667582"/>
            <a:ext cx="2578500" cy="1298400"/>
          </a:xfrm>
          <a:prstGeom prst="roundRect">
            <a:avLst>
              <a:gd fmla="val 5634" name="adj"/>
            </a:avLst>
          </a:prstGeom>
          <a:solidFill>
            <a:srgbClr val="AFC7D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3604261" y="3823031"/>
            <a:ext cx="224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pc="0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MQ</a:t>
            </a:r>
            <a:endParaRPr b="0" i="0" spc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3604261" y="4124783"/>
            <a:ext cx="2249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pc="0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17.5880</a:t>
            </a:r>
            <a:endParaRPr b="0" i="0" spc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3604261" y="4636847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выше – лучше</a:t>
            </a:r>
            <a:endParaRPr b="0" i="0" spc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6173724" y="3667582"/>
            <a:ext cx="2578500" cy="1298400"/>
          </a:xfrm>
          <a:prstGeom prst="roundRect">
            <a:avLst>
              <a:gd fmla="val 5634" name="adj"/>
            </a:avLst>
          </a:prstGeom>
          <a:solidFill>
            <a:srgbClr val="BFD2C4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6338317" y="3823031"/>
            <a:ext cx="224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pc="0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Modularity</a:t>
            </a:r>
            <a:endParaRPr b="0" i="0" spc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6338317" y="4124783"/>
            <a:ext cx="2249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pc="0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0.8145</a:t>
            </a:r>
            <a:endParaRPr b="0" i="0" spc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6338317" y="4636847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сетевое качество</a:t>
            </a:r>
            <a:endParaRPr b="0" i="0" spc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8907781" y="3667582"/>
            <a:ext cx="2578500" cy="1298400"/>
          </a:xfrm>
          <a:prstGeom prst="roundRect">
            <a:avLst>
              <a:gd fmla="val 5634" name="adj"/>
            </a:avLst>
          </a:prstGeom>
          <a:solidFill>
            <a:srgbClr val="E4C4B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9072373" y="3823031"/>
            <a:ext cx="224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pc="0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Средний попарный ARI</a:t>
            </a:r>
            <a:endParaRPr b="0" i="0" spc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9072373" y="4124783"/>
            <a:ext cx="2249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pc="0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0.6856</a:t>
            </a:r>
            <a:endParaRPr b="0" i="0" spc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9072373" y="4636847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5 seed</a:t>
            </a:r>
            <a:endParaRPr b="0" i="0" spc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701088" y="5195135"/>
            <a:ext cx="10789800" cy="841200"/>
          </a:xfrm>
          <a:prstGeom prst="roundRect">
            <a:avLst>
              <a:gd fmla="val 8696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914950" y="5524225"/>
            <a:ext cx="1455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80"/>
              <a:buFont typeface="Montserrat"/>
              <a:buNone/>
            </a:pPr>
            <a:r>
              <a:rPr b="1" i="0" lang="en-US" spc="0" sz="128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Интерпретация</a:t>
            </a:r>
            <a:endParaRPr b="0" i="0" spc="0" sz="12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2540650" y="5460325"/>
            <a:ext cx="8663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50"/>
              <a:buFont typeface="Montserrat"/>
              <a:buNone/>
            </a:pPr>
            <a:r>
              <a:rPr b="0" i="0" lang="en-US" spc="0" sz="13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SW, CH, AVI и MQ читаются в сторону больших значений; для S_Dbw и AVU – наоборот. Метрики используются совместно, поскольку каждая описывает свою сторону структуры кластеров.</a:t>
            </a:r>
            <a:endParaRPr b="0" i="0" spc="0" sz="13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792450" y="6156518"/>
            <a:ext cx="10607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093"/>
              </a:buClr>
              <a:buSzPts val="730"/>
              <a:buFont typeface="Montserrat"/>
              <a:buNone/>
            </a:pPr>
            <a:r>
              <a:rPr b="0" i="0" lang="en-US" spc="0" sz="1030" u="none" cap="none" strike="noStrike">
                <a:solidFill>
                  <a:srgbClr val="8B9093"/>
                </a:solidFill>
                <a:latin typeface="Montserrat"/>
                <a:ea typeface="Montserrat"/>
                <a:cs typeface="Montserrat"/>
                <a:sym typeface="Montserrat"/>
              </a:rPr>
              <a:t>AVI, AVU и MQ в проекте используются как реализованные сетевые диагностические показатели внутренней и внешней связности кластеров.</a:t>
            </a:r>
            <a:endParaRPr b="0" i="0" spc="0" sz="10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11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"/>
          <p:cNvSpPr/>
          <p:nvPr/>
        </p:nvSpPr>
        <p:spPr>
          <a:xfrm>
            <a:off x="658368" y="4297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pc="0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Euclidean vs Cosine</a:t>
            </a:r>
            <a:endParaRPr b="0" i="0" spc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685800" y="978400"/>
            <a:ext cx="10495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pc="0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Контролируемое сравнение: одинаковый kNN, одинаковый RBF, resolution = 1.25</a:t>
            </a:r>
            <a:endParaRPr b="0" i="0" spc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874773" y="1636854"/>
            <a:ext cx="1920300" cy="512100"/>
          </a:xfrm>
          <a:prstGeom prst="roundRect">
            <a:avLst>
              <a:gd fmla="val 7143" name="adj"/>
            </a:avLst>
          </a:prstGeom>
          <a:solidFill>
            <a:srgbClr val="24313A"/>
          </a:solidFill>
          <a:ln cap="flat" cmpd="sng" w="12700">
            <a:solidFill>
              <a:srgbClr val="24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929637" y="1774015"/>
            <a:ext cx="1810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Montserrat"/>
              <a:buNone/>
            </a:pPr>
            <a:r>
              <a:rPr b="1" i="0" lang="en-US" spc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Метод</a:t>
            </a:r>
            <a:endParaRPr b="0" i="0" spc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2868165" y="1636854"/>
            <a:ext cx="1170300" cy="512100"/>
          </a:xfrm>
          <a:prstGeom prst="roundRect">
            <a:avLst>
              <a:gd fmla="val 7143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2923029" y="1774015"/>
            <a:ext cx="106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39"/>
              <a:buFont typeface="Montserrat"/>
              <a:buNone/>
            </a:pPr>
            <a:r>
              <a:rPr b="1" i="0" lang="en-US" spc="0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Кластеров</a:t>
            </a:r>
            <a:endParaRPr b="0" i="0" spc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4111749" y="1636854"/>
            <a:ext cx="1572900" cy="512100"/>
          </a:xfrm>
          <a:prstGeom prst="roundRect">
            <a:avLst>
              <a:gd fmla="val 7143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4166613" y="1774015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39"/>
              <a:buFont typeface="Montserrat"/>
              <a:buNone/>
            </a:pPr>
            <a:r>
              <a:rPr b="1" i="0" lang="en-US" spc="0" sz="144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Modularity</a:t>
            </a:r>
            <a:endParaRPr b="0" i="0" spc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5757669" y="1636854"/>
            <a:ext cx="1225200" cy="512100"/>
          </a:xfrm>
          <a:prstGeom prst="roundRect">
            <a:avLst>
              <a:gd fmla="val 7143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5812533" y="1774015"/>
            <a:ext cx="111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39"/>
              <a:buFont typeface="Montserrat"/>
              <a:buNone/>
            </a:pPr>
            <a:r>
              <a:rPr b="1" i="0" lang="en-US" spc="0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SW</a:t>
            </a:r>
            <a:endParaRPr b="0" i="0" spc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7056117" y="1636854"/>
            <a:ext cx="1326000" cy="512100"/>
          </a:xfrm>
          <a:prstGeom prst="roundRect">
            <a:avLst>
              <a:gd fmla="val 7143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7110981" y="1774015"/>
            <a:ext cx="121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39"/>
              <a:buFont typeface="Montserrat"/>
              <a:buNone/>
            </a:pPr>
            <a:r>
              <a:rPr b="1" i="0" lang="en-US" spc="0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CH</a:t>
            </a:r>
            <a:endParaRPr b="0" i="0" spc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8455149" y="1636854"/>
            <a:ext cx="1225200" cy="512100"/>
          </a:xfrm>
          <a:prstGeom prst="roundRect">
            <a:avLst>
              <a:gd fmla="val 7143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8510013" y="1774015"/>
            <a:ext cx="111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39"/>
              <a:buFont typeface="Montserrat"/>
              <a:buNone/>
            </a:pPr>
            <a:r>
              <a:rPr b="1" i="0" lang="en-US" spc="0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S_Dbw</a:t>
            </a:r>
            <a:endParaRPr b="0" i="0" spc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874773" y="2231215"/>
            <a:ext cx="1920300" cy="512100"/>
          </a:xfrm>
          <a:prstGeom prst="roundRect">
            <a:avLst>
              <a:gd fmla="val 7143" name="adj"/>
            </a:avLst>
          </a:prstGeom>
          <a:solidFill>
            <a:srgbClr val="FBFAF8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929637" y="2377519"/>
            <a:ext cx="1810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1" i="0" lang="en-US" spc="0" sz="16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Euclidean</a:t>
            </a:r>
            <a:endParaRPr b="0" i="0" spc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2868165" y="2231215"/>
            <a:ext cx="1170300" cy="512100"/>
          </a:xfrm>
          <a:prstGeom prst="roundRect">
            <a:avLst>
              <a:gd fmla="val 7143" name="adj"/>
            </a:avLst>
          </a:prstGeom>
          <a:solidFill>
            <a:srgbClr val="FBFAF8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2923029" y="2377519"/>
            <a:ext cx="106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pc="0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endParaRPr b="0" i="0" spc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4111749" y="2231215"/>
            <a:ext cx="1572900" cy="512100"/>
          </a:xfrm>
          <a:prstGeom prst="roundRect">
            <a:avLst>
              <a:gd fmla="val 7143" name="adj"/>
            </a:avLst>
          </a:prstGeom>
          <a:solidFill>
            <a:srgbClr val="FBFAF8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4166613" y="2377519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pc="0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0.8145</a:t>
            </a:r>
            <a:endParaRPr b="0" i="0" spc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5757669" y="2231215"/>
            <a:ext cx="1225200" cy="512100"/>
          </a:xfrm>
          <a:prstGeom prst="roundRect">
            <a:avLst>
              <a:gd fmla="val 7143" name="adj"/>
            </a:avLst>
          </a:prstGeom>
          <a:solidFill>
            <a:srgbClr val="FBFAF8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5812533" y="2377519"/>
            <a:ext cx="111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pc="0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0.1636</a:t>
            </a:r>
            <a:endParaRPr b="0" i="0" spc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7056117" y="2231215"/>
            <a:ext cx="1326000" cy="512100"/>
          </a:xfrm>
          <a:prstGeom prst="roundRect">
            <a:avLst>
              <a:gd fmla="val 7143" name="adj"/>
            </a:avLst>
          </a:prstGeom>
          <a:solidFill>
            <a:srgbClr val="FBFAF8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7110981" y="2377519"/>
            <a:ext cx="121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pc="0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879.1</a:t>
            </a:r>
            <a:endParaRPr b="0" i="0" spc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8455149" y="2231215"/>
            <a:ext cx="1225200" cy="512100"/>
          </a:xfrm>
          <a:prstGeom prst="roundRect">
            <a:avLst>
              <a:gd fmla="val 7143" name="adj"/>
            </a:avLst>
          </a:prstGeom>
          <a:solidFill>
            <a:srgbClr val="FBFAF8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8510013" y="2377519"/>
            <a:ext cx="111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pc="0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0.3210</a:t>
            </a:r>
            <a:endParaRPr b="0" i="0" spc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874773" y="2825575"/>
            <a:ext cx="1920300" cy="512100"/>
          </a:xfrm>
          <a:prstGeom prst="roundRect">
            <a:avLst>
              <a:gd fmla="val 7143" name="adj"/>
            </a:avLst>
          </a:prstGeom>
          <a:solidFill>
            <a:srgbClr val="F3F6F2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929637" y="2971879"/>
            <a:ext cx="1810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1" i="0" lang="en-US" spc="0" sz="16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Cosine</a:t>
            </a:r>
            <a:endParaRPr b="0" i="0" spc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2868165" y="2825575"/>
            <a:ext cx="1170300" cy="512100"/>
          </a:xfrm>
          <a:prstGeom prst="roundRect">
            <a:avLst>
              <a:gd fmla="val 7143" name="adj"/>
            </a:avLst>
          </a:prstGeom>
          <a:solidFill>
            <a:srgbClr val="F3F6F2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2923029" y="2971879"/>
            <a:ext cx="106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pc="0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30</a:t>
            </a:r>
            <a:endParaRPr b="0" i="0" spc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4111749" y="2825575"/>
            <a:ext cx="1572900" cy="512100"/>
          </a:xfrm>
          <a:prstGeom prst="roundRect">
            <a:avLst>
              <a:gd fmla="val 7143" name="adj"/>
            </a:avLst>
          </a:prstGeom>
          <a:solidFill>
            <a:srgbClr val="F3F6F2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4166613" y="2971879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pc="0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0.8129</a:t>
            </a:r>
            <a:endParaRPr b="0" i="0" spc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5757669" y="2825575"/>
            <a:ext cx="1225200" cy="512100"/>
          </a:xfrm>
          <a:prstGeom prst="roundRect">
            <a:avLst>
              <a:gd fmla="val 7143" name="adj"/>
            </a:avLst>
          </a:prstGeom>
          <a:solidFill>
            <a:srgbClr val="F3F6F2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5812533" y="2971879"/>
            <a:ext cx="111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pc="0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0.1555</a:t>
            </a:r>
            <a:endParaRPr b="0" i="0" spc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7056117" y="2825575"/>
            <a:ext cx="1326000" cy="512100"/>
          </a:xfrm>
          <a:prstGeom prst="roundRect">
            <a:avLst>
              <a:gd fmla="val 7143" name="adj"/>
            </a:avLst>
          </a:prstGeom>
          <a:solidFill>
            <a:srgbClr val="F3F6F2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7110981" y="2971879"/>
            <a:ext cx="121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pc="0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698.2</a:t>
            </a:r>
            <a:endParaRPr b="0" i="0" spc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8455149" y="2825575"/>
            <a:ext cx="1225200" cy="512100"/>
          </a:xfrm>
          <a:prstGeom prst="roundRect">
            <a:avLst>
              <a:gd fmla="val 7143" name="adj"/>
            </a:avLst>
          </a:prstGeom>
          <a:solidFill>
            <a:srgbClr val="F3F6F2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8510013" y="2971879"/>
            <a:ext cx="111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pc="0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0.3022</a:t>
            </a:r>
            <a:endParaRPr b="0" i="0" spc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874767" y="3739902"/>
            <a:ext cx="4983600" cy="1902000"/>
          </a:xfrm>
          <a:prstGeom prst="roundRect">
            <a:avLst>
              <a:gd fmla="val 3846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1139953" y="4169725"/>
            <a:ext cx="192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250"/>
              <a:buFont typeface="Montserrat"/>
              <a:buNone/>
            </a:pPr>
            <a:r>
              <a:rPr b="1" i="0" lang="en-US" spc="0" sz="2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Что меняется?</a:t>
            </a:r>
            <a:endParaRPr b="0" i="0" spc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1139943" y="4619565"/>
            <a:ext cx="4343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20"/>
              <a:buFont typeface="Montserrat"/>
              <a:buNone/>
            </a:pPr>
            <a:r>
              <a:rPr b="0" i="0" lang="en-US" spc="0" sz="10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Euclidean дает более высокие Modularity, SW и CH.</a:t>
            </a:r>
            <a:endParaRPr b="0" i="0" spc="0" sz="10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20"/>
              <a:buFont typeface="Montserrat"/>
              <a:buNone/>
            </a:pPr>
            <a:r>
              <a:rPr b="0" i="0" lang="en-US" spc="0" sz="10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Cosine дает более низкий S_Dbw.</a:t>
            </a:r>
            <a:endParaRPr b="0" i="0" spc="0" sz="10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20"/>
              <a:buFont typeface="Montserrat"/>
              <a:buNone/>
            </a:pPr>
            <a:r>
              <a:rPr b="0" i="0" lang="en-US" spc="0" sz="10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Поэтому выбор – это баланс показателей, а не победитель по одному индексу.</a:t>
            </a:r>
            <a:endParaRPr b="0" i="0" spc="0" sz="10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6132567" y="3739902"/>
            <a:ext cx="5184600" cy="1902000"/>
          </a:xfrm>
          <a:prstGeom prst="roundRect">
            <a:avLst>
              <a:gd fmla="val 3846" name="adj"/>
            </a:avLst>
          </a:prstGeom>
          <a:solidFill>
            <a:srgbClr val="F7F1F2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6406875" y="4169725"/>
            <a:ext cx="333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250"/>
              <a:buFont typeface="Montserrat"/>
              <a:buNone/>
            </a:pPr>
            <a:r>
              <a:rPr b="1" i="0" lang="en-US" spc="0" sz="2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Почему остаемся на Euclidean</a:t>
            </a:r>
            <a:endParaRPr b="0" i="0" spc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6406887" y="4720065"/>
            <a:ext cx="4434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20"/>
              <a:buFont typeface="Montserrat"/>
              <a:buNone/>
            </a:pPr>
            <a:r>
              <a:rPr b="0" i="0" lang="en-US" spc="0" sz="10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Он лучше поддерживает сетевую структуру при контролируемом сравнении и остается прозрачным для интерпретации «насколько близки две композиции потребления».</a:t>
            </a:r>
            <a:endParaRPr b="0" i="0" spc="0" sz="10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685800" y="5998518"/>
            <a:ext cx="10607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093"/>
              </a:buClr>
              <a:buSzPts val="730"/>
              <a:buFont typeface="Montserrat"/>
              <a:buNone/>
            </a:pPr>
            <a:r>
              <a:rPr b="0" i="0" lang="en-US" spc="0" sz="1230" u="none" cap="none" strike="noStrike">
                <a:solidFill>
                  <a:srgbClr val="8B9093"/>
                </a:solidFill>
                <a:latin typeface="Montserrat"/>
                <a:ea typeface="Montserrat"/>
                <a:cs typeface="Montserrat"/>
                <a:sym typeface="Montserrat"/>
              </a:rPr>
              <a:t>Контрольный срез: декабрь 2024. Для Cosine использована отдельная глобальная sigma как контролируемая схема сравнения.</a:t>
            </a:r>
            <a:endParaRPr b="0" i="0" spc="0" sz="12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12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3"/>
          <p:cNvSpPr/>
          <p:nvPr/>
        </p:nvSpPr>
        <p:spPr>
          <a:xfrm>
            <a:off x="658377" y="429775"/>
            <a:ext cx="10808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pc="0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Три устойчивых экономических типа</a:t>
            </a:r>
            <a:endParaRPr b="0" i="0" spc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713225" y="1060708"/>
            <a:ext cx="97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pc="0" sz="18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Интерпретация строится по профилям пяти долей</a:t>
            </a:r>
            <a:endParaRPr b="0" i="0" spc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2" name="Google Shape;4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444752"/>
            <a:ext cx="6629400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3"/>
          <p:cNvSpPr/>
          <p:nvPr/>
        </p:nvSpPr>
        <p:spPr>
          <a:xfrm>
            <a:off x="7562088" y="1444752"/>
            <a:ext cx="3904488" cy="1152144"/>
          </a:xfrm>
          <a:prstGeom prst="roundRect">
            <a:avLst>
              <a:gd fmla="val 6349" name="adj"/>
            </a:avLst>
          </a:prstGeom>
          <a:solidFill>
            <a:srgbClr val="F1F5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7808914" y="1682572"/>
            <a:ext cx="183000" cy="183000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8101659" y="1682570"/>
            <a:ext cx="299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10"/>
              <a:buFont typeface="Montserrat"/>
              <a:buNone/>
            </a:pPr>
            <a:r>
              <a:rPr b="1" i="0" lang="en-US" spc="0" sz="161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Маркетплейсно-</a:t>
            </a:r>
            <a:endParaRPr b="1" i="0" spc="0" sz="1610" u="none" cap="none" strike="noStrike">
              <a:solidFill>
                <a:srgbClr val="24313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10"/>
              <a:buFont typeface="Montserrat"/>
              <a:buNone/>
            </a:pPr>
            <a:r>
              <a:rPr b="1" i="0" lang="en-US" spc="0" sz="161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ориентированный</a:t>
            </a:r>
            <a:endParaRPr b="0" i="0" spc="0" sz="161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8069538" y="2104475"/>
            <a:ext cx="2889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60"/>
              <a:buFont typeface="Montserrat"/>
              <a:buNone/>
            </a:pPr>
            <a:r>
              <a:rPr b="0" i="0" lang="en-US" spc="0" sz="10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~23% маркетплейсов; около 60% продовольствия</a:t>
            </a:r>
            <a:endParaRPr b="0" i="0" spc="0" sz="1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7562088" y="2834640"/>
            <a:ext cx="3904488" cy="1152144"/>
          </a:xfrm>
          <a:prstGeom prst="roundRect">
            <a:avLst>
              <a:gd fmla="val 6349" name="adj"/>
            </a:avLst>
          </a:prstGeom>
          <a:solidFill>
            <a:srgbClr val="F8F1EE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7767576" y="3090773"/>
            <a:ext cx="183000" cy="183000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8101584" y="3109070"/>
            <a:ext cx="299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10"/>
              <a:buFont typeface="Montserrat"/>
              <a:buNone/>
            </a:pPr>
            <a:r>
              <a:rPr b="1" i="0" lang="en-US" spc="0" sz="161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Диверсифицированный сервисный</a:t>
            </a:r>
            <a:endParaRPr b="0" i="0" spc="0" sz="161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8101522" y="3497542"/>
            <a:ext cx="2962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60"/>
              <a:buFont typeface="Montserrat"/>
              <a:buNone/>
            </a:pPr>
            <a:r>
              <a:rPr b="0" i="0" lang="en-US" spc="0" sz="10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выше общепит и транспорт; ниже продовольственная доля</a:t>
            </a:r>
            <a:endParaRPr b="0" i="0" spc="0" sz="1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7562088" y="4224528"/>
            <a:ext cx="3904488" cy="1152144"/>
          </a:xfrm>
          <a:prstGeom prst="roundRect">
            <a:avLst>
              <a:gd fmla="val 6349" name="adj"/>
            </a:avLst>
          </a:prstGeom>
          <a:solidFill>
            <a:srgbClr val="F0F5F1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7767564" y="4498973"/>
            <a:ext cx="183000" cy="183000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8101584" y="4444046"/>
            <a:ext cx="299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10"/>
              <a:buFont typeface="Montserrat"/>
              <a:buNone/>
            </a:pPr>
            <a:r>
              <a:rPr b="1" i="0" lang="en-US" spc="0" sz="161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Продовольственный</a:t>
            </a:r>
            <a:endParaRPr b="0" i="0" spc="0" sz="161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8101597" y="4796280"/>
            <a:ext cx="2962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60"/>
              <a:buFont typeface="Montserrat"/>
              <a:buNone/>
            </a:pPr>
            <a:r>
              <a:rPr b="0" i="0" lang="en-US" spc="0" sz="10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~68% продовольствия и самая низкая доля маркетплейсов</a:t>
            </a:r>
            <a:endParaRPr b="0" i="0" spc="0" sz="1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7589520" y="5715000"/>
            <a:ext cx="3246120" cy="310896"/>
          </a:xfrm>
          <a:prstGeom prst="roundRect">
            <a:avLst>
              <a:gd fmla="val 17647" name="adj"/>
            </a:avLst>
          </a:prstGeom>
          <a:solidFill>
            <a:srgbClr val="E8D9B5"/>
          </a:solidFill>
          <a:ln cap="flat" cmpd="sng" w="1270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7690104" y="5779008"/>
            <a:ext cx="30449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2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K = 3: лучший профиль по K=3…10</a:t>
            </a:r>
            <a:endParaRPr b="0" i="0" spc="0" sz="12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726957" y="5824858"/>
            <a:ext cx="6492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39"/>
              <a:buFont typeface="Montserrat"/>
              <a:buNone/>
            </a:pPr>
            <a:r>
              <a:rPr b="0" i="0" lang="en-US" spc="0" sz="12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Названия типов – описательная интерпретация результата модели, а не официальная классификация.</a:t>
            </a:r>
            <a:endParaRPr b="0" i="0" spc="0" sz="12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13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4"/>
          <p:cNvSpPr/>
          <p:nvPr/>
        </p:nvSpPr>
        <p:spPr>
          <a:xfrm>
            <a:off x="658375" y="537325"/>
            <a:ext cx="9312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pc="0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Как меняется структура типов во времени</a:t>
            </a:r>
            <a:endParaRPr b="0" i="0" spc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728475" y="1437483"/>
            <a:ext cx="97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pc="0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Доли municipality-month наблюдений по устойчивым экономическим типам</a:t>
            </a:r>
            <a:endParaRPr b="0" i="0" spc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6" name="Google Shape;4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468" y="1801420"/>
            <a:ext cx="7726800" cy="443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4"/>
          <p:cNvSpPr/>
          <p:nvPr/>
        </p:nvSpPr>
        <p:spPr>
          <a:xfrm>
            <a:off x="8720324" y="1828852"/>
            <a:ext cx="2743200" cy="4389000"/>
          </a:xfrm>
          <a:prstGeom prst="roundRect">
            <a:avLst>
              <a:gd fmla="val 2667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8994644" y="2201235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00"/>
              <a:buFont typeface="Montserrat"/>
              <a:buNone/>
            </a:pPr>
            <a:r>
              <a:rPr b="1" i="0" lang="en-US" spc="0" sz="19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Что видно на панели</a:t>
            </a:r>
            <a:endParaRPr b="0" i="0" spc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8994644" y="2898760"/>
            <a:ext cx="21489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39"/>
              <a:buFont typeface="Montserrat"/>
              <a:buNone/>
            </a:pPr>
            <a:r>
              <a:rPr b="0" i="0" lang="en-US" spc="0" sz="11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 типов меняется по месяцам: в 2023 году продовольственный тип занимает заметную долю панели, а в 2024 году возрастает доля маркетплейсно-ориентированного типа.</a:t>
            </a:r>
            <a:endParaRPr b="0" i="0" spc="0" sz="11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8994719" y="4218357"/>
            <a:ext cx="1737300" cy="310800"/>
          </a:xfrm>
          <a:prstGeom prst="roundRect">
            <a:avLst>
              <a:gd fmla="val 17647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9095228" y="4291390"/>
            <a:ext cx="1536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Ян. 23 → Дек. 24</a:t>
            </a:r>
            <a:endParaRPr b="0" i="0" spc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8994644" y="4801495"/>
            <a:ext cx="2148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20"/>
              <a:buFont typeface="Montserrat"/>
              <a:buNone/>
            </a:pPr>
            <a:r>
              <a:rPr b="0" i="0" lang="en-US" spc="0" sz="122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Эта динамика – один из основных результатов именно сетевого и временного подхода.</a:t>
            </a:r>
            <a:endParaRPr b="0" i="0" spc="0" sz="12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8990144" y="5713879"/>
            <a:ext cx="2157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10"/>
              <a:buFont typeface="Montserrat"/>
              <a:buNone/>
            </a:pPr>
            <a:r>
              <a:rPr b="0" i="0" lang="en-US" spc="0" sz="101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Источник: monthly_economic_type_shares_final_125.csv</a:t>
            </a:r>
            <a:endParaRPr b="0" i="0" spc="0" sz="101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p14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2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5"/>
          <p:cNvSpPr txBox="1"/>
          <p:nvPr/>
        </p:nvSpPr>
        <p:spPr>
          <a:xfrm>
            <a:off x="658376" y="429775"/>
            <a:ext cx="11027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pc="0" sz="3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Переходы муниципалитетов между типами</a:t>
            </a:r>
            <a:endParaRPr b="1" i="0" spc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15"/>
          <p:cNvSpPr txBox="1"/>
          <p:nvPr/>
        </p:nvSpPr>
        <p:spPr>
          <a:xfrm>
            <a:off x="685800" y="978408"/>
            <a:ext cx="10058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-US" spc="0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Сумма 23 последовательных месячных переходов: январь 2023 → декабрь 2024</a:t>
            </a:r>
            <a:endParaRPr b="0" i="0" spc="0" sz="2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sankey_transitions.png" id="471" name="Google Shape;4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417320"/>
            <a:ext cx="8001000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5"/>
          <p:cNvSpPr txBox="1"/>
          <p:nvPr/>
        </p:nvSpPr>
        <p:spPr>
          <a:xfrm>
            <a:off x="502920" y="1389888"/>
            <a:ext cx="1828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9"/>
              <a:buFont typeface="Arial"/>
              <a:buNone/>
            </a:pPr>
            <a:r>
              <a:rPr b="1" i="0" lang="en-US" spc="0" sz="1319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Тип в месяце t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5"/>
          <p:cNvSpPr txBox="1"/>
          <p:nvPr/>
        </p:nvSpPr>
        <p:spPr>
          <a:xfrm>
            <a:off x="7145455" y="1389888"/>
            <a:ext cx="1828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9"/>
              <a:buFont typeface="Arial"/>
              <a:buNone/>
            </a:pPr>
            <a:r>
              <a:rPr b="1" i="0" lang="en-US" spc="0" sz="1319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Тип в месяце t+1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5"/>
          <p:cNvSpPr txBox="1"/>
          <p:nvPr/>
        </p:nvSpPr>
        <p:spPr>
          <a:xfrm>
            <a:off x="731458" y="1779409"/>
            <a:ext cx="201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Маркетплейсно-</a:t>
            </a:r>
            <a:br>
              <a:rPr b="1" i="0" lang="en-US" spc="0" sz="13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-US" spc="0" sz="13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ориентированный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5"/>
          <p:cNvSpPr txBox="1"/>
          <p:nvPr/>
        </p:nvSpPr>
        <p:spPr>
          <a:xfrm>
            <a:off x="805920" y="2242100"/>
            <a:ext cx="137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Arial"/>
              <a:buNone/>
            </a:pPr>
            <a:r>
              <a:rPr b="0" i="0" lang="en-US" spc="0" sz="11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19 716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5"/>
          <p:cNvSpPr txBox="1"/>
          <p:nvPr/>
        </p:nvSpPr>
        <p:spPr>
          <a:xfrm>
            <a:off x="6546850" y="1830625"/>
            <a:ext cx="2011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5"/>
              <a:buFont typeface="Arial"/>
              <a:buNone/>
            </a:pPr>
            <a:r>
              <a:rPr b="1" i="0" lang="en-US" spc="0" sz="1325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Маркетплейсно-</a:t>
            </a:r>
            <a:br>
              <a:rPr b="1" i="0" lang="en-US" spc="0" sz="1325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-US" spc="0" sz="1325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ориентированный</a:t>
            </a:r>
            <a:endParaRPr b="0" i="0" spc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5"/>
          <p:cNvSpPr txBox="1"/>
          <p:nvPr/>
        </p:nvSpPr>
        <p:spPr>
          <a:xfrm>
            <a:off x="7388352" y="2293750"/>
            <a:ext cx="10515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0"/>
              <a:buFont typeface="Arial"/>
              <a:buNone/>
            </a:pPr>
            <a:r>
              <a:rPr b="0" i="0" lang="en-US" spc="0" sz="111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21 006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5"/>
          <p:cNvSpPr txBox="1"/>
          <p:nvPr/>
        </p:nvSpPr>
        <p:spPr>
          <a:xfrm>
            <a:off x="731525" y="3561100"/>
            <a:ext cx="27285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9"/>
              <a:buFont typeface="Arial"/>
              <a:buNone/>
            </a:pPr>
            <a:r>
              <a:rPr b="1" i="0" lang="en-US" spc="0" sz="1369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Диверсифицированный</a:t>
            </a:r>
            <a:endParaRPr b="0" i="0" spc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5"/>
          <p:cNvSpPr txBox="1"/>
          <p:nvPr/>
        </p:nvSpPr>
        <p:spPr>
          <a:xfrm>
            <a:off x="731520" y="3936007"/>
            <a:ext cx="137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Arial"/>
              <a:buNone/>
            </a:pPr>
            <a:r>
              <a:rPr b="0" i="0" lang="en-US" spc="0" sz="11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9 840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5"/>
          <p:cNvSpPr txBox="1"/>
          <p:nvPr/>
        </p:nvSpPr>
        <p:spPr>
          <a:xfrm>
            <a:off x="6014700" y="3684075"/>
            <a:ext cx="254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Диверсифицированный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5"/>
          <p:cNvSpPr txBox="1"/>
          <p:nvPr/>
        </p:nvSpPr>
        <p:spPr>
          <a:xfrm>
            <a:off x="7388352" y="4031551"/>
            <a:ext cx="10515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0"/>
              <a:buFont typeface="Arial"/>
              <a:buNone/>
            </a:pPr>
            <a:r>
              <a:rPr b="0" i="0" lang="en-US" spc="0" sz="111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9 936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5"/>
          <p:cNvSpPr txBox="1"/>
          <p:nvPr/>
        </p:nvSpPr>
        <p:spPr>
          <a:xfrm>
            <a:off x="731527" y="4587550"/>
            <a:ext cx="26418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9"/>
              <a:buFont typeface="Arial"/>
              <a:buNone/>
            </a:pPr>
            <a:r>
              <a:rPr b="1" i="0" lang="en-US" spc="0" sz="1369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Продовольственный</a:t>
            </a:r>
            <a:endParaRPr b="0" i="0" spc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5"/>
          <p:cNvSpPr txBox="1"/>
          <p:nvPr/>
        </p:nvSpPr>
        <p:spPr>
          <a:xfrm>
            <a:off x="731520" y="4962446"/>
            <a:ext cx="137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Arial"/>
              <a:buNone/>
            </a:pPr>
            <a:r>
              <a:rPr b="0" i="0" lang="en-US" spc="0" sz="11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18 667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5"/>
          <p:cNvSpPr txBox="1"/>
          <p:nvPr/>
        </p:nvSpPr>
        <p:spPr>
          <a:xfrm>
            <a:off x="6411550" y="4717625"/>
            <a:ext cx="21471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5"/>
              <a:buFont typeface="Arial"/>
              <a:buNone/>
            </a:pPr>
            <a:r>
              <a:rPr b="1" i="0" lang="en-US" spc="0" sz="1325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Продовольственный</a:t>
            </a:r>
            <a:endParaRPr b="0" i="0" spc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5"/>
          <p:cNvSpPr txBox="1"/>
          <p:nvPr/>
        </p:nvSpPr>
        <p:spPr>
          <a:xfrm>
            <a:off x="7388352" y="5065100"/>
            <a:ext cx="10515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0"/>
              <a:buFont typeface="Arial"/>
              <a:buNone/>
            </a:pPr>
            <a:r>
              <a:rPr b="0" i="0" lang="en-US" spc="0" sz="111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17 281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8796528" y="1673352"/>
            <a:ext cx="2450592" cy="3840480"/>
          </a:xfrm>
          <a:prstGeom prst="roundRect">
            <a:avLst>
              <a:gd fmla="val 16667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5"/>
          <p:cNvSpPr txBox="1"/>
          <p:nvPr/>
        </p:nvSpPr>
        <p:spPr>
          <a:xfrm>
            <a:off x="9070848" y="1892807"/>
            <a:ext cx="192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pc="0" sz="16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Что видно в потоках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5"/>
          <p:cNvSpPr txBox="1"/>
          <p:nvPr/>
        </p:nvSpPr>
        <p:spPr>
          <a:xfrm>
            <a:off x="9070848" y="2487168"/>
            <a:ext cx="18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pc="0" sz="2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85.5%</a:t>
            </a:r>
            <a:endParaRPr b="0" i="0" spc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5"/>
          <p:cNvSpPr txBox="1"/>
          <p:nvPr/>
        </p:nvSpPr>
        <p:spPr>
          <a:xfrm>
            <a:off x="9070848" y="2944368"/>
            <a:ext cx="19203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9"/>
              <a:buFont typeface="Arial"/>
              <a:buNone/>
            </a:pPr>
            <a:r>
              <a:rPr b="0" i="0" lang="en-US" spc="0" sz="1119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переходов сохраняют</a:t>
            </a:r>
            <a:br>
              <a:rPr b="0" i="0" lang="en-US" spc="0" sz="1119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-US" spc="0" sz="1119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тот же экономический тип</a:t>
            </a:r>
            <a:endParaRPr b="0" i="0" spc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9070848" y="3639312"/>
            <a:ext cx="1901952" cy="329184"/>
          </a:xfrm>
          <a:prstGeom prst="roundRect">
            <a:avLst>
              <a:gd fmla="val 16667" name="adj"/>
            </a:avLst>
          </a:prstGeom>
          <a:solidFill>
            <a:srgbClr val="E8D9B5"/>
          </a:solidFill>
          <a:ln cap="flat" cmpd="sng" w="1015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5"/>
          <p:cNvSpPr txBox="1"/>
          <p:nvPr/>
        </p:nvSpPr>
        <p:spPr>
          <a:xfrm>
            <a:off x="9171349" y="3664550"/>
            <a:ext cx="17193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0"/>
              <a:buFont typeface="Arial"/>
              <a:buNone/>
            </a:pPr>
            <a:r>
              <a:rPr b="1" i="0" lang="en-US" spc="0" sz="121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6 976 переходов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5"/>
          <p:cNvSpPr txBox="1"/>
          <p:nvPr/>
        </p:nvSpPr>
        <p:spPr>
          <a:xfrm>
            <a:off x="9070848" y="4160520"/>
            <a:ext cx="18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pc="0" sz="2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14.5%</a:t>
            </a:r>
            <a:endParaRPr b="0" i="0" spc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5"/>
          <p:cNvSpPr txBox="1"/>
          <p:nvPr/>
        </p:nvSpPr>
        <p:spPr>
          <a:xfrm>
            <a:off x="9070848" y="4616062"/>
            <a:ext cx="19203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9"/>
              <a:buFont typeface="Arial"/>
              <a:buNone/>
            </a:pPr>
            <a:r>
              <a:rPr b="0" i="0" lang="en-US" spc="0" sz="1119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переходов сопровождаются</a:t>
            </a:r>
            <a:br>
              <a:rPr b="0" i="0" lang="en-US" spc="0" sz="1119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-US" spc="0" sz="1119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сменой типа</a:t>
            </a:r>
            <a:endParaRPr b="0" i="0" spc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5"/>
          <p:cNvSpPr txBox="1"/>
          <p:nvPr/>
        </p:nvSpPr>
        <p:spPr>
          <a:xfrm>
            <a:off x="685800" y="5897880"/>
            <a:ext cx="10241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0" i="0" lang="en-US" spc="0" sz="118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Sankey агрегирует переходы между соседними месяцами; это поток переходов, а не число уникальных муниципалитетов.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5"/>
          <p:cNvSpPr txBox="1"/>
          <p:nvPr/>
        </p:nvSpPr>
        <p:spPr>
          <a:xfrm>
            <a:off x="685800" y="6198972"/>
            <a:ext cx="7315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"/>
              <a:buFont typeface="Arial"/>
              <a:buNone/>
            </a:pPr>
            <a:r>
              <a:rPr b="0" i="0" lang="en-US" spc="0" sz="1010" u="none" cap="none" strike="noStrike">
                <a:solidFill>
                  <a:srgbClr val="8B9093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Источник: economic_type_transitions_final_125.csv</a:t>
            </a:r>
            <a:endParaRPr b="0" i="0" spc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685800" y="6419088"/>
            <a:ext cx="10607040" cy="7315"/>
          </a:xfrm>
          <a:prstGeom prst="rect">
            <a:avLst/>
          </a:prstGeom>
          <a:solidFill>
            <a:srgbClr val="E1DED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5"/>
          <p:cNvSpPr txBox="1"/>
          <p:nvPr/>
        </p:nvSpPr>
        <p:spPr>
          <a:xfrm>
            <a:off x="685800" y="647395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8B9093"/>
                </a:solidFill>
                <a:latin typeface="Montserrat"/>
                <a:ea typeface="Montserrat"/>
                <a:cs typeface="Montserrat"/>
                <a:sym typeface="Montserrat"/>
              </a:rPr>
              <a:t>SberIndex • динамическая атрибутированная сеть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5"/>
          <p:cNvSpPr txBox="1"/>
          <p:nvPr/>
        </p:nvSpPr>
        <p:spPr>
          <a:xfrm>
            <a:off x="9921240" y="647395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8B9093"/>
                </a:solidFill>
                <a:latin typeface="Montserrat"/>
                <a:ea typeface="Montserrat"/>
                <a:cs typeface="Montserrat"/>
                <a:sym typeface="Montserrat"/>
              </a:rPr>
              <a:t>01–15 • 2023–2024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5"/>
          <p:cNvSpPr txBox="1"/>
          <p:nvPr/>
        </p:nvSpPr>
        <p:spPr>
          <a:xfrm>
            <a:off x="11686032" y="6528816"/>
            <a:ext cx="795528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pc="0" sz="7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6"/>
          <p:cNvSpPr/>
          <p:nvPr/>
        </p:nvSpPr>
        <p:spPr>
          <a:xfrm>
            <a:off x="658368" y="4297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pc="0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Финальная оценка</a:t>
            </a:r>
            <a:endParaRPr b="0" i="0" spc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685800" y="978408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pc="0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Итог по 50 521 municipality-month наблюдению</a:t>
            </a:r>
            <a:endParaRPr b="0" i="0" spc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685688" y="1758953"/>
            <a:ext cx="2469000" cy="1417200"/>
          </a:xfrm>
          <a:prstGeom prst="roundRect">
            <a:avLst>
              <a:gd fmla="val 5161" name="adj"/>
            </a:avLst>
          </a:prstGeom>
          <a:solidFill>
            <a:srgbClr val="AFC7D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850279" y="1914401"/>
            <a:ext cx="213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pc="0" sz="16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Silhouette</a:t>
            </a:r>
            <a:endParaRPr b="0" i="0" spc="0" sz="16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850279" y="2216153"/>
            <a:ext cx="213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pc="0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0.3456</a:t>
            </a:r>
            <a:endParaRPr b="0" i="0" spc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850279" y="2778514"/>
            <a:ext cx="213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13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финальная типология, K = 3</a:t>
            </a:r>
            <a:endParaRPr b="0" i="0" spc="0" sz="13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3319160" y="1758953"/>
            <a:ext cx="2469000" cy="1417200"/>
          </a:xfrm>
          <a:prstGeom prst="roundRect">
            <a:avLst>
              <a:gd fmla="val 5161" name="adj"/>
            </a:avLst>
          </a:prstGeom>
          <a:solidFill>
            <a:srgbClr val="BFD2C4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3483752" y="1914401"/>
            <a:ext cx="213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pc="0" sz="16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Calinski–Harabasz</a:t>
            </a:r>
            <a:endParaRPr b="0" i="0" spc="0" sz="16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3483752" y="2216153"/>
            <a:ext cx="213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pc="0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38 527.26</a:t>
            </a:r>
            <a:endParaRPr b="0" i="0" spc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3483789" y="2778452"/>
            <a:ext cx="213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13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на всей панели</a:t>
            </a:r>
            <a:endParaRPr b="0" i="0" spc="0" sz="13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5952632" y="1758953"/>
            <a:ext cx="2469000" cy="1417200"/>
          </a:xfrm>
          <a:prstGeom prst="roundRect">
            <a:avLst>
              <a:gd fmla="val 5161" name="adj"/>
            </a:avLst>
          </a:prstGeom>
          <a:solidFill>
            <a:srgbClr val="E4C4B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6117224" y="1914401"/>
            <a:ext cx="213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pc="0" sz="16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ARI vs 1.50</a:t>
            </a:r>
            <a:endParaRPr b="0" i="0" spc="0" sz="16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6117224" y="2216153"/>
            <a:ext cx="213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pc="0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0.8723</a:t>
            </a:r>
            <a:endParaRPr b="0" i="0" spc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6117236" y="2778514"/>
            <a:ext cx="213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13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согласованность типологий</a:t>
            </a:r>
            <a:endParaRPr b="0" i="0" spc="0" sz="13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8586104" y="1758953"/>
            <a:ext cx="2469000" cy="1417200"/>
          </a:xfrm>
          <a:prstGeom prst="roundRect">
            <a:avLst>
              <a:gd fmla="val 5161" name="adj"/>
            </a:avLst>
          </a:prstGeom>
          <a:solidFill>
            <a:srgbClr val="C9C5E1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8750696" y="1914401"/>
            <a:ext cx="213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pc="0" sz="16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Exact match rate</a:t>
            </a:r>
            <a:endParaRPr b="0" i="0" spc="0" sz="16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8750696" y="2216153"/>
            <a:ext cx="213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pc="0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95.85%</a:t>
            </a:r>
            <a:endParaRPr b="0" i="0" spc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8750771" y="2778502"/>
            <a:ext cx="213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pc="0" sz="13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семантических меток</a:t>
            </a:r>
            <a:endParaRPr b="0" i="0" spc="0" sz="13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685800" y="3764350"/>
            <a:ext cx="10369200" cy="2084700"/>
          </a:xfrm>
          <a:prstGeom prst="roundRect">
            <a:avLst>
              <a:gd fmla="val 3509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987547" y="4084400"/>
            <a:ext cx="599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00"/>
              <a:buFont typeface="Montserrat"/>
              <a:buNone/>
            </a:pPr>
            <a:r>
              <a:rPr b="1" i="0" lang="en-US" spc="0" sz="26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Финальная конфигурация</a:t>
            </a:r>
            <a:endParaRPr b="0" i="0" spc="0" sz="2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987552" y="4495870"/>
            <a:ext cx="1600200" cy="310800"/>
          </a:xfrm>
          <a:prstGeom prst="roundRect">
            <a:avLst>
              <a:gd fmla="val 17647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6"/>
          <p:cNvSpPr/>
          <p:nvPr/>
        </p:nvSpPr>
        <p:spPr>
          <a:xfrm>
            <a:off x="1088136" y="4559878"/>
            <a:ext cx="139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resolution 1.25</a:t>
            </a:r>
            <a:endParaRPr b="0" i="0" spc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2752344" y="4495870"/>
            <a:ext cx="1051500" cy="310800"/>
          </a:xfrm>
          <a:prstGeom prst="roundRect">
            <a:avLst>
              <a:gd fmla="val 17647" name="adj"/>
            </a:avLst>
          </a:prstGeom>
          <a:solidFill>
            <a:srgbClr val="BFD2C4"/>
          </a:solidFill>
          <a:ln cap="flat" cmpd="sng" w="1270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2852928" y="4559878"/>
            <a:ext cx="850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k = 10</a:t>
            </a:r>
            <a:endParaRPr b="0" i="0" spc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3977640" y="4495870"/>
            <a:ext cx="1097400" cy="310800"/>
          </a:xfrm>
          <a:prstGeom prst="roundRect">
            <a:avLst>
              <a:gd fmla="val 17647" name="adj"/>
            </a:avLst>
          </a:prstGeom>
          <a:solidFill>
            <a:srgbClr val="E4C4B8"/>
          </a:solidFill>
          <a:ln cap="flat" cmpd="sng" w="1270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4078224" y="4559878"/>
            <a:ext cx="89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seed = 42</a:t>
            </a:r>
            <a:endParaRPr b="0" i="0" spc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1" name="Google Shape;531;p16"/>
          <p:cNvSpPr/>
          <p:nvPr/>
        </p:nvSpPr>
        <p:spPr>
          <a:xfrm>
            <a:off x="5257800" y="4495870"/>
            <a:ext cx="1115700" cy="310800"/>
          </a:xfrm>
          <a:prstGeom prst="roundRect">
            <a:avLst>
              <a:gd fmla="val 17647" name="adj"/>
            </a:avLst>
          </a:prstGeom>
          <a:solidFill>
            <a:srgbClr val="C9C5E1"/>
          </a:solidFill>
          <a:ln cap="flat" cmpd="sng" w="1270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5358384" y="4559878"/>
            <a:ext cx="914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K = 3</a:t>
            </a:r>
            <a:endParaRPr b="0" i="0" spc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3" name="Google Shape;533;p16"/>
          <p:cNvSpPr/>
          <p:nvPr/>
        </p:nvSpPr>
        <p:spPr>
          <a:xfrm>
            <a:off x="6583675" y="4495875"/>
            <a:ext cx="1718100" cy="310800"/>
          </a:xfrm>
          <a:prstGeom prst="roundRect">
            <a:avLst>
              <a:gd fmla="val 17647" name="adj"/>
            </a:avLst>
          </a:prstGeom>
          <a:solidFill>
            <a:srgbClr val="E8D9B5"/>
          </a:solidFill>
          <a:ln cap="flat" cmpd="sng" w="1270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6684277" y="4559875"/>
            <a:ext cx="1536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Euclidean + RBF</a:t>
            </a:r>
            <a:endParaRPr b="0" i="0" spc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987552" y="5167839"/>
            <a:ext cx="85038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60"/>
              <a:buFont typeface="Montserrat"/>
              <a:buNone/>
            </a:pPr>
            <a:r>
              <a:rPr b="0" i="0" lang="en-US" spc="0" sz="14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Контрольный срез декабрь 2024: 20 Louvain-кластеров и Modularity = 0.8145.</a:t>
            </a:r>
            <a:endParaRPr b="0" i="0" spc="0" sz="14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16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7"/>
          <p:cNvSpPr/>
          <p:nvPr/>
        </p:nvSpPr>
        <p:spPr>
          <a:xfrm>
            <a:off x="658377" y="429775"/>
            <a:ext cx="10634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pc="0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Воспроизводимость и ограничения</a:t>
            </a:r>
            <a:endParaRPr b="0" i="0" spc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685800" y="978408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pc="0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Проект рассчитан на повторный запуск из репозитория</a:t>
            </a:r>
            <a:endParaRPr b="0" i="0" spc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685800" y="1444752"/>
            <a:ext cx="5120640" cy="4370832"/>
          </a:xfrm>
          <a:prstGeom prst="roundRect">
            <a:avLst>
              <a:gd fmla="val 1674" name="adj"/>
            </a:avLst>
          </a:prstGeom>
          <a:solidFill>
            <a:srgbClr val="F3F6F2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960124" y="1755650"/>
            <a:ext cx="459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450"/>
              <a:buFont typeface="Montserrat"/>
              <a:buNone/>
            </a:pPr>
            <a:r>
              <a:rPr b="1" i="0" lang="en-US" spc="0" sz="25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Воспроизводимость</a:t>
            </a:r>
            <a:endParaRPr b="0" i="0" spc="0" sz="25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960120" y="2304288"/>
            <a:ext cx="283464" cy="283464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960120" y="2377440"/>
            <a:ext cx="2834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730"/>
              <a:buFont typeface="Montserrat"/>
              <a:buNone/>
            </a:pPr>
            <a:r>
              <a:rPr b="1" i="0" lang="en-US" spc="0" sz="103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pc="0" sz="10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1328949" y="2340875"/>
            <a:ext cx="1253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60"/>
              <a:buFont typeface="Montserrat"/>
              <a:buNone/>
            </a:pPr>
            <a:r>
              <a:rPr b="1" i="0" lang="en-US" spc="0" sz="126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config.json</a:t>
            </a:r>
            <a:endParaRPr b="0" i="0" spc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2880350" y="2318075"/>
            <a:ext cx="267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70"/>
              <a:buFont typeface="Montserrat"/>
              <a:buNone/>
            </a:pPr>
            <a:r>
              <a:rPr b="0" i="0" lang="en-US" spc="0" sz="10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финальные параметры модели</a:t>
            </a:r>
            <a:endParaRPr b="0" i="0" spc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960120" y="3035808"/>
            <a:ext cx="283464" cy="283464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960120" y="3108960"/>
            <a:ext cx="2834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730"/>
              <a:buFont typeface="Montserrat"/>
              <a:buNone/>
            </a:pPr>
            <a:r>
              <a:rPr b="1" i="0" lang="en-US" spc="0" sz="103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pc="0" sz="10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1328952" y="3055213"/>
            <a:ext cx="900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60"/>
              <a:buFont typeface="Montserrat"/>
              <a:buNone/>
            </a:pPr>
            <a:r>
              <a:rPr b="1" i="0" lang="en-US" spc="0" sz="126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01 → 15</a:t>
            </a:r>
            <a:endParaRPr b="0" i="0" spc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2880350" y="3049588"/>
            <a:ext cx="2724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70"/>
              <a:buFont typeface="Montserrat"/>
              <a:buNone/>
            </a:pPr>
            <a:r>
              <a:rPr b="0" i="0" lang="en-US" spc="0" sz="10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полный исследовательский pipeline</a:t>
            </a:r>
            <a:endParaRPr b="0" i="0" spc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17"/>
          <p:cNvSpPr/>
          <p:nvPr/>
        </p:nvSpPr>
        <p:spPr>
          <a:xfrm>
            <a:off x="960120" y="3767328"/>
            <a:ext cx="283464" cy="283464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960120" y="3840480"/>
            <a:ext cx="2834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730"/>
              <a:buFont typeface="Montserrat"/>
              <a:buNone/>
            </a:pPr>
            <a:r>
              <a:rPr b="1" i="0" lang="en-US" spc="0" sz="103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pc="0" sz="10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1314445" y="3813052"/>
            <a:ext cx="1737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60"/>
              <a:buFont typeface="Montserrat"/>
              <a:buNone/>
            </a:pPr>
            <a:r>
              <a:rPr b="1" i="0" lang="en-US" spc="0" sz="126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data/processed</a:t>
            </a:r>
            <a:endParaRPr b="0" i="0" spc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2880350" y="3781125"/>
            <a:ext cx="288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70"/>
              <a:buFont typeface="Montserrat"/>
              <a:buNone/>
            </a:pPr>
            <a:r>
              <a:rPr b="0" i="0" lang="en-US" spc="0" sz="10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сохраненные промежуточные результаты</a:t>
            </a:r>
            <a:endParaRPr b="0" i="0" spc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p17"/>
          <p:cNvSpPr/>
          <p:nvPr/>
        </p:nvSpPr>
        <p:spPr>
          <a:xfrm>
            <a:off x="960120" y="4498848"/>
            <a:ext cx="283464" cy="283464"/>
          </a:xfrm>
          <a:prstGeom prst="ellipse">
            <a:avLst/>
          </a:prstGeom>
          <a:solidFill>
            <a:srgbClr val="C9C5E1"/>
          </a:solidFill>
          <a:ln cap="flat" cmpd="sng" w="1015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7"/>
          <p:cNvSpPr/>
          <p:nvPr/>
        </p:nvSpPr>
        <p:spPr>
          <a:xfrm>
            <a:off x="960120" y="4572000"/>
            <a:ext cx="2834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730"/>
              <a:buFont typeface="Montserrat"/>
              <a:buNone/>
            </a:pPr>
            <a:r>
              <a:rPr b="1" i="0" lang="en-US" spc="0" sz="103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pc="0" sz="10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p17"/>
          <p:cNvSpPr/>
          <p:nvPr/>
        </p:nvSpPr>
        <p:spPr>
          <a:xfrm>
            <a:off x="1314420" y="4512659"/>
            <a:ext cx="1737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60"/>
              <a:buFont typeface="Montserrat"/>
              <a:buNone/>
            </a:pPr>
            <a:r>
              <a:rPr b="1" i="0" lang="en-US" spc="0" sz="106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outputs/figures</a:t>
            </a:r>
            <a:endParaRPr b="0" i="0" spc="0" sz="1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2880360" y="4489840"/>
            <a:ext cx="233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70"/>
              <a:buFont typeface="Montserrat"/>
              <a:buNone/>
            </a:pPr>
            <a:r>
              <a:rPr b="0" i="0" lang="en-US" spc="0" sz="10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готовые визуализации</a:t>
            </a:r>
            <a:endParaRPr b="0" i="0" spc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960120" y="5285232"/>
            <a:ext cx="2724912" cy="310896"/>
          </a:xfrm>
          <a:prstGeom prst="roundRect">
            <a:avLst>
              <a:gd fmla="val 17647" name="adj"/>
            </a:avLst>
          </a:prstGeom>
          <a:solidFill>
            <a:srgbClr val="E8D9B5"/>
          </a:solidFill>
          <a:ln cap="flat" cmpd="sng" w="1270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7"/>
          <p:cNvSpPr/>
          <p:nvPr/>
        </p:nvSpPr>
        <p:spPr>
          <a:xfrm>
            <a:off x="1060704" y="5349240"/>
            <a:ext cx="2523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0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RUN_ME_FIRST.md + README.md</a:t>
            </a:r>
            <a:endParaRPr b="0" i="0" spc="0" sz="10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4" name="Google Shape;564;p17"/>
          <p:cNvSpPr/>
          <p:nvPr/>
        </p:nvSpPr>
        <p:spPr>
          <a:xfrm>
            <a:off x="6080760" y="1444752"/>
            <a:ext cx="5212080" cy="4370832"/>
          </a:xfrm>
          <a:prstGeom prst="roundRect">
            <a:avLst>
              <a:gd fmla="val 1674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6364226" y="1755650"/>
            <a:ext cx="459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450"/>
              <a:buFont typeface="Montserrat"/>
              <a:buNone/>
            </a:pPr>
            <a:r>
              <a:rPr b="1" i="0" lang="en-US" spc="0" sz="25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Ограничения</a:t>
            </a:r>
            <a:endParaRPr b="0" i="0" spc="0" sz="25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6391694" y="2382013"/>
            <a:ext cx="128100" cy="128100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6665976" y="2304293"/>
            <a:ext cx="4133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9"/>
              <a:buFont typeface="Montserrat"/>
              <a:buNone/>
            </a:pPr>
            <a:r>
              <a:rPr b="0" i="0" lang="en-US" spc="0" sz="119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Пять признаков описывают выбранную структуру потребления, а не всю экономику муниципалитета.</a:t>
            </a:r>
            <a:endParaRPr b="0" i="0" spc="0" sz="119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8" name="Google Shape;568;p17"/>
          <p:cNvSpPr/>
          <p:nvPr/>
        </p:nvSpPr>
        <p:spPr>
          <a:xfrm>
            <a:off x="6391656" y="3054107"/>
            <a:ext cx="128100" cy="128100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7"/>
          <p:cNvSpPr/>
          <p:nvPr/>
        </p:nvSpPr>
        <p:spPr>
          <a:xfrm>
            <a:off x="6665976" y="2936287"/>
            <a:ext cx="4133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9"/>
              <a:buFont typeface="Montserrat"/>
              <a:buNone/>
            </a:pPr>
            <a:r>
              <a:rPr b="0" i="0" lang="en-US" spc="0" sz="119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market_access – статический показатель 2024 года и не входит в основной вектор.</a:t>
            </a:r>
            <a:endParaRPr b="0" i="0" spc="0" sz="119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6391656" y="3804026"/>
            <a:ext cx="128100" cy="128100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6665976" y="3694093"/>
            <a:ext cx="4133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9"/>
              <a:buFont typeface="Montserrat"/>
              <a:buNone/>
            </a:pPr>
            <a:r>
              <a:rPr b="0" i="0" lang="en-US" spc="0" sz="119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Месячные Louvain-кластеры не имеют постоянных идентификаторов сами по себе.</a:t>
            </a:r>
            <a:endParaRPr b="0" i="0" spc="0" sz="119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6391656" y="4489845"/>
            <a:ext cx="128100" cy="128100"/>
          </a:xfrm>
          <a:prstGeom prst="ellipse">
            <a:avLst/>
          </a:prstGeom>
          <a:solidFill>
            <a:srgbClr val="C9C5E1"/>
          </a:solidFill>
          <a:ln cap="flat" cmpd="sng" w="1015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6665976" y="4416487"/>
            <a:ext cx="4133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9"/>
              <a:buFont typeface="Montserrat"/>
              <a:buNone/>
            </a:pPr>
            <a:r>
              <a:rPr b="0" i="0" lang="en-US" spc="0" sz="119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Названия трех типов – интерпретация профилей, а не официальная классификация.</a:t>
            </a:r>
            <a:endParaRPr b="0" i="0" spc="0" sz="119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4" name="Google Shape;574;p17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3F0EB"/>
          </a:solidFill>
          <a:ln cap="flat" cmpd="sng" w="12700">
            <a:solidFill>
              <a:srgbClr val="F3F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8"/>
          <p:cNvSpPr/>
          <p:nvPr/>
        </p:nvSpPr>
        <p:spPr>
          <a:xfrm>
            <a:off x="694944" y="65836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800"/>
              <a:buFont typeface="Montserrat"/>
              <a:buNone/>
            </a:pPr>
            <a:r>
              <a:rPr b="1" i="0" lang="en-US" spc="0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Итог</a:t>
            </a:r>
            <a:endParaRPr b="0" i="0" spc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2" name="Google Shape;582;p18"/>
          <p:cNvSpPr/>
          <p:nvPr/>
        </p:nvSpPr>
        <p:spPr>
          <a:xfrm>
            <a:off x="713232" y="1426464"/>
            <a:ext cx="74980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900"/>
              <a:buFont typeface="Montserrat"/>
              <a:buNone/>
            </a:pPr>
            <a:r>
              <a:rPr b="1" i="0" lang="en-US" spc="0" sz="19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Мы построили динамическую атрибутированную сеть,</a:t>
            </a:r>
            <a:endParaRPr b="0" i="0" spc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900"/>
              <a:buFont typeface="Montserrat"/>
              <a:buNone/>
            </a:pPr>
            <a:r>
              <a:rPr b="1" i="0" lang="en-US" spc="0" sz="19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где экономическая близость муниципалитетов становится частью модели.</a:t>
            </a:r>
            <a:endParaRPr b="0" i="0" spc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3" name="Google Shape;583;p18"/>
          <p:cNvSpPr/>
          <p:nvPr/>
        </p:nvSpPr>
        <p:spPr>
          <a:xfrm>
            <a:off x="731520" y="2834640"/>
            <a:ext cx="3182112" cy="1700784"/>
          </a:xfrm>
          <a:prstGeom prst="roundRect">
            <a:avLst>
              <a:gd fmla="val 4301" name="adj"/>
            </a:avLst>
          </a:prstGeom>
          <a:solidFill>
            <a:srgbClr val="FFFFFF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8"/>
          <p:cNvSpPr/>
          <p:nvPr/>
        </p:nvSpPr>
        <p:spPr>
          <a:xfrm>
            <a:off x="987552" y="3127248"/>
            <a:ext cx="310896" cy="310896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8"/>
          <p:cNvSpPr/>
          <p:nvPr/>
        </p:nvSpPr>
        <p:spPr>
          <a:xfrm>
            <a:off x="987552" y="3209544"/>
            <a:ext cx="3108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780"/>
              <a:buFont typeface="Montserrat"/>
              <a:buNone/>
            </a:pPr>
            <a:r>
              <a:rPr b="1" i="0" lang="en-US" spc="0" sz="108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pc="0" sz="10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6" name="Google Shape;586;p18"/>
          <p:cNvSpPr/>
          <p:nvPr/>
        </p:nvSpPr>
        <p:spPr>
          <a:xfrm>
            <a:off x="1463040" y="3177534"/>
            <a:ext cx="1755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160"/>
              <a:buFont typeface="Montserrat"/>
              <a:buNone/>
            </a:pPr>
            <a:r>
              <a:rPr b="1" i="0" lang="en-US" spc="0" sz="206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Сеть</a:t>
            </a:r>
            <a:endParaRPr b="0" i="0" spc="0" sz="2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7" name="Google Shape;587;p18"/>
          <p:cNvSpPr/>
          <p:nvPr/>
        </p:nvSpPr>
        <p:spPr>
          <a:xfrm>
            <a:off x="1463040" y="3616500"/>
            <a:ext cx="203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0" i="0" lang="en-US" spc="0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24 ежемесячных графа</a:t>
            </a:r>
            <a:endParaRPr b="0" i="0" spc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0" i="0" lang="en-US" spc="0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kNN + RBF</a:t>
            </a:r>
            <a:endParaRPr b="0" i="0" spc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8" name="Google Shape;588;p18"/>
          <p:cNvSpPr/>
          <p:nvPr/>
        </p:nvSpPr>
        <p:spPr>
          <a:xfrm>
            <a:off x="4343400" y="2834640"/>
            <a:ext cx="3182112" cy="1700784"/>
          </a:xfrm>
          <a:prstGeom prst="roundRect">
            <a:avLst>
              <a:gd fmla="val 4301" name="adj"/>
            </a:avLst>
          </a:prstGeom>
          <a:solidFill>
            <a:srgbClr val="FFFFFF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8"/>
          <p:cNvSpPr/>
          <p:nvPr/>
        </p:nvSpPr>
        <p:spPr>
          <a:xfrm>
            <a:off x="4599432" y="3127248"/>
            <a:ext cx="310896" cy="310896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4599432" y="3209544"/>
            <a:ext cx="3108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780"/>
              <a:buFont typeface="Montserrat"/>
              <a:buNone/>
            </a:pPr>
            <a:r>
              <a:rPr b="1" i="0" lang="en-US" spc="0" sz="108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pc="0" sz="10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p18"/>
          <p:cNvSpPr/>
          <p:nvPr/>
        </p:nvSpPr>
        <p:spPr>
          <a:xfrm>
            <a:off x="5056620" y="3177534"/>
            <a:ext cx="1755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160"/>
              <a:buFont typeface="Montserrat"/>
              <a:buNone/>
            </a:pPr>
            <a:r>
              <a:rPr b="1" i="0" lang="en-US" spc="0" sz="206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Типология</a:t>
            </a:r>
            <a:endParaRPr b="0" i="0" spc="0" sz="2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2" name="Google Shape;592;p18"/>
          <p:cNvSpPr/>
          <p:nvPr/>
        </p:nvSpPr>
        <p:spPr>
          <a:xfrm>
            <a:off x="5056624" y="3574738"/>
            <a:ext cx="150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0" i="0" lang="en-US" spc="0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3 устойчивых</a:t>
            </a:r>
            <a:endParaRPr b="0" i="0" spc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0" i="0" lang="en-US" spc="0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экономических типа</a:t>
            </a:r>
            <a:endParaRPr b="0" i="0" spc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3" name="Google Shape;593;p18"/>
          <p:cNvSpPr/>
          <p:nvPr/>
        </p:nvSpPr>
        <p:spPr>
          <a:xfrm>
            <a:off x="7955280" y="2834640"/>
            <a:ext cx="3182112" cy="1700784"/>
          </a:xfrm>
          <a:prstGeom prst="roundRect">
            <a:avLst>
              <a:gd fmla="val 4301" name="adj"/>
            </a:avLst>
          </a:prstGeom>
          <a:solidFill>
            <a:srgbClr val="FFFFFF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8"/>
          <p:cNvSpPr/>
          <p:nvPr/>
        </p:nvSpPr>
        <p:spPr>
          <a:xfrm>
            <a:off x="8211312" y="3127248"/>
            <a:ext cx="310896" cy="310896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8211312" y="3209544"/>
            <a:ext cx="3108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780"/>
              <a:buFont typeface="Montserrat"/>
              <a:buNone/>
            </a:pPr>
            <a:r>
              <a:rPr b="1" i="0" lang="en-US" spc="0" sz="108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pc="0" sz="10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6" name="Google Shape;596;p18"/>
          <p:cNvSpPr/>
          <p:nvPr/>
        </p:nvSpPr>
        <p:spPr>
          <a:xfrm>
            <a:off x="8668513" y="3177534"/>
            <a:ext cx="1755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160"/>
              <a:buFont typeface="Montserrat"/>
              <a:buNone/>
            </a:pPr>
            <a:r>
              <a:rPr b="1" i="0" lang="en-US" spc="0" sz="206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Динамика</a:t>
            </a:r>
            <a:endParaRPr b="0" i="0" spc="0" sz="2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7" name="Google Shape;597;p18"/>
          <p:cNvSpPr/>
          <p:nvPr/>
        </p:nvSpPr>
        <p:spPr>
          <a:xfrm>
            <a:off x="8668525" y="3574750"/>
            <a:ext cx="226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0" i="0" lang="en-US" spc="0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изменение структуры</a:t>
            </a:r>
            <a:endParaRPr b="0" i="0" spc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0" i="0" lang="en-US" spc="0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наблюдается во времени</a:t>
            </a:r>
            <a:endParaRPr b="0" i="0" spc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749797" y="5047500"/>
            <a:ext cx="905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9FB6"/>
              </a:buClr>
              <a:buSzPts val="1350"/>
              <a:buFont typeface="Montserrat"/>
              <a:buNone/>
            </a:pPr>
            <a:r>
              <a:rPr b="1" i="0" lang="en-US" spc="0" sz="2050" u="none" cap="none" strike="noStrike">
                <a:solidFill>
                  <a:srgbClr val="7F9FB6"/>
                </a:solidFill>
                <a:latin typeface="Montserrat"/>
                <a:ea typeface="Montserrat"/>
                <a:cs typeface="Montserrat"/>
                <a:sym typeface="Montserrat"/>
              </a:rPr>
              <a:t>Финальная модель: Euclidean + kNN(10) + RBF + Louvain(1.25)</a:t>
            </a:r>
            <a:endParaRPr b="0" i="0" spc="0" sz="20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749808" y="5522976"/>
            <a:ext cx="2240280" cy="310896"/>
          </a:xfrm>
          <a:prstGeom prst="roundRect">
            <a:avLst>
              <a:gd fmla="val 17647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8"/>
          <p:cNvSpPr/>
          <p:nvPr/>
        </p:nvSpPr>
        <p:spPr>
          <a:xfrm>
            <a:off x="850392" y="5586984"/>
            <a:ext cx="20391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Silhouette = 0.3456</a:t>
            </a:r>
            <a:endParaRPr b="0" i="0" spc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3163824" y="5522976"/>
            <a:ext cx="2468880" cy="310896"/>
          </a:xfrm>
          <a:prstGeom prst="roundRect">
            <a:avLst>
              <a:gd fmla="val 17647" name="adj"/>
            </a:avLst>
          </a:prstGeom>
          <a:solidFill>
            <a:srgbClr val="E4C4B8"/>
          </a:solidFill>
          <a:ln cap="flat" cmpd="sng" w="1270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8"/>
          <p:cNvSpPr/>
          <p:nvPr/>
        </p:nvSpPr>
        <p:spPr>
          <a:xfrm>
            <a:off x="3264408" y="5586984"/>
            <a:ext cx="22677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ARI vs 1.50 = 0.8723</a:t>
            </a:r>
            <a:endParaRPr b="0" i="0" spc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3" name="Google Shape;603;p18"/>
          <p:cNvSpPr/>
          <p:nvPr/>
        </p:nvSpPr>
        <p:spPr>
          <a:xfrm>
            <a:off x="5797296" y="5522976"/>
            <a:ext cx="2048256" cy="310896"/>
          </a:xfrm>
          <a:prstGeom prst="roundRect">
            <a:avLst>
              <a:gd fmla="val 17647" name="adj"/>
            </a:avLst>
          </a:prstGeom>
          <a:solidFill>
            <a:srgbClr val="BFD2C4"/>
          </a:solidFill>
          <a:ln cap="flat" cmpd="sng" w="1270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8"/>
          <p:cNvSpPr/>
          <p:nvPr/>
        </p:nvSpPr>
        <p:spPr>
          <a:xfrm>
            <a:off x="5897880" y="5586984"/>
            <a:ext cx="1847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pc="0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3 устойчивых типа</a:t>
            </a:r>
            <a:endParaRPr b="0" i="0" spc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05" name="Google Shape;605;p18"/>
          <p:cNvCxnSpPr/>
          <p:nvPr/>
        </p:nvCxnSpPr>
        <p:spPr>
          <a:xfrm flipH="1" rot="10800000">
            <a:off x="8776960" y="937809"/>
            <a:ext cx="493776" cy="345643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p18"/>
          <p:cNvCxnSpPr/>
          <p:nvPr/>
        </p:nvCxnSpPr>
        <p:spPr>
          <a:xfrm flipH="1" rot="10800000">
            <a:off x="8776960" y="1169884"/>
            <a:ext cx="987552" cy="113568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18"/>
          <p:cNvCxnSpPr/>
          <p:nvPr/>
        </p:nvCxnSpPr>
        <p:spPr>
          <a:xfrm>
            <a:off x="9270736" y="937809"/>
            <a:ext cx="493776" cy="232075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18"/>
          <p:cNvCxnSpPr/>
          <p:nvPr/>
        </p:nvCxnSpPr>
        <p:spPr>
          <a:xfrm>
            <a:off x="9270736" y="937809"/>
            <a:ext cx="987552" cy="24689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18"/>
          <p:cNvCxnSpPr/>
          <p:nvPr/>
        </p:nvCxnSpPr>
        <p:spPr>
          <a:xfrm flipH="1" rot="10800000">
            <a:off x="9764512" y="962497"/>
            <a:ext cx="493776" cy="207386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18"/>
          <p:cNvCxnSpPr/>
          <p:nvPr/>
        </p:nvCxnSpPr>
        <p:spPr>
          <a:xfrm>
            <a:off x="9764512" y="1169883"/>
            <a:ext cx="987552" cy="128382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18"/>
          <p:cNvCxnSpPr/>
          <p:nvPr/>
        </p:nvCxnSpPr>
        <p:spPr>
          <a:xfrm>
            <a:off x="10258288" y="962497"/>
            <a:ext cx="493776" cy="335768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2" name="Google Shape;612;p18"/>
          <p:cNvCxnSpPr/>
          <p:nvPr/>
        </p:nvCxnSpPr>
        <p:spPr>
          <a:xfrm>
            <a:off x="10258288" y="962497"/>
            <a:ext cx="1012241" cy="8888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3" name="Google Shape;613;p18"/>
          <p:cNvCxnSpPr/>
          <p:nvPr/>
        </p:nvCxnSpPr>
        <p:spPr>
          <a:xfrm flipH="1" rot="10800000">
            <a:off x="10752064" y="1219261"/>
            <a:ext cx="1036930" cy="79004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4" name="Google Shape;614;p18"/>
          <p:cNvCxnSpPr/>
          <p:nvPr/>
        </p:nvCxnSpPr>
        <p:spPr>
          <a:xfrm>
            <a:off x="11270529" y="1051377"/>
            <a:ext cx="518465" cy="167884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5" name="Google Shape;615;p18"/>
          <p:cNvCxnSpPr/>
          <p:nvPr/>
        </p:nvCxnSpPr>
        <p:spPr>
          <a:xfrm flipH="1" rot="10800000">
            <a:off x="9764512" y="1051377"/>
            <a:ext cx="1506017" cy="118506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6" name="Google Shape;616;p18"/>
          <p:cNvSpPr/>
          <p:nvPr/>
        </p:nvSpPr>
        <p:spPr>
          <a:xfrm>
            <a:off x="8732520" y="1239012"/>
            <a:ext cx="88880" cy="88880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8"/>
          <p:cNvSpPr/>
          <p:nvPr/>
        </p:nvSpPr>
        <p:spPr>
          <a:xfrm>
            <a:off x="9226296" y="893369"/>
            <a:ext cx="88880" cy="88880"/>
          </a:xfrm>
          <a:prstGeom prst="ellipse">
            <a:avLst/>
          </a:prstGeom>
          <a:solidFill>
            <a:srgbClr val="C9C5E1"/>
          </a:solidFill>
          <a:ln cap="flat" cmpd="sng" w="1015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8"/>
          <p:cNvSpPr/>
          <p:nvPr/>
        </p:nvSpPr>
        <p:spPr>
          <a:xfrm>
            <a:off x="9720072" y="1125444"/>
            <a:ext cx="88880" cy="88880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8"/>
          <p:cNvSpPr/>
          <p:nvPr/>
        </p:nvSpPr>
        <p:spPr>
          <a:xfrm>
            <a:off x="10213848" y="918058"/>
            <a:ext cx="88880" cy="88880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8"/>
          <p:cNvSpPr/>
          <p:nvPr/>
        </p:nvSpPr>
        <p:spPr>
          <a:xfrm>
            <a:off x="10707624" y="1253825"/>
            <a:ext cx="88880" cy="88880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8"/>
          <p:cNvSpPr/>
          <p:nvPr/>
        </p:nvSpPr>
        <p:spPr>
          <a:xfrm>
            <a:off x="11226089" y="1006937"/>
            <a:ext cx="88880" cy="88880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8"/>
          <p:cNvSpPr/>
          <p:nvPr/>
        </p:nvSpPr>
        <p:spPr>
          <a:xfrm>
            <a:off x="11744554" y="1174821"/>
            <a:ext cx="88880" cy="88880"/>
          </a:xfrm>
          <a:prstGeom prst="ellipse">
            <a:avLst/>
          </a:prstGeom>
          <a:solidFill>
            <a:srgbClr val="C9C5E1"/>
          </a:solidFill>
          <a:ln cap="flat" cmpd="sng" w="1015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8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